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6" r:id="rId2"/>
  </p:sldMasterIdLst>
  <p:notesMasterIdLst>
    <p:notesMasterId r:id="rId23"/>
  </p:notesMasterIdLst>
  <p:sldIdLst>
    <p:sldId id="593" r:id="rId3"/>
    <p:sldId id="594" r:id="rId4"/>
    <p:sldId id="595" r:id="rId5"/>
    <p:sldId id="270" r:id="rId6"/>
    <p:sldId id="463" r:id="rId7"/>
    <p:sldId id="464" r:id="rId8"/>
    <p:sldId id="346" r:id="rId9"/>
    <p:sldId id="478" r:id="rId10"/>
    <p:sldId id="347" r:id="rId11"/>
    <p:sldId id="261" r:id="rId12"/>
    <p:sldId id="258" r:id="rId13"/>
    <p:sldId id="262" r:id="rId14"/>
    <p:sldId id="259" r:id="rId15"/>
    <p:sldId id="264" r:id="rId16"/>
    <p:sldId id="265" r:id="rId17"/>
    <p:sldId id="266" r:id="rId18"/>
    <p:sldId id="267" r:id="rId19"/>
    <p:sldId id="592" r:id="rId20"/>
    <p:sldId id="269" r:id="rId21"/>
    <p:sldId id="268" r:id="rId22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24"/>
    </p:embeddedFont>
    <p:embeddedFont>
      <p:font typeface="Courier" panose="02070309020205020404" pitchFamily="49" charset="0"/>
      <p:regular r:id="rId25"/>
      <p:bold r:id="rId26"/>
      <p:italic r:id="rId27"/>
      <p:boldItalic r:id="rId28"/>
    </p:embeddedFont>
    <p:embeddedFont>
      <p:font typeface="Helvetica Neue" panose="02000503000000020004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3BEwWJW44waC7nu+Gig/y6SAs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/>
    <p:restoredTop sz="94474"/>
  </p:normalViewPr>
  <p:slideViewPr>
    <p:cSldViewPr snapToGrid="0">
      <p:cViewPr varScale="1">
        <p:scale>
          <a:sx n="90" d="100"/>
          <a:sy n="90" d="100"/>
        </p:scale>
        <p:origin x="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2dddb779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2dddb779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1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4724400" y="6274277"/>
            <a:ext cx="2743200" cy="51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2">
  <p:cSld name="Data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4724400" y="6274277"/>
            <a:ext cx="2743200" cy="51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4724400" y="6274277"/>
            <a:ext cx="2743200" cy="51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9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0063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475312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75312" y="2021304"/>
            <a:ext cx="7784768" cy="347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475312" y="951054"/>
            <a:ext cx="7784768" cy="95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210" cy="49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3604847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399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bc6d7cb80_0_89"/>
          <p:cNvSpPr txBox="1">
            <a:spLocks noGrp="1"/>
          </p:cNvSpPr>
          <p:nvPr>
            <p:ph type="title"/>
          </p:nvPr>
        </p:nvSpPr>
        <p:spPr>
          <a:xfrm>
            <a:off x="475311" y="951055"/>
            <a:ext cx="112413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1bc6d7cb80_0_89"/>
          <p:cNvSpPr txBox="1">
            <a:spLocks noGrp="1"/>
          </p:cNvSpPr>
          <p:nvPr>
            <p:ph type="dt" idx="10"/>
          </p:nvPr>
        </p:nvSpPr>
        <p:spPr>
          <a:xfrm>
            <a:off x="479118" y="6086006"/>
            <a:ext cx="29550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1bc6d7cb80_0_89"/>
          <p:cNvSpPr txBox="1">
            <a:spLocks noGrp="1"/>
          </p:cNvSpPr>
          <p:nvPr>
            <p:ph type="ftr" idx="11"/>
          </p:nvPr>
        </p:nvSpPr>
        <p:spPr>
          <a:xfrm>
            <a:off x="3604847" y="6086006"/>
            <a:ext cx="2958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1bc6d7cb80_0_89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1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57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34B4E8-BB01-DE3B-ACC6-6CBDB2FD7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302BD5-AA7F-AB41-2DAB-CE3C7F5A68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E452EA-FF2E-1D25-A76C-9854B943A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EE6A2-AB6A-6B40-8AA9-8A01BDF0E9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35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FC9548-2440-0047-7A75-F3941980A4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51219D-C2BF-C491-FD89-6343C62D2C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831F722-B3D8-74A0-8247-F75D46EE25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6A479-285A-3348-ABC3-F0A581922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92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 Slide 04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75300" y="2103431"/>
            <a:ext cx="6080800" cy="2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Helvetica Neue"/>
              <a:buNone/>
              <a:defRPr sz="5067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6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9162" y="385969"/>
            <a:ext cx="2667001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 rot="-4743976">
            <a:off x="6887487" y="2806313"/>
            <a:ext cx="6248631" cy="6190344"/>
          </a:xfrm>
          <a:prstGeom prst="ellipse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 rot="-4744071">
            <a:off x="8343539" y="-994295"/>
            <a:ext cx="4901755" cy="4856099"/>
          </a:xfrm>
          <a:prstGeom prst="ellipse">
            <a:avLst/>
          </a:prstGeom>
          <a:noFill/>
          <a:ln w="635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32845" y="4956661"/>
            <a:ext cx="60808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609585" marR="0" lvl="0" indent="-304792" algn="l">
              <a:lnSpc>
                <a:spcPct val="4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32845" y="5537228"/>
            <a:ext cx="60808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609585" marR="0" lvl="0" indent="-304792" algn="l">
              <a:lnSpc>
                <a:spcPct val="4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32845" y="6330828"/>
            <a:ext cx="60808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609585" marR="0" lvl="0" indent="-304792" algn="l">
              <a:lnSpc>
                <a:spcPct val="4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535479" y="6086007"/>
            <a:ext cx="11812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83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997" y="532"/>
            <a:ext cx="6095003" cy="685693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"/>
            <a:ext cx="12192000" cy="6858061"/>
          </a:xfrm>
          <a:prstGeom prst="rect">
            <a:avLst/>
          </a:prstGeom>
        </p:spPr>
      </p:pic>
      <p:sp>
        <p:nvSpPr>
          <p:cNvPr id="7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1014648" y="2339058"/>
            <a:ext cx="3973832" cy="222546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3733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80697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 rot="4462381">
            <a:off x="7265968" y="-3126990"/>
            <a:ext cx="9327323" cy="6253978"/>
            <a:chOff x="-2190568" y="-6468307"/>
            <a:chExt cx="16557151" cy="11101584"/>
          </a:xfrm>
        </p:grpSpPr>
        <p:sp>
          <p:nvSpPr>
            <p:cNvPr id="11" name="Google Shape;11;p20"/>
            <p:cNvSpPr/>
            <p:nvPr/>
          </p:nvSpPr>
          <p:spPr>
            <a:xfrm>
              <a:off x="-2190568" y="-6468307"/>
              <a:ext cx="11206551" cy="11101584"/>
            </a:xfrm>
            <a:prstGeom prst="ellipse">
              <a:avLst/>
            </a:prstGeom>
            <a:noFill/>
            <a:ln w="635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0"/>
            <p:cNvSpPr/>
            <p:nvPr/>
          </p:nvSpPr>
          <p:spPr>
            <a:xfrm>
              <a:off x="6807129" y="-5452267"/>
              <a:ext cx="7559454" cy="7488648"/>
            </a:xfrm>
            <a:prstGeom prst="ellipse">
              <a:avLst/>
            </a:prstGeom>
            <a:noFill/>
            <a:ln w="635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89488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379967" y="2651733"/>
            <a:ext cx="9802800" cy="2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r>
              <a:rPr lang="en-GB" sz="4000"/>
              <a:t>Genomic &amp; Epidemiological Surveillance of Bacterial Pathogens</a:t>
            </a:r>
            <a:endParaRPr sz="4000"/>
          </a:p>
          <a:p>
            <a:r>
              <a:rPr lang="en-GB" sz="1867"/>
              <a:t>6-11 July 2025</a:t>
            </a:r>
            <a:endParaRPr sz="1867"/>
          </a:p>
        </p:txBody>
      </p:sp>
      <p:grpSp>
        <p:nvGrpSpPr>
          <p:cNvPr id="225" name="Google Shape;225;p34"/>
          <p:cNvGrpSpPr/>
          <p:nvPr/>
        </p:nvGrpSpPr>
        <p:grpSpPr>
          <a:xfrm>
            <a:off x="6679935" y="103"/>
            <a:ext cx="5511952" cy="1385132"/>
            <a:chOff x="-73850" y="3941600"/>
            <a:chExt cx="4861200" cy="1218305"/>
          </a:xfrm>
        </p:grpSpPr>
        <p:sp>
          <p:nvSpPr>
            <p:cNvPr id="226" name="Google Shape;226;p34"/>
            <p:cNvSpPr/>
            <p:nvPr/>
          </p:nvSpPr>
          <p:spPr>
            <a:xfrm>
              <a:off x="-73850" y="3941600"/>
              <a:ext cx="4861200" cy="12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867"/>
            </a:p>
          </p:txBody>
        </p:sp>
        <p:pic>
          <p:nvPicPr>
            <p:cNvPr id="227" name="Google Shape;22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63" y="3957905"/>
              <a:ext cx="4714825" cy="120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34"/>
          <p:cNvSpPr txBox="1"/>
          <p:nvPr/>
        </p:nvSpPr>
        <p:spPr>
          <a:xfrm>
            <a:off x="418699" y="4559654"/>
            <a:ext cx="6253563" cy="229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6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5: Genome Assembly &amp; Annotation</a:t>
            </a:r>
          </a:p>
          <a:p>
            <a:endParaRPr lang="en-GB" sz="2667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GB" sz="26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Methods for </a:t>
            </a:r>
            <a:r>
              <a:rPr lang="en-GB" sz="2667" b="1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novo </a:t>
            </a:r>
            <a:r>
              <a:rPr lang="en-GB" sz="26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 of bacterial genomes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DD898E-A33E-7781-9096-1C28ADC66A74}"/>
              </a:ext>
            </a:extLst>
          </p:cNvPr>
          <p:cNvSpPr txBox="1"/>
          <p:nvPr/>
        </p:nvSpPr>
        <p:spPr>
          <a:xfrm>
            <a:off x="7572375" y="6515100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Mat Beale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A422C53A-CA1B-574E-A172-A1A40E2B7F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690" y="731821"/>
            <a:ext cx="8530148" cy="700841"/>
          </a:xfrm>
        </p:spPr>
        <p:txBody>
          <a:bodyPr/>
          <a:lstStyle/>
          <a:p>
            <a:r>
              <a:rPr lang="en-GB" b="0" dirty="0"/>
              <a:t>So you’ve sequenced a genome…</a:t>
            </a:r>
          </a:p>
          <a:p>
            <a:endParaRPr lang="en-GB" b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7DB716-26AC-4265-357B-ABEF5FA5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71"/>
          <a:stretch>
            <a:fillRect/>
          </a:stretch>
        </p:blipFill>
        <p:spPr>
          <a:xfrm>
            <a:off x="648677" y="1775266"/>
            <a:ext cx="8472000" cy="3139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686E2-B219-4830-01D8-B4D72263E94C}"/>
              </a:ext>
            </a:extLst>
          </p:cNvPr>
          <p:cNvSpPr txBox="1"/>
          <p:nvPr/>
        </p:nvSpPr>
        <p:spPr>
          <a:xfrm>
            <a:off x="2841673" y="548344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733" dirty="0"/>
              <a:t>What next?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5F630-F2C0-E757-5F24-DD228E8DA42A}"/>
              </a:ext>
            </a:extLst>
          </p:cNvPr>
          <p:cNvSpPr txBox="1"/>
          <p:nvPr/>
        </p:nvSpPr>
        <p:spPr>
          <a:xfrm>
            <a:off x="8065477" y="3807656"/>
            <a:ext cx="95891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33" dirty="0"/>
              <a:t>(</a:t>
            </a:r>
            <a:r>
              <a:rPr lang="en-GB" sz="2133" dirty="0" err="1"/>
              <a:t>fastq</a:t>
            </a:r>
            <a:r>
              <a:rPr lang="en-GB" sz="2133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731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95A1-0E8D-370C-B61E-6BB88F8E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9E1155-3CAA-9746-1A5B-3401FEB6D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71"/>
          <a:stretch>
            <a:fillRect/>
          </a:stretch>
        </p:blipFill>
        <p:spPr>
          <a:xfrm>
            <a:off x="1642795" y="462280"/>
            <a:ext cx="8472000" cy="3139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698D0-7C10-F2B8-B87B-D13D05B58869}"/>
              </a:ext>
            </a:extLst>
          </p:cNvPr>
          <p:cNvSpPr txBox="1"/>
          <p:nvPr/>
        </p:nvSpPr>
        <p:spPr>
          <a:xfrm>
            <a:off x="1331742" y="5083127"/>
            <a:ext cx="290656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67" dirty="0"/>
              <a:t>Map to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6617D-0AE1-41E9-7BAB-CC6786F1EC64}"/>
              </a:ext>
            </a:extLst>
          </p:cNvPr>
          <p:cNvSpPr txBox="1"/>
          <p:nvPr/>
        </p:nvSpPr>
        <p:spPr>
          <a:xfrm>
            <a:off x="6283570" y="5083127"/>
            <a:ext cx="303961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67" i="1" dirty="0"/>
              <a:t>De novo </a:t>
            </a:r>
            <a:r>
              <a:rPr lang="en-GB" sz="2667" dirty="0"/>
              <a:t>Assembly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CE98B5-671A-2801-433A-4E7D6712E5BB}"/>
              </a:ext>
            </a:extLst>
          </p:cNvPr>
          <p:cNvCxnSpPr/>
          <p:nvPr/>
        </p:nvCxnSpPr>
        <p:spPr>
          <a:xfrm flipH="1">
            <a:off x="3545060" y="3901440"/>
            <a:ext cx="1162929" cy="9941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033201-988E-E1CC-8B54-17DD23F39121}"/>
              </a:ext>
            </a:extLst>
          </p:cNvPr>
          <p:cNvCxnSpPr>
            <a:cxnSpLocks/>
          </p:cNvCxnSpPr>
          <p:nvPr/>
        </p:nvCxnSpPr>
        <p:spPr>
          <a:xfrm>
            <a:off x="5608320" y="3901440"/>
            <a:ext cx="1369256" cy="9753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9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864E-0094-E4D1-397F-C274BC2B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44EC6-75E1-6BE4-BE9D-4B4224862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71"/>
          <a:stretch>
            <a:fillRect/>
          </a:stretch>
        </p:blipFill>
        <p:spPr>
          <a:xfrm>
            <a:off x="1642795" y="462280"/>
            <a:ext cx="8472000" cy="3139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5427B8-1ADA-E57E-15E0-7215AF2A9143}"/>
              </a:ext>
            </a:extLst>
          </p:cNvPr>
          <p:cNvSpPr txBox="1"/>
          <p:nvPr/>
        </p:nvSpPr>
        <p:spPr>
          <a:xfrm>
            <a:off x="1331742" y="5083127"/>
            <a:ext cx="290656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67" dirty="0"/>
              <a:t>Map to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0A443-8D61-B6EA-37C9-7DEBFEBA8BF4}"/>
              </a:ext>
            </a:extLst>
          </p:cNvPr>
          <p:cNvSpPr txBox="1"/>
          <p:nvPr/>
        </p:nvSpPr>
        <p:spPr>
          <a:xfrm>
            <a:off x="6283570" y="5083127"/>
            <a:ext cx="303961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67" i="1" dirty="0"/>
              <a:t>De novo </a:t>
            </a:r>
            <a:r>
              <a:rPr lang="en-GB" sz="2667" dirty="0"/>
              <a:t>Assembly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FF3C8B-DABA-9ABC-A36F-88CD10101955}"/>
              </a:ext>
            </a:extLst>
          </p:cNvPr>
          <p:cNvCxnSpPr/>
          <p:nvPr/>
        </p:nvCxnSpPr>
        <p:spPr>
          <a:xfrm flipH="1">
            <a:off x="3545060" y="3901440"/>
            <a:ext cx="1162929" cy="9941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511778-D916-8596-2998-0C9B0E399B62}"/>
              </a:ext>
            </a:extLst>
          </p:cNvPr>
          <p:cNvCxnSpPr>
            <a:cxnSpLocks/>
          </p:cNvCxnSpPr>
          <p:nvPr/>
        </p:nvCxnSpPr>
        <p:spPr>
          <a:xfrm>
            <a:off x="5608320" y="3901440"/>
            <a:ext cx="1369256" cy="9753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61D588F-D981-5295-C863-6973CBB23057}"/>
              </a:ext>
            </a:extLst>
          </p:cNvPr>
          <p:cNvSpPr/>
          <p:nvPr/>
        </p:nvSpPr>
        <p:spPr>
          <a:xfrm>
            <a:off x="6135859" y="5008099"/>
            <a:ext cx="3226191" cy="656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67"/>
          </a:p>
        </p:txBody>
      </p:sp>
    </p:spTree>
    <p:extLst>
      <p:ext uri="{BB962C8B-B14F-4D97-AF65-F5344CB8AC3E}">
        <p14:creationId xmlns:p14="http://schemas.microsoft.com/office/powerpoint/2010/main" val="300502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E7C61FA4-5176-4612-4D9F-E2801C2A1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ea typeface="ＭＳ Ｐゴシック" panose="020B0600070205080204" pitchFamily="34" charset="-128"/>
              </a:rPr>
              <a:t>General principle of genome sequencing and bioinformatics </a:t>
            </a:r>
          </a:p>
        </p:txBody>
      </p:sp>
      <p:pic>
        <p:nvPicPr>
          <p:cNvPr id="16386" name="Picture 24" descr="Holden_et_al_fig1">
            <a:extLst>
              <a:ext uri="{FF2B5EF4-FFF2-40B4-BE49-F238E27FC236}">
                <a16:creationId xmlns:a16="http://schemas.microsoft.com/office/drawing/2014/main" id="{19B21C9E-93E2-E0E2-97AC-188CE8AC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4"/>
          <a:stretch>
            <a:fillRect/>
          </a:stretch>
        </p:blipFill>
        <p:spPr bwMode="auto">
          <a:xfrm>
            <a:off x="8486775" y="2636839"/>
            <a:ext cx="2166938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A40427DC-DE7C-85ED-B5CD-A1809E6B5C9B}"/>
              </a:ext>
            </a:extLst>
          </p:cNvPr>
          <p:cNvSpPr/>
          <p:nvPr/>
        </p:nvSpPr>
        <p:spPr bwMode="auto">
          <a:xfrm>
            <a:off x="8199438" y="4311651"/>
            <a:ext cx="1651000" cy="925513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F5F18C6-04C5-686E-F929-ED000919D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3789364"/>
            <a:ext cx="1296988" cy="300037"/>
          </a:xfrm>
          <a:prstGeom prst="right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85FFDB"/>
              </a:gs>
              <a:gs pos="100000">
                <a:srgbClr val="00EBA8"/>
              </a:gs>
            </a:gsLst>
            <a:lin ang="5400000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389" name="TextBox 1">
            <a:extLst>
              <a:ext uri="{FF2B5EF4-FFF2-40B4-BE49-F238E27FC236}">
                <a16:creationId xmlns:a16="http://schemas.microsoft.com/office/drawing/2014/main" id="{400FDEDC-9E55-481B-8498-D9DD3A6CC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6" y="2997201"/>
            <a:ext cx="1800225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@HS2_07083:1:1104:4586:144649#23/1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ATTCGAACATTGTAAACACTCATGCTTCGGACCAAACTCATGGTGATGTTATGAAATTTGATTGCTCGCATCGTG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ECFI/JHJIFJLKMIKJJMLJINIGNLILJKMNKMJLKKJJHKKKKNJLKKLDFLJLKLJQNJKLNJJLKLHNI: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@HS2_07083:1:1101:11238:36254#23/1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TACAATATAACAAAATCCTTTTTATAACGCAAGTTCATTTTATACTACTGCTCAATTTTTTTACTTTTATCGATT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CBFHHIKJKKJLKMLIJNMLIINKHPKJLMKMNJMJJLKJGKMKKFNJLKKHNMLOJKLNMKKMLNHJLKMOHNG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@HS2_07083:1:2107:12192:120503#23/1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AATCCTTTTTATAACGCAAGTTCATTTTATACTACTGCTCAATTTTTTTACTTTTATCGATTAAAGATAGAAATA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C?EDGGHJKK@GHMLIJJADNE&gt;@GPKKGIKIJGMMJGJKHDKKIKNHLFKILMLILKIIMKKJLE8AEKGHJII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@HS2_07083:1:1207:4799:54850#23/1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AATATAACAAAATCCTTTTTATAACGCAAGTTCATTTTATACTACTGCTCAATTTTTTTACTTTTATCGATTAAA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DBDFHKKJKKJLKMLIJJMLIINOLKKILKKMNKJKKJJKNJKKOKNJLKMHHMLLJKLIMKJMLMMJLDDHMJG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@HS2_07083:1:2107:7949:96311#23/1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AAGTATGTATAAGAACTGTATAAGGTATTCAAACATTGTAAACACTCATGCTTCGGACCAAACTCATGGTGATGT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400">
              <a:latin typeface="Courier" panose="02070309020205020404" pitchFamily="49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6308011-A385-2FB7-975B-9BDF8770F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3789364"/>
            <a:ext cx="1330325" cy="300037"/>
          </a:xfrm>
          <a:prstGeom prst="right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85FFDB"/>
              </a:gs>
              <a:gs pos="100000">
                <a:srgbClr val="00EBA8"/>
              </a:gs>
            </a:gsLst>
            <a:lin ang="5400000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16391" name="Picture 2">
            <a:extLst>
              <a:ext uri="{FF2B5EF4-FFF2-40B4-BE49-F238E27FC236}">
                <a16:creationId xmlns:a16="http://schemas.microsoft.com/office/drawing/2014/main" id="{CD2F36DB-7EC6-A703-F178-5D25B5808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3068639"/>
            <a:ext cx="1728788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Box 10">
            <a:extLst>
              <a:ext uri="{FF2B5EF4-FFF2-40B4-BE49-F238E27FC236}">
                <a16:creationId xmlns:a16="http://schemas.microsoft.com/office/drawing/2014/main" id="{80AF3309-AE04-5651-FC8D-7878A13DB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4652964"/>
            <a:ext cx="23828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cs typeface="Arial" panose="020B0604020202020204" pitchFamily="34" charset="0"/>
              </a:rPr>
              <a:t>Complete genomic DNA</a:t>
            </a:r>
          </a:p>
        </p:txBody>
      </p:sp>
      <p:sp>
        <p:nvSpPr>
          <p:cNvPr id="16393" name="TextBox 11">
            <a:extLst>
              <a:ext uri="{FF2B5EF4-FFF2-40B4-BE49-F238E27FC236}">
                <a16:creationId xmlns:a16="http://schemas.microsoft.com/office/drawing/2014/main" id="{B4717980-9B2D-80A8-8ACF-FFA1C02D6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938" y="4797425"/>
            <a:ext cx="23733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cs typeface="Arial" panose="020B0604020202020204" pitchFamily="34" charset="0"/>
              </a:rPr>
              <a:t>Fastq sequencing reads</a:t>
            </a:r>
          </a:p>
        </p:txBody>
      </p:sp>
      <p:sp>
        <p:nvSpPr>
          <p:cNvPr id="16394" name="TextBox 12">
            <a:extLst>
              <a:ext uri="{FF2B5EF4-FFF2-40B4-BE49-F238E27FC236}">
                <a16:creationId xmlns:a16="http://schemas.microsoft.com/office/drawing/2014/main" id="{B44AFD14-D922-AC74-5317-19BD3B679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26" y="5013326"/>
            <a:ext cx="19415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cs typeface="Arial" panose="020B0604020202020204" pitchFamily="34" charset="0"/>
              </a:rPr>
              <a:t>Assembled and annotated genome sequence </a:t>
            </a:r>
          </a:p>
        </p:txBody>
      </p:sp>
      <p:pic>
        <p:nvPicPr>
          <p:cNvPr id="16395" name="Picture 5" descr="miseq.jpg">
            <a:extLst>
              <a:ext uri="{FF2B5EF4-FFF2-40B4-BE49-F238E27FC236}">
                <a16:creationId xmlns:a16="http://schemas.microsoft.com/office/drawing/2014/main" id="{6423E443-0B90-4454-EDED-2B20B3395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33" b="18597"/>
          <a:stretch>
            <a:fillRect/>
          </a:stretch>
        </p:blipFill>
        <p:spPr bwMode="auto">
          <a:xfrm>
            <a:off x="4079875" y="3068638"/>
            <a:ext cx="1009650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6" name="TextBox 14">
            <a:extLst>
              <a:ext uri="{FF2B5EF4-FFF2-40B4-BE49-F238E27FC236}">
                <a16:creationId xmlns:a16="http://schemas.microsoft.com/office/drawing/2014/main" id="{AAC790B4-4B06-66A5-6B27-757780AC0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4" y="4149726"/>
            <a:ext cx="1368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B050"/>
                </a:solidFill>
                <a:cs typeface="Arial" panose="020B0604020202020204" pitchFamily="34" charset="0"/>
              </a:rPr>
              <a:t>DNA sequencing </a:t>
            </a:r>
          </a:p>
        </p:txBody>
      </p:sp>
      <p:sp>
        <p:nvSpPr>
          <p:cNvPr id="16397" name="TextBox 15">
            <a:extLst>
              <a:ext uri="{FF2B5EF4-FFF2-40B4-BE49-F238E27FC236}">
                <a16:creationId xmlns:a16="http://schemas.microsoft.com/office/drawing/2014/main" id="{3C2510A7-0324-41D6-2EDC-72D647C82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4076701"/>
            <a:ext cx="11493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B050"/>
                </a:solidFill>
                <a:cs typeface="Arial" panose="020B0604020202020204" pitchFamily="34" charset="0"/>
              </a:rPr>
              <a:t>Bioinformatics</a:t>
            </a:r>
          </a:p>
        </p:txBody>
      </p:sp>
      <p:pic>
        <p:nvPicPr>
          <p:cNvPr id="16398" name="Picture 4">
            <a:extLst>
              <a:ext uri="{FF2B5EF4-FFF2-40B4-BE49-F238E27FC236}">
                <a16:creationId xmlns:a16="http://schemas.microsoft.com/office/drawing/2014/main" id="{DCFB20DD-904F-E83B-D452-E715425D7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426" y="2781300"/>
            <a:ext cx="6889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CD8A224A-C427-17E4-F824-C709C9134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ＭＳ Ｐゴシック" panose="020B0600070205080204" pitchFamily="34" charset="-128"/>
              </a:rPr>
              <a:t>Kintsugi: about making the brokenness beautiful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32FC69E4-1278-B47C-4BA4-77BD0FAAD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2205039"/>
            <a:ext cx="20161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4">
            <a:extLst>
              <a:ext uri="{FF2B5EF4-FFF2-40B4-BE49-F238E27FC236}">
                <a16:creationId xmlns:a16="http://schemas.microsoft.com/office/drawing/2014/main" id="{93983CD0-5A70-D989-2038-BBC65996A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1" y="2205039"/>
            <a:ext cx="20161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6">
            <a:extLst>
              <a:ext uri="{FF2B5EF4-FFF2-40B4-BE49-F238E27FC236}">
                <a16:creationId xmlns:a16="http://schemas.microsoft.com/office/drawing/2014/main" id="{294DD8EB-E176-9E57-2E23-D72FA90E9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9" y="2205039"/>
            <a:ext cx="20161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71CF067D-9FAA-A71C-4D3B-AA7C0AC30594}"/>
              </a:ext>
            </a:extLst>
          </p:cNvPr>
          <p:cNvSpPr/>
          <p:nvPr/>
        </p:nvSpPr>
        <p:spPr>
          <a:xfrm>
            <a:off x="4224338" y="2924176"/>
            <a:ext cx="690562" cy="5238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8F01DF5-2184-2B74-AC45-B3BC39D4CF62}"/>
              </a:ext>
            </a:extLst>
          </p:cNvPr>
          <p:cNvSpPr/>
          <p:nvPr/>
        </p:nvSpPr>
        <p:spPr>
          <a:xfrm>
            <a:off x="7175500" y="2924176"/>
            <a:ext cx="692150" cy="5238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CC3AFD-E7FA-8055-10F4-B75622D428FE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4365626"/>
            <a:ext cx="7926387" cy="2443163"/>
            <a:chOff x="683568" y="4365104"/>
            <a:chExt cx="7926362" cy="2443048"/>
          </a:xfrm>
        </p:grpSpPr>
        <p:grpSp>
          <p:nvGrpSpPr>
            <p:cNvPr id="18440" name="Group 3">
              <a:extLst>
                <a:ext uri="{FF2B5EF4-FFF2-40B4-BE49-F238E27FC236}">
                  <a16:creationId xmlns:a16="http://schemas.microsoft.com/office/drawing/2014/main" id="{B9391DE2-5061-BEE1-A580-3924F68401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568" y="4365104"/>
              <a:ext cx="7926362" cy="2443048"/>
              <a:chOff x="683568" y="4365104"/>
              <a:chExt cx="7926362" cy="2443048"/>
            </a:xfrm>
          </p:grpSpPr>
          <p:pic>
            <p:nvPicPr>
              <p:cNvPr id="18443" name="Picture 24" descr="Holden_et_al_fig1">
                <a:extLst>
                  <a:ext uri="{FF2B5EF4-FFF2-40B4-BE49-F238E27FC236}">
                    <a16:creationId xmlns:a16="http://schemas.microsoft.com/office/drawing/2014/main" id="{8A095DD2-1F7D-B7F1-E352-F864A450D9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074" b="13155"/>
              <a:stretch>
                <a:fillRect/>
              </a:stretch>
            </p:blipFill>
            <p:spPr bwMode="auto">
              <a:xfrm>
                <a:off x="6444208" y="4365104"/>
                <a:ext cx="2165722" cy="2274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44" name="TextBox 1">
                <a:extLst>
                  <a:ext uri="{FF2B5EF4-FFF2-40B4-BE49-F238E27FC236}">
                    <a16:creationId xmlns:a16="http://schemas.microsoft.com/office/drawing/2014/main" id="{4B421807-CAFE-ED7C-AE75-075D7DCA8B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1880" y="4869160"/>
                <a:ext cx="1800200" cy="193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@HS2_07083:1:1104:4586:144649#23/1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ATTCGAACATTGTAAACACTCATGCTTCGGACCAAACTCATGGTGATGTTATGAAATTTGATTGCTCGCATCGTG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+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ECFI/JHJIFJLKMIKJJMLJINIGNLILJKMNKMJLKKJJHKKKKNJLKKLDFLJLKLJQNJKLNJJLKLHNI: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@HS2_07083:1:1101:11238:36254#23/1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TACAATATAACAAAATCCTTTTTATAACGCAAGTTCATTTTATACTACTGCTCAATTTTTTTACTTTTATCGATT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+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CBFHHIKJKKJLKMLIJNMLIINKHPKJLMKMNJMJJLKJGKMKKFNJLKKHNMLOJKLNMKKMLNHJLKMOHNG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@HS2_07083:1:2107:12192:120503#23/1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AATCCTTTTTATAACGCAAGTTCATTTTATACTACTGCTCAATTTTTTTACTTTTATCGATTAAAGATAGAAATA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+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C?EDGGHJKK@GHMLIJJADNE&gt;@GPKKGIKIJGMMJGJKHDKKIKNHLFKILMLILKIIMKKJLE8AEKGHJII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@HS2_07083:1:1207:4799:54850#23/1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AATATAACAAAATCCTTTTTATAACGCAAGTTCATTTTATACTACTGCTCAATTTTTTTACTTTTATCGATTAAA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+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DBDFHKKJKKJLKMLIJJMLIINOLKKILKKMNKJKKJJKNJKKOKNJLKMHHMLLJKLIMKJMLMMJLDDHMJG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@HS2_07083:1:2107:7949:96311#23/1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AAGTATGTATAAGAACTGTATAAGGTATTCAAACATTGTAAACACTCATGCTTCGGACCAAACTCATGGTGATGT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00">
                    <a:latin typeface="Courier" panose="02070309020205020404" pitchFamily="49" charset="0"/>
                  </a:rPr>
                  <a:t>+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00">
                  <a:latin typeface="Courier" panose="02070309020205020404" pitchFamily="49" charset="0"/>
                </a:endParaRPr>
              </a:p>
            </p:txBody>
          </p:sp>
          <p:pic>
            <p:nvPicPr>
              <p:cNvPr id="18445" name="Picture 2">
                <a:extLst>
                  <a:ext uri="{FF2B5EF4-FFF2-40B4-BE49-F238E27FC236}">
                    <a16:creationId xmlns:a16="http://schemas.microsoft.com/office/drawing/2014/main" id="{0D4107B3-D044-12D0-EE03-E869756559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contrast="1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3568" y="5013176"/>
                <a:ext cx="1728192" cy="12966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Right Triangle 11">
                <a:extLst>
                  <a:ext uri="{FF2B5EF4-FFF2-40B4-BE49-F238E27FC236}">
                    <a16:creationId xmlns:a16="http://schemas.microsoft.com/office/drawing/2014/main" id="{53E26A10-8CC5-28DB-8B12-863D4EAADFE4}"/>
                  </a:ext>
                </a:extLst>
              </p:cNvPr>
              <p:cNvSpPr/>
              <p:nvPr/>
            </p:nvSpPr>
            <p:spPr bwMode="auto">
              <a:xfrm>
                <a:off x="5796889" y="5804899"/>
                <a:ext cx="1650995" cy="925468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84359746-D245-20B0-FE5A-E27603E90B05}"/>
                </a:ext>
              </a:extLst>
            </p:cNvPr>
            <p:cNvSpPr/>
            <p:nvPr/>
          </p:nvSpPr>
          <p:spPr>
            <a:xfrm>
              <a:off x="2699687" y="5444553"/>
              <a:ext cx="692148" cy="52385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B4019230-CB28-2BA9-FAF7-DDB52A9D1872}"/>
                </a:ext>
              </a:extLst>
            </p:cNvPr>
            <p:cNvSpPr/>
            <p:nvPr/>
          </p:nvSpPr>
          <p:spPr>
            <a:xfrm>
              <a:off x="5652427" y="5444553"/>
              <a:ext cx="692148" cy="52385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6F215A32-E4AF-C49A-4E0A-68DC5D03E1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404814"/>
            <a:ext cx="7772400" cy="720725"/>
          </a:xfrm>
        </p:spPr>
        <p:txBody>
          <a:bodyPr/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Module 5 – </a:t>
            </a:r>
            <a:r>
              <a:rPr lang="en-GB" altLang="en-US" sz="3600" dirty="0">
                <a:ea typeface="ＭＳ Ｐゴシック" panose="020B0600070205080204" pitchFamily="34" charset="-128"/>
              </a:rPr>
              <a:t>about making the brokenness beautiful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grpSp>
        <p:nvGrpSpPr>
          <p:cNvPr id="19458" name="Group 12">
            <a:extLst>
              <a:ext uri="{FF2B5EF4-FFF2-40B4-BE49-F238E27FC236}">
                <a16:creationId xmlns:a16="http://schemas.microsoft.com/office/drawing/2014/main" id="{2505406B-57B7-AEC9-40D3-7B4B4CA2217A}"/>
              </a:ext>
            </a:extLst>
          </p:cNvPr>
          <p:cNvGrpSpPr>
            <a:grpSpLocks/>
          </p:cNvGrpSpPr>
          <p:nvPr/>
        </p:nvGrpSpPr>
        <p:grpSpPr bwMode="auto">
          <a:xfrm>
            <a:off x="6816726" y="2060575"/>
            <a:ext cx="3743325" cy="3455988"/>
            <a:chOff x="2483768" y="4072030"/>
            <a:chExt cx="3024337" cy="2679929"/>
          </a:xfrm>
        </p:grpSpPr>
        <p:pic>
          <p:nvPicPr>
            <p:cNvPr id="19461" name="Picture 24" descr="Holden_et_al_fig1">
              <a:extLst>
                <a:ext uri="{FF2B5EF4-FFF2-40B4-BE49-F238E27FC236}">
                  <a16:creationId xmlns:a16="http://schemas.microsoft.com/office/drawing/2014/main" id="{502CEF4B-42D2-503E-6243-4C5B6BD608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74"/>
            <a:stretch>
              <a:fillRect/>
            </a:stretch>
          </p:blipFill>
          <p:spPr bwMode="auto">
            <a:xfrm>
              <a:off x="3275857" y="4072030"/>
              <a:ext cx="2232248" cy="2488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0E9957B3-1E50-5AA3-1CC2-C997D7BB6326}"/>
                </a:ext>
              </a:extLst>
            </p:cNvPr>
            <p:cNvSpPr/>
            <p:nvPr/>
          </p:nvSpPr>
          <p:spPr bwMode="auto">
            <a:xfrm>
              <a:off x="2483768" y="5374448"/>
              <a:ext cx="2669061" cy="1377511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F25981A-EE6C-B3DC-4A77-7623735C5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429001"/>
            <a:ext cx="1511300" cy="576263"/>
          </a:xfrm>
          <a:prstGeom prst="right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85FFDB"/>
              </a:gs>
              <a:gs pos="100000">
                <a:srgbClr val="00EBA8"/>
              </a:gs>
            </a:gsLst>
            <a:lin ang="5400000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TextBox 1">
            <a:extLst>
              <a:ext uri="{FF2B5EF4-FFF2-40B4-BE49-F238E27FC236}">
                <a16:creationId xmlns:a16="http://schemas.microsoft.com/office/drawing/2014/main" id="{5934D0C2-559F-164C-9041-DC6066FD1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1700214"/>
            <a:ext cx="4271963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@HS2_07083:1:1104:4586:144649#23/1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ATTCGAACATTGTAAACACTCATGCTTCGGACCAAACTCATGGTGATGTTATGAAATTTGATTGCTCGCATCGTG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ECFI/JHJIFJLKMIKJJMLJINIGNLILJKMNKMJLKKJJHKKKKNJLKKLDFLJLKLJQNJKLNJJLKLHNI: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@HS2_07083:1:1101:11238:36254#23/1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TACAATATAACAAAATCCTTTTTATAACGCAAGTTCATTTTATACTACTGCTCAATTTTTTTACTTTTATCGATT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CBFHHIKJKKJLKMLIJNMLIINKHPKJLMKMNJMJJLKJGKMKKFNJLKKHNMLOJKLNMKKMLNHJLKMOHNG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@HS2_07083:1:2107:12192:120503#23/1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AATCCTTTTTATAACGCAAGTTCATTTTATACTACTGCTCAATTTTTTTACTTTTATCGATTAAAGATAGAAATA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C?EDGGHJKK@GHMLIJJADNE&gt;@GPKKGIKIJGMMJGJKHDKKIKNHLFKILMLILKIIMKKJLE8AEKGHJII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@HS2_07083:1:1207:4799:54850#23/1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AATATAACAAAATCCTTTTTATAACGCAAGTTCATTTTATACTACTGCTCAATTTTTTTACTTTTATCGATTAAA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DBDFHKKJKKJLKMLIJJMLIINOLKKILKKMNKJKKJJKNJKKOKNJLKMHHMLLJKLIMKJMLMMJLDDHMJG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@HS2_07083:1:2107:7949:96311#23/1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AAGTATGTATAAGAACTGTATAAGGTATTCAAACATTGTAAACACTCATGCTTCGGACCAAACTCATGGTGATGT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CB?FIJFJICJEKMLIJPMGJELIL:IIL=KMIJMKKLJJHKMGLKNJLNGEHMLKJKINJLMCLI3JLKJHJFG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@HS2_07083:1:2202:11713:80294#23/1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TTATAACGCAAGTTCATTTTATACTACTGCTCAATTTTTTTACTTTTATCGATTAAAGATAGAAATACACGATGC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CBDFHIAJIKJLHMGJJNMGJJLOKJKJLIKJIHMMOKKKNHMKKCNJLKKLNMLOLKLLQLKMLFMJLKJHKJ@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@HS2_07083:1:2104:18154:101072#23/1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ATATAACAAAATCCTTTTTATAACGCAAGTTCATTTTATACTACTGCTCAATTTTTTTACTTTTATCGATTAAAG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8C-FIKJJKKJLKMLKJNMLJLJKHKKILFKMNKHKOJKKNJHKKKNJLKMLLMHOLKIJMLMMLHMJIKMMHIG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@HS2_07083:1:1102:3900:138412#23/1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TACTACTGCTCAATTTTTTTACTTTTATCGATTAAAGATAGAAATACACGATGCGAGCAATCAAATTTCATAACA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CBEJIKJJKKILKMLKJNMLILNOINLKLKKMNHMKLGFJHKJKLGNJLKMKNGDKJKLJENKMLNFJLKMOMJI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@HS2_07083:1:1208:11026:132224#23/1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00">
                <a:latin typeface="Courier" panose="02070309020205020404" pitchFamily="49" charset="0"/>
              </a:rPr>
              <a:t>AAAACAGCTTGGGAAATAATTTATAAAGTATGTATAAGAACTGTATAAGGTATTCAAACATTGTAAACACTCATG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700">
              <a:latin typeface="Courier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5CA6C7A6-0AF8-4F46-D800-ACAFF56CF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7318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Assembly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C594AD0-9FA8-77BD-0312-A377A3FB8C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8213" y="1557338"/>
            <a:ext cx="7772400" cy="4114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ＭＳ Ｐゴシック" panose="020B0600070205080204" pitchFamily="34" charset="-128"/>
              </a:rPr>
              <a:t>Generating contiguous sequences that represent genome of an isolate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i="1" dirty="0">
                <a:ea typeface="ＭＳ Ｐゴシック" panose="020B0600070205080204" pitchFamily="34" charset="-128"/>
              </a:rPr>
              <a:t>De novo </a:t>
            </a:r>
            <a:r>
              <a:rPr lang="en-US" altLang="en-US" sz="2800" dirty="0">
                <a:ea typeface="ＭＳ Ｐゴシック" panose="020B0600070205080204" pitchFamily="34" charset="-128"/>
              </a:rPr>
              <a:t>assembly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ＭＳ Ｐゴシック" panose="020B0600070205080204" pitchFamily="34" charset="-128"/>
              </a:rPr>
              <a:t>Using the information from the reads to stitch together the contigs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ＭＳ Ｐゴシック" panose="020B0600070205080204" pitchFamily="34" charset="-128"/>
              </a:rPr>
              <a:t>Reference based assembly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ＭＳ Ｐゴシック" panose="020B0600070205080204" pitchFamily="34" charset="-128"/>
              </a:rPr>
              <a:t>Use a reference sequence to help inform the relative position reads and stitch together the contigs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4BF180F1-0674-B7BD-D26F-8D473322C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60350"/>
            <a:ext cx="7772400" cy="865188"/>
          </a:xfrm>
        </p:spPr>
        <p:txBody>
          <a:bodyPr/>
          <a:lstStyle/>
          <a:p>
            <a:r>
              <a:rPr lang="en-US" altLang="en-US" i="1">
                <a:ea typeface="ＭＳ Ｐゴシック" panose="020B0600070205080204" pitchFamily="34" charset="-128"/>
              </a:rPr>
              <a:t>de novo </a:t>
            </a:r>
            <a:r>
              <a:rPr lang="en-US" altLang="en-US">
                <a:ea typeface="ＭＳ Ｐゴシック" panose="020B0600070205080204" pitchFamily="34" charset="-128"/>
              </a:rPr>
              <a:t>Assembly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043C02-83A8-5BEC-EF36-CD64426D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8926" y="6338889"/>
            <a:ext cx="3241675" cy="307975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Working with Pathogen Genomes</a:t>
            </a:r>
          </a:p>
        </p:txBody>
      </p:sp>
      <p:grpSp>
        <p:nvGrpSpPr>
          <p:cNvPr id="4" name="Group 54">
            <a:extLst>
              <a:ext uri="{FF2B5EF4-FFF2-40B4-BE49-F238E27FC236}">
                <a16:creationId xmlns:a16="http://schemas.microsoft.com/office/drawing/2014/main" id="{2760BC8F-0700-9F84-787F-F4FA8C40A592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876800"/>
            <a:ext cx="3886200" cy="1524000"/>
            <a:chOff x="4800600" y="4876800"/>
            <a:chExt cx="3886200" cy="1524000"/>
          </a:xfrm>
        </p:grpSpPr>
        <p:pic>
          <p:nvPicPr>
            <p:cNvPr id="23601" name="Picture 6">
              <a:extLst>
                <a:ext uri="{FF2B5EF4-FFF2-40B4-BE49-F238E27FC236}">
                  <a16:creationId xmlns:a16="http://schemas.microsoft.com/office/drawing/2014/main" id="{3F8A9B94-FB03-5ACC-36B6-55480FBF2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2800" y="4876800"/>
              <a:ext cx="1524000" cy="15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602" name="Picture 10">
              <a:extLst>
                <a:ext uri="{FF2B5EF4-FFF2-40B4-BE49-F238E27FC236}">
                  <a16:creationId xmlns:a16="http://schemas.microsoft.com/office/drawing/2014/main" id="{3DD32169-F91C-E99F-7522-58B26E8860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4953000"/>
              <a:ext cx="2133600" cy="14160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52">
            <a:extLst>
              <a:ext uri="{FF2B5EF4-FFF2-40B4-BE49-F238E27FC236}">
                <a16:creationId xmlns:a16="http://schemas.microsoft.com/office/drawing/2014/main" id="{EC79F6FD-CD0D-6689-790D-9F7E01427774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125539"/>
            <a:ext cx="4148138" cy="5597525"/>
            <a:chOff x="76200" y="1264214"/>
            <a:chExt cx="4148090" cy="5597237"/>
          </a:xfrm>
        </p:grpSpPr>
        <p:pic>
          <p:nvPicPr>
            <p:cNvPr id="23599" name="Picture 5" descr="409860ab.2.jpg">
              <a:extLst>
                <a:ext uri="{FF2B5EF4-FFF2-40B4-BE49-F238E27FC236}">
                  <a16:creationId xmlns:a16="http://schemas.microsoft.com/office/drawing/2014/main" id="{9A172982-BE55-9B22-1F8A-CF16C8C48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1264214"/>
              <a:ext cx="4139165" cy="5593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AD356B-5588-FB3C-9C5D-9BFD64B67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5" y="1270564"/>
              <a:ext cx="4113165" cy="559088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en-GB" altLang="en-US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59">
            <a:extLst>
              <a:ext uri="{FF2B5EF4-FFF2-40B4-BE49-F238E27FC236}">
                <a16:creationId xmlns:a16="http://schemas.microsoft.com/office/drawing/2014/main" id="{AF0B8D98-D28B-8167-DD68-9055C3C7550B}"/>
              </a:ext>
            </a:extLst>
          </p:cNvPr>
          <p:cNvGrpSpPr>
            <a:grpSpLocks/>
          </p:cNvGrpSpPr>
          <p:nvPr/>
        </p:nvGrpSpPr>
        <p:grpSpPr bwMode="auto">
          <a:xfrm>
            <a:off x="5486401" y="1371600"/>
            <a:ext cx="5065713" cy="4724400"/>
            <a:chOff x="3962400" y="1371600"/>
            <a:chExt cx="5065984" cy="4724400"/>
          </a:xfrm>
        </p:grpSpPr>
        <p:grpSp>
          <p:nvGrpSpPr>
            <p:cNvPr id="23558" name="Group 53">
              <a:extLst>
                <a:ext uri="{FF2B5EF4-FFF2-40B4-BE49-F238E27FC236}">
                  <a16:creationId xmlns:a16="http://schemas.microsoft.com/office/drawing/2014/main" id="{19F39455-B398-BE55-8191-69016F02C3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33" y="1371600"/>
              <a:ext cx="4456351" cy="2797175"/>
              <a:chOff x="4572033" y="1371600"/>
              <a:chExt cx="4456351" cy="2797175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C03D116-8B36-CB3B-D8F7-BA82F9B5805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05461" y="29051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5EA41F61-A8C4-479C-4D15-697BB1BA30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10278" y="30575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50BCFCB-6D5A-4907-52D8-70B4172BCD3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91298" y="29051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7527E09-0240-D072-7352-B1580846FC8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15094" y="32099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474E18D-17DF-B05F-BBBA-171CD37933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096114" y="30575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0811D0-2301-877E-5B17-4C608D2FE61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477135" y="32099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8D3DE84-162F-0DD8-D622-0E5AAC0017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629543" y="29051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1E92A72-CBBF-CE78-0875-6718E8FA05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086767" y="30575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53F5DC5-FD61-CD7E-2141-387E8A7507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67788" y="29051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3DCF73D-F92D-ADB7-A81B-2EE21733E3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91584" y="32099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9F0712D-0F2A-BAE3-FF4C-52D4A45608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848808" y="30575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447DEE9-3998-3162-2E79-2D6802A864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53624" y="29051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370832E-30A0-0923-E66A-DEA738BD06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077420" y="32099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64F6D0E-8A5D-F2C5-3562-47D39C411D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772604" y="33623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9A2C9D2-77CB-4AED-54BD-C45B67C794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25012" y="35147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A00D757-A426-A2EF-D3B0-115F0CB4E9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82236" y="3362325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2411C12-7D76-CE00-9EBA-DC6B930B1D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10278" y="3817938"/>
                <a:ext cx="1600285" cy="1587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D0233A4-409B-C758-2A41-2869583337C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91584" y="3819525"/>
                <a:ext cx="1295469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sp>
            <p:nvSpPr>
              <p:cNvPr id="23579" name="TextBox 29">
                <a:extLst>
                  <a:ext uri="{FF2B5EF4-FFF2-40B4-BE49-F238E27FC236}">
                    <a16:creationId xmlns:a16="http://schemas.microsoft.com/office/drawing/2014/main" id="{C9289D10-9B9D-2D3F-EFA4-71EAD67DDA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1447800"/>
                <a:ext cx="8519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/>
                  <a:t>Reads</a:t>
                </a:r>
              </a:p>
            </p:txBody>
          </p:sp>
          <p:sp>
            <p:nvSpPr>
              <p:cNvPr id="23580" name="TextBox 30">
                <a:extLst>
                  <a:ext uri="{FF2B5EF4-FFF2-40B4-BE49-F238E27FC236}">
                    <a16:creationId xmlns:a16="http://schemas.microsoft.com/office/drawing/2014/main" id="{297B366E-72C1-1A96-24C8-EC777C922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3429000"/>
                <a:ext cx="96738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/>
                  <a:t>Contigs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9047D4A-905E-2E2D-5A9C-F756457A64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05461" y="19812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03DFE62-204E-250A-B047-B88FC27933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05461" y="21336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B8D840B-FB18-4E9B-A072-32CAA5A2AD2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05461" y="22860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1085C25-55B1-61F7-1142-EF2C240D66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05461" y="24384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2A30401-B19E-9AF1-E7A6-5E694F5AFE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502" y="19812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B8BC56C-EC96-F7F9-A97F-4ED11D7C09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502" y="21336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CBFADFA-A679-F84F-63A4-962F249F47E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502" y="22860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54D8C7C-EA65-BDB4-25D3-78CAD63A29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502" y="24384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1A31D5E-26FE-746B-AE6A-301CC35A75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53339" y="19812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978EF81-73C6-A300-9051-B3D2E73A73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53339" y="21336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EFB9305-FDA6-E7A0-0C8E-C3A667EF4F4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53339" y="22860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4AF7A19-738B-5F47-46EE-13601625D6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53339" y="24384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9ADBAA2-622C-2972-079B-583DE700CA4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15380" y="19812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4A9C656-F73D-8A8C-ADB5-DF7EFD28E52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15380" y="21336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E29FE17-12ED-4061-B130-3C4EAC9210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15380" y="22860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C4B1D82-123F-E931-78B9-BA3DB0DDCB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15380" y="2438400"/>
                <a:ext cx="533428" cy="1588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sp>
            <p:nvSpPr>
              <p:cNvPr id="23597" name="TextBox 47">
                <a:extLst>
                  <a:ext uri="{FF2B5EF4-FFF2-40B4-BE49-F238E27FC236}">
                    <a16:creationId xmlns:a16="http://schemas.microsoft.com/office/drawing/2014/main" id="{EF55E5B2-0C94-A720-3251-A83520EEAA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1863" y="2514600"/>
                <a:ext cx="157042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/>
                  <a:t>Find overlaps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0AFEF0F-5700-3EAF-3DA5-DABAF1314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33" y="1371600"/>
                <a:ext cx="4456351" cy="27971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defRPr/>
                </a:pPr>
                <a:endParaRPr lang="en-GB" altLang="en-US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AADAF70-8CD9-47F0-5144-46BB6894F6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400318" y="3009886"/>
              <a:ext cx="3810000" cy="533429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445FD5-5EFE-66C5-2931-65E3D1D2F2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657633" y="4571967"/>
              <a:ext cx="1828800" cy="1219265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BB82-E85E-4996-5181-F5E76588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991"/>
            <a:ext cx="10515600" cy="1325563"/>
          </a:xfrm>
        </p:spPr>
        <p:txBody>
          <a:bodyPr/>
          <a:lstStyle/>
          <a:p>
            <a:r>
              <a:rPr lang="en-US" dirty="0"/>
              <a:t>Assemblers produce 2 main outputs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34B61-E81D-5D07-A3D0-0D6DAC58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067" y="1811866"/>
            <a:ext cx="10515600" cy="1981201"/>
          </a:xfrm>
        </p:spPr>
        <p:txBody>
          <a:bodyPr/>
          <a:lstStyle/>
          <a:p>
            <a:r>
              <a:rPr lang="en-US" dirty="0"/>
              <a:t>Contigs file (</a:t>
            </a:r>
            <a:r>
              <a:rPr lang="en-US" dirty="0" err="1"/>
              <a:t>fasta</a:t>
            </a:r>
            <a:r>
              <a:rPr lang="en-US" dirty="0"/>
              <a:t> format)</a:t>
            </a:r>
          </a:p>
          <a:p>
            <a:endParaRPr lang="en-US" dirty="0"/>
          </a:p>
          <a:p>
            <a:r>
              <a:rPr lang="en-US" dirty="0"/>
              <a:t>Assembly graph (</a:t>
            </a:r>
            <a:r>
              <a:rPr lang="en-US" dirty="0" err="1"/>
              <a:t>gfa</a:t>
            </a:r>
            <a:r>
              <a:rPr lang="en-US" dirty="0"/>
              <a:t> format)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4BA93-E24A-4EB5-26C3-33860407FF72}"/>
              </a:ext>
            </a:extLst>
          </p:cNvPr>
          <p:cNvSpPr txBox="1"/>
          <p:nvPr/>
        </p:nvSpPr>
        <p:spPr>
          <a:xfrm>
            <a:off x="1049865" y="4001814"/>
            <a:ext cx="100922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When a genome assembly is 100% complete, we have one contig per chromosome/plasmid and there's no real need for the graph.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lvl="2"/>
            <a:r>
              <a:rPr lang="en-GB" sz="2400" dirty="0"/>
              <a:t>         BUT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Most short-read assemblies are not complete, and a graph can describe an incomplete assembly much better than contigs alone.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5213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GB" dirty="0"/>
              <a:t>Assembly Graphs</a:t>
            </a:r>
            <a:endParaRPr dirty="0"/>
          </a:p>
        </p:txBody>
      </p:sp>
      <p:sp>
        <p:nvSpPr>
          <p:cNvPr id="58" name="Google Shape;58;p3"/>
          <p:cNvSpPr txBox="1">
            <a:spLocks noGrp="1"/>
          </p:cNvSpPr>
          <p:nvPr>
            <p:ph type="sldNum" idx="12"/>
          </p:nvPr>
        </p:nvSpPr>
        <p:spPr>
          <a:xfrm>
            <a:off x="4724400" y="6274277"/>
            <a:ext cx="2743200" cy="51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B3ADDB4-97A7-ECE6-7DEA-E92E2878FE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753"/>
          <a:stretch/>
        </p:blipFill>
        <p:spPr>
          <a:xfrm>
            <a:off x="1659467" y="3299019"/>
            <a:ext cx="10276144" cy="26276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CE55B-D011-3DD4-C791-D01F63B77646}"/>
              </a:ext>
            </a:extLst>
          </p:cNvPr>
          <p:cNvSpPr txBox="1"/>
          <p:nvPr/>
        </p:nvSpPr>
        <p:spPr>
          <a:xfrm>
            <a:off x="1388532" y="4148669"/>
            <a:ext cx="321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1</a:t>
            </a:r>
          </a:p>
          <a:p>
            <a:r>
              <a:rPr lang="en-US" sz="1800" dirty="0">
                <a:solidFill>
                  <a:srgbClr val="C00000"/>
                </a:solidFill>
              </a:rPr>
              <a:t>2</a:t>
            </a:r>
          </a:p>
          <a:p>
            <a:r>
              <a:rPr lang="en-US" sz="1800" dirty="0">
                <a:solidFill>
                  <a:srgbClr val="C00000"/>
                </a:solidFill>
              </a:rPr>
              <a:t>3</a:t>
            </a:r>
          </a:p>
          <a:p>
            <a:r>
              <a:rPr lang="en-US" sz="18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428D2-104F-A9ED-A2C8-B5BA8791F7DD}"/>
              </a:ext>
            </a:extLst>
          </p:cNvPr>
          <p:cNvSpPr txBox="1"/>
          <p:nvPr/>
        </p:nvSpPr>
        <p:spPr>
          <a:xfrm>
            <a:off x="6265333" y="4368802"/>
            <a:ext cx="32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6FAFD-9E5A-F538-ACB2-E9625EA5FEBE}"/>
              </a:ext>
            </a:extLst>
          </p:cNvPr>
          <p:cNvSpPr txBox="1"/>
          <p:nvPr/>
        </p:nvSpPr>
        <p:spPr>
          <a:xfrm>
            <a:off x="10261600" y="4368802"/>
            <a:ext cx="32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82881-905B-7FE6-9B77-75ABF5A72DD6}"/>
              </a:ext>
            </a:extLst>
          </p:cNvPr>
          <p:cNvSpPr txBox="1"/>
          <p:nvPr/>
        </p:nvSpPr>
        <p:spPr>
          <a:xfrm>
            <a:off x="8348134" y="3776135"/>
            <a:ext cx="32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C7614-EABE-4556-CAD9-D980D55EB576}"/>
              </a:ext>
            </a:extLst>
          </p:cNvPr>
          <p:cNvSpPr txBox="1"/>
          <p:nvPr/>
        </p:nvSpPr>
        <p:spPr>
          <a:xfrm>
            <a:off x="8331200" y="5672668"/>
            <a:ext cx="32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91051-7F52-67BE-6D44-6DDB49164E2C}"/>
              </a:ext>
            </a:extLst>
          </p:cNvPr>
          <p:cNvSpPr txBox="1"/>
          <p:nvPr/>
        </p:nvSpPr>
        <p:spPr>
          <a:xfrm>
            <a:off x="1693333" y="2337657"/>
            <a:ext cx="965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 data structure where contigs aren't disconnected sequences, but can have connections to each other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7E71-C29A-3BDA-3708-B7BE8C77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</p:spPr>
        <p:txBody>
          <a:bodyPr/>
          <a:lstStyle/>
          <a:p>
            <a:r>
              <a:rPr lang="en-US" dirty="0"/>
              <a:t>Why short reads don’t assemble well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1032B-F313-878C-45CF-219B3A6B9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067" y="1520827"/>
            <a:ext cx="10515600" cy="4351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Short reads cannot usually provide a complete assembly because: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The genome contains repeats (same sequence occurring 2 or more times)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When a repeat is longer than the reads (or longer than the insert size), it forms a single contig in the assembly graph with multiple connections in and multiple connections out.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09D6E2-3D66-207C-0DC4-E100DB131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4925294"/>
            <a:ext cx="9008533" cy="144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C79613-FF4A-F525-1470-40E0E310B582}"/>
              </a:ext>
            </a:extLst>
          </p:cNvPr>
          <p:cNvCxnSpPr>
            <a:cxnSpLocks/>
          </p:cNvCxnSpPr>
          <p:nvPr/>
        </p:nvCxnSpPr>
        <p:spPr>
          <a:xfrm>
            <a:off x="1507067" y="6705600"/>
            <a:ext cx="8500533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19AF7A-20BC-8BC0-4E53-EDD6F22E2840}"/>
              </a:ext>
            </a:extLst>
          </p:cNvPr>
          <p:cNvSpPr txBox="1"/>
          <p:nvPr/>
        </p:nvSpPr>
        <p:spPr>
          <a:xfrm>
            <a:off x="4453459" y="6434669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Increasing repeats</a:t>
            </a:r>
          </a:p>
        </p:txBody>
      </p:sp>
    </p:spTree>
    <p:extLst>
      <p:ext uri="{BB962C8B-B14F-4D97-AF65-F5344CB8AC3E}">
        <p14:creationId xmlns:p14="http://schemas.microsoft.com/office/powerpoint/2010/main" val="334725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838200" y="2794000"/>
            <a:ext cx="10515600" cy="145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dirty="0"/>
              <a:t>To produce complete (or near complete) genomes, we need to resolve repeats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7268-CF42-D43D-5A68-81850440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62"/>
            <a:ext cx="10515600" cy="1325563"/>
          </a:xfrm>
        </p:spPr>
        <p:txBody>
          <a:bodyPr/>
          <a:lstStyle/>
          <a:p>
            <a:r>
              <a:rPr lang="en-US" dirty="0"/>
              <a:t>Methods for assembling genomes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7AA0A-05D9-2CFA-11CB-30E3118DC8BA}"/>
              </a:ext>
            </a:extLst>
          </p:cNvPr>
          <p:cNvSpPr txBox="1"/>
          <p:nvPr/>
        </p:nvSpPr>
        <p:spPr>
          <a:xfrm>
            <a:off x="4301069" y="2201333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Long Read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B5346-8968-47A0-E2A2-6C1693C57932}"/>
              </a:ext>
            </a:extLst>
          </p:cNvPr>
          <p:cNvSpPr txBox="1"/>
          <p:nvPr/>
        </p:nvSpPr>
        <p:spPr>
          <a:xfrm>
            <a:off x="8246536" y="2184400"/>
            <a:ext cx="3260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Hybrid Assembly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13C0B-C216-CA82-F2E3-086D051CFE7C}"/>
              </a:ext>
            </a:extLst>
          </p:cNvPr>
          <p:cNvSpPr txBox="1"/>
          <p:nvPr/>
        </p:nvSpPr>
        <p:spPr>
          <a:xfrm>
            <a:off x="694273" y="2184400"/>
            <a:ext cx="3214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Short Read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44678-5B62-BE77-A264-8B91A6A8EA50}"/>
              </a:ext>
            </a:extLst>
          </p:cNvPr>
          <p:cNvSpPr txBox="1"/>
          <p:nvPr/>
        </p:nvSpPr>
        <p:spPr>
          <a:xfrm>
            <a:off x="9736671" y="3352800"/>
            <a:ext cx="2375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Long Read First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CDDD64-1D64-1BBA-281D-596C1DC08206}"/>
              </a:ext>
            </a:extLst>
          </p:cNvPr>
          <p:cNvSpPr txBox="1"/>
          <p:nvPr/>
        </p:nvSpPr>
        <p:spPr>
          <a:xfrm>
            <a:off x="7281333" y="3352800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Short Read First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9133AC1-3698-E3BB-C40A-4C3464C07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6734" y="4673599"/>
            <a:ext cx="2480733" cy="19473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Velvet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SPAdes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Unicycler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Shovill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A0DD3C3-3954-FE1F-B359-28061F945F03}"/>
              </a:ext>
            </a:extLst>
          </p:cNvPr>
          <p:cNvSpPr txBox="1">
            <a:spLocks/>
          </p:cNvSpPr>
          <p:nvPr/>
        </p:nvSpPr>
        <p:spPr>
          <a:xfrm>
            <a:off x="4546601" y="4690532"/>
            <a:ext cx="2480733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Miniasm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Unicycler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Canu</a:t>
            </a: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Flye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Dragonflye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Raven</a:t>
            </a:r>
          </a:p>
          <a:p>
            <a:endParaRPr lang="en-US" sz="2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0876869-85BD-D224-3E3B-A41BADC7AEF3}"/>
              </a:ext>
            </a:extLst>
          </p:cNvPr>
          <p:cNvSpPr txBox="1">
            <a:spLocks/>
          </p:cNvSpPr>
          <p:nvPr/>
        </p:nvSpPr>
        <p:spPr>
          <a:xfrm>
            <a:off x="7306737" y="4690532"/>
            <a:ext cx="2480733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Unicycler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SPAdes</a:t>
            </a:r>
            <a:r>
              <a:rPr lang="en-GB" sz="2000" dirty="0"/>
              <a:t> + bridge</a:t>
            </a:r>
          </a:p>
          <a:p>
            <a:endParaRPr lang="en-US" sz="2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F474702-A1CF-8BE8-2A3F-333C710DAAD3}"/>
              </a:ext>
            </a:extLst>
          </p:cNvPr>
          <p:cNvSpPr txBox="1">
            <a:spLocks/>
          </p:cNvSpPr>
          <p:nvPr/>
        </p:nvSpPr>
        <p:spPr>
          <a:xfrm>
            <a:off x="9779004" y="4690532"/>
            <a:ext cx="2480733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Miniasm</a:t>
            </a:r>
            <a:r>
              <a:rPr lang="en-GB" sz="2400" dirty="0"/>
              <a:t>/</a:t>
            </a:r>
            <a:r>
              <a:rPr lang="en-GB" sz="2400" dirty="0" err="1"/>
              <a:t>Flye</a:t>
            </a:r>
            <a:r>
              <a:rPr lang="en-GB" sz="2400" dirty="0"/>
              <a:t>/</a:t>
            </a:r>
            <a:r>
              <a:rPr lang="en-GB" sz="2400" dirty="0" err="1"/>
              <a:t>Canu</a:t>
            </a:r>
            <a:r>
              <a:rPr lang="en-GB" sz="2400" dirty="0"/>
              <a:t> + polish</a:t>
            </a:r>
            <a:endParaRPr lang="en-GB" sz="2000" dirty="0"/>
          </a:p>
          <a:p>
            <a:endParaRPr lang="en-US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03D940-5FE1-7677-B793-018B4BB5DFA5}"/>
              </a:ext>
            </a:extLst>
          </p:cNvPr>
          <p:cNvCxnSpPr>
            <a:cxnSpLocks/>
          </p:cNvCxnSpPr>
          <p:nvPr/>
        </p:nvCxnSpPr>
        <p:spPr>
          <a:xfrm>
            <a:off x="2099739" y="2844800"/>
            <a:ext cx="0" cy="17272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518F50-8A6A-6AF1-7A42-C90F04E5C606}"/>
              </a:ext>
            </a:extLst>
          </p:cNvPr>
          <p:cNvCxnSpPr/>
          <p:nvPr/>
        </p:nvCxnSpPr>
        <p:spPr>
          <a:xfrm>
            <a:off x="5649149" y="2707620"/>
            <a:ext cx="23517" cy="186438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6B60FC-0EC8-73CF-0D7F-C41811A9946F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8494165" y="2760133"/>
            <a:ext cx="1293302" cy="59266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395663-CA7B-565D-EFF4-584A7AD6C36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876951" y="2769175"/>
            <a:ext cx="1047706" cy="58362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A23BF5-5EBE-2393-15F9-D8C413654899}"/>
              </a:ext>
            </a:extLst>
          </p:cNvPr>
          <p:cNvCxnSpPr>
            <a:cxnSpLocks/>
          </p:cNvCxnSpPr>
          <p:nvPr/>
        </p:nvCxnSpPr>
        <p:spPr>
          <a:xfrm>
            <a:off x="8382001" y="4013200"/>
            <a:ext cx="0" cy="5588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69E15C-40F2-9B6E-9700-501DA23CDC3F}"/>
              </a:ext>
            </a:extLst>
          </p:cNvPr>
          <p:cNvCxnSpPr>
            <a:cxnSpLocks/>
          </p:cNvCxnSpPr>
          <p:nvPr/>
        </p:nvCxnSpPr>
        <p:spPr>
          <a:xfrm>
            <a:off x="11006668" y="4013200"/>
            <a:ext cx="0" cy="5588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730B0CD-DA2D-5E68-56C0-0AD2FFA17D91}"/>
              </a:ext>
            </a:extLst>
          </p:cNvPr>
          <p:cNvSpPr/>
          <p:nvPr/>
        </p:nvSpPr>
        <p:spPr>
          <a:xfrm>
            <a:off x="4267200" y="1828800"/>
            <a:ext cx="3098800" cy="50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9A3A2D-29D6-2985-E4FD-DD0F0F842494}"/>
              </a:ext>
            </a:extLst>
          </p:cNvPr>
          <p:cNvSpPr/>
          <p:nvPr/>
        </p:nvSpPr>
        <p:spPr>
          <a:xfrm>
            <a:off x="7366000" y="1828800"/>
            <a:ext cx="4826000" cy="50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B8075AA-C198-84F5-5DD4-EF417DDF6D70}"/>
              </a:ext>
            </a:extLst>
          </p:cNvPr>
          <p:cNvSpPr txBox="1">
            <a:spLocks/>
          </p:cNvSpPr>
          <p:nvPr/>
        </p:nvSpPr>
        <p:spPr>
          <a:xfrm>
            <a:off x="956734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Hybrid Approaches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3CA425C-CB92-03B3-4A68-E803B7EA3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7627"/>
            <a:ext cx="10515600" cy="1916642"/>
          </a:xfrm>
        </p:spPr>
        <p:txBody>
          <a:bodyPr/>
          <a:lstStyle/>
          <a:p>
            <a:r>
              <a:rPr lang="en-US" dirty="0"/>
              <a:t>Short read first (</a:t>
            </a:r>
            <a:r>
              <a:rPr lang="en-US" dirty="0" err="1"/>
              <a:t>Unicycler</a:t>
            </a:r>
            <a:r>
              <a:rPr lang="en-US" dirty="0"/>
              <a:t> hybrid)</a:t>
            </a:r>
          </a:p>
          <a:p>
            <a:pPr lvl="1"/>
            <a:r>
              <a:rPr lang="en-US" dirty="0" err="1"/>
              <a:t>SPAdes</a:t>
            </a:r>
            <a:r>
              <a:rPr lang="en-US" dirty="0"/>
              <a:t> assembly using short reads</a:t>
            </a:r>
          </a:p>
          <a:p>
            <a:pPr lvl="1"/>
            <a:r>
              <a:rPr lang="en-US" dirty="0"/>
              <a:t>Attempt to ‘bridge’ contig breaks using long reads</a:t>
            </a:r>
          </a:p>
        </p:txBody>
      </p:sp>
      <p:pic>
        <p:nvPicPr>
          <p:cNvPr id="31" name="Picture 30" descr="Graphical user interface&#10;&#10;Description automatically generated">
            <a:extLst>
              <a:ext uri="{FF2B5EF4-FFF2-40B4-BE49-F238E27FC236}">
                <a16:creationId xmlns:a16="http://schemas.microsoft.com/office/drawing/2014/main" id="{2B37B533-5471-FE05-556F-F40E1C0406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04"/>
          <a:stretch/>
        </p:blipFill>
        <p:spPr>
          <a:xfrm>
            <a:off x="934727" y="2923345"/>
            <a:ext cx="11196881" cy="298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69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B8075AA-C198-84F5-5DD4-EF417DDF6D70}"/>
              </a:ext>
            </a:extLst>
          </p:cNvPr>
          <p:cNvSpPr txBox="1">
            <a:spLocks/>
          </p:cNvSpPr>
          <p:nvPr/>
        </p:nvSpPr>
        <p:spPr>
          <a:xfrm>
            <a:off x="956734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Hybrid Approaches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3CA425C-CB92-03B3-4A68-E803B7EA3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7627"/>
            <a:ext cx="10515600" cy="1384933"/>
          </a:xfrm>
        </p:spPr>
        <p:txBody>
          <a:bodyPr/>
          <a:lstStyle/>
          <a:p>
            <a:r>
              <a:rPr lang="en-US" dirty="0"/>
              <a:t>Short read first (</a:t>
            </a:r>
            <a:r>
              <a:rPr lang="en-US" dirty="0" err="1"/>
              <a:t>Unicycler</a:t>
            </a:r>
            <a:r>
              <a:rPr lang="en-US" dirty="0"/>
              <a:t> hybrid)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583BCC4-7E73-6573-D7A1-43CB0265219E}"/>
              </a:ext>
            </a:extLst>
          </p:cNvPr>
          <p:cNvSpPr txBox="1">
            <a:spLocks/>
          </p:cNvSpPr>
          <p:nvPr/>
        </p:nvSpPr>
        <p:spPr>
          <a:xfrm>
            <a:off x="838201" y="2976880"/>
            <a:ext cx="548132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dirty="0"/>
              <a:t>Advantages</a:t>
            </a:r>
          </a:p>
          <a:p>
            <a:pPr lvl="1"/>
            <a:r>
              <a:rPr lang="en-US" sz="2000" dirty="0"/>
              <a:t>Accurate short read assemblies improved by long reads</a:t>
            </a:r>
          </a:p>
          <a:p>
            <a:pPr lvl="1"/>
            <a:r>
              <a:rPr lang="en-US" sz="2000" dirty="0"/>
              <a:t>Works well when long-read data is poor/low coverage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A61CB7B-5208-52E7-AC8D-879A2FD9645F}"/>
              </a:ext>
            </a:extLst>
          </p:cNvPr>
          <p:cNvSpPr txBox="1">
            <a:spLocks/>
          </p:cNvSpPr>
          <p:nvPr/>
        </p:nvSpPr>
        <p:spPr>
          <a:xfrm>
            <a:off x="6522720" y="3010746"/>
            <a:ext cx="5533813" cy="2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dirty="0"/>
              <a:t>Disadvantages</a:t>
            </a:r>
          </a:p>
          <a:p>
            <a:pPr lvl="1"/>
            <a:r>
              <a:rPr lang="en-US" sz="2000" dirty="0"/>
              <a:t>Can only bridge regions already identified in </a:t>
            </a:r>
            <a:r>
              <a:rPr lang="en-US" sz="2000" dirty="0" err="1"/>
              <a:t>SPAdes</a:t>
            </a:r>
            <a:r>
              <a:rPr lang="en-US" sz="2000" dirty="0"/>
              <a:t> assembly graph</a:t>
            </a:r>
            <a:endParaRPr lang="en-US" sz="1600" dirty="0"/>
          </a:p>
          <a:p>
            <a:pPr lvl="1"/>
            <a:r>
              <a:rPr lang="en-US" sz="2000" dirty="0"/>
              <a:t>Cannot resolve structural errors from </a:t>
            </a:r>
            <a:r>
              <a:rPr lang="en-US" sz="2000" dirty="0" err="1"/>
              <a:t>SPAdes</a:t>
            </a:r>
            <a:r>
              <a:rPr lang="en-US" sz="2000" dirty="0"/>
              <a:t> assembly</a:t>
            </a:r>
          </a:p>
        </p:txBody>
      </p:sp>
    </p:spTree>
    <p:extLst>
      <p:ext uri="{BB962C8B-B14F-4D97-AF65-F5344CB8AC3E}">
        <p14:creationId xmlns:p14="http://schemas.microsoft.com/office/powerpoint/2010/main" val="2345455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1F8604-A986-67B3-7004-EB060C766D18}"/>
              </a:ext>
            </a:extLst>
          </p:cNvPr>
          <p:cNvSpPr txBox="1">
            <a:spLocks/>
          </p:cNvSpPr>
          <p:nvPr/>
        </p:nvSpPr>
        <p:spPr>
          <a:xfrm>
            <a:off x="956734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Hybrid Approaches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287F722-2734-107A-2166-100F41F8694A}"/>
              </a:ext>
            </a:extLst>
          </p:cNvPr>
          <p:cNvSpPr txBox="1">
            <a:spLocks/>
          </p:cNvSpPr>
          <p:nvPr/>
        </p:nvSpPr>
        <p:spPr>
          <a:xfrm>
            <a:off x="838200" y="1317627"/>
            <a:ext cx="10515600" cy="138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dirty="0"/>
              <a:t>Long read first</a:t>
            </a:r>
          </a:p>
          <a:p>
            <a:pPr lvl="1"/>
            <a:r>
              <a:rPr lang="en-US" dirty="0"/>
              <a:t>Construct a long-read assembly</a:t>
            </a:r>
          </a:p>
          <a:p>
            <a:pPr lvl="1"/>
            <a:r>
              <a:rPr lang="en-US" dirty="0"/>
              <a:t>Use short reads to ‘polish’ the assembly (improve accuracy)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259CD95-DB98-7A49-B30D-F14C757C8587}"/>
              </a:ext>
            </a:extLst>
          </p:cNvPr>
          <p:cNvSpPr txBox="1">
            <a:spLocks/>
          </p:cNvSpPr>
          <p:nvPr/>
        </p:nvSpPr>
        <p:spPr>
          <a:xfrm>
            <a:off x="838201" y="2976880"/>
            <a:ext cx="548132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dirty="0"/>
              <a:t>Advantages</a:t>
            </a:r>
          </a:p>
          <a:p>
            <a:pPr lvl="1"/>
            <a:r>
              <a:rPr lang="en-US" sz="2200" dirty="0"/>
              <a:t>Very contiguous assemblies</a:t>
            </a:r>
          </a:p>
          <a:p>
            <a:pPr lvl="1"/>
            <a:r>
              <a:rPr lang="en-US" sz="2200" dirty="0"/>
              <a:t>Great for resolving plasmids</a:t>
            </a:r>
          </a:p>
          <a:p>
            <a:pPr lvl="1"/>
            <a:r>
              <a:rPr lang="en-US" sz="2200" dirty="0"/>
              <a:t>Polishing with short read data improves accuracy and reduces sequencing artefacts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14F53E-023C-7A4B-7D84-76C7B74CA565}"/>
              </a:ext>
            </a:extLst>
          </p:cNvPr>
          <p:cNvSpPr txBox="1">
            <a:spLocks/>
          </p:cNvSpPr>
          <p:nvPr/>
        </p:nvSpPr>
        <p:spPr>
          <a:xfrm>
            <a:off x="6522720" y="3010746"/>
            <a:ext cx="5533813" cy="2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dirty="0"/>
              <a:t>Disadvantages</a:t>
            </a:r>
          </a:p>
          <a:p>
            <a:pPr lvl="1"/>
            <a:r>
              <a:rPr lang="en-US" sz="2200" dirty="0"/>
              <a:t>Higher error rate in long-read data can lead to small errors</a:t>
            </a:r>
          </a:p>
          <a:p>
            <a:pPr lvl="1"/>
            <a:r>
              <a:rPr lang="en-US" sz="2200" dirty="0"/>
              <a:t>Low coverage/quality long-read data can lead to poor recovery of low copy number plasmids</a:t>
            </a:r>
          </a:p>
          <a:p>
            <a:pPr lvl="1"/>
            <a:r>
              <a:rPr lang="en-US" sz="2200" dirty="0"/>
              <a:t>Size selection during library prep can lead to loss of small plasmids in long read data</a:t>
            </a:r>
          </a:p>
        </p:txBody>
      </p:sp>
    </p:spTree>
    <p:extLst>
      <p:ext uri="{BB962C8B-B14F-4D97-AF65-F5344CB8AC3E}">
        <p14:creationId xmlns:p14="http://schemas.microsoft.com/office/powerpoint/2010/main" val="3415146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E1CD-0FD7-4346-3DED-EB2AC79B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7" y="1"/>
            <a:ext cx="10515600" cy="1066800"/>
          </a:xfrm>
        </p:spPr>
        <p:txBody>
          <a:bodyPr/>
          <a:lstStyle/>
          <a:p>
            <a:r>
              <a:rPr lang="en-US" dirty="0"/>
              <a:t>Example from Mapping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01D78-B17A-8457-1A2D-C4D933B611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959600" y="6274277"/>
            <a:ext cx="2743200" cy="515856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7F62681-74FC-A6BC-2DEF-1C597FAB16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02" t="17253" r="3777" b="6419"/>
          <a:stretch/>
        </p:blipFill>
        <p:spPr>
          <a:xfrm>
            <a:off x="2235200" y="960175"/>
            <a:ext cx="7586133" cy="5897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D4C6C0-F91E-9936-C9D4-9768108517F6}"/>
              </a:ext>
            </a:extLst>
          </p:cNvPr>
          <p:cNvSpPr/>
          <p:nvPr/>
        </p:nvSpPr>
        <p:spPr>
          <a:xfrm>
            <a:off x="2590799" y="2082800"/>
            <a:ext cx="7230533" cy="965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96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DA45-AFA4-DC1D-B805-581FE86F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6"/>
            <a:ext cx="10515600" cy="1325563"/>
          </a:xfrm>
        </p:spPr>
        <p:txBody>
          <a:bodyPr/>
          <a:lstStyle/>
          <a:p>
            <a:r>
              <a:rPr lang="en-US" dirty="0"/>
              <a:t>Long Read only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49B32-3BCD-25B2-948C-1D2A58D72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As long-read technologies become </a:t>
            </a:r>
          </a:p>
          <a:p>
            <a:pPr lvl="1"/>
            <a:r>
              <a:rPr lang="en-US" dirty="0"/>
              <a:t>More accurate</a:t>
            </a:r>
          </a:p>
          <a:p>
            <a:pPr lvl="1"/>
            <a:r>
              <a:rPr lang="en-US" dirty="0"/>
              <a:t>Produce better depth</a:t>
            </a:r>
          </a:p>
          <a:p>
            <a:endParaRPr lang="en-US" dirty="0"/>
          </a:p>
          <a:p>
            <a:r>
              <a:rPr lang="en-US" dirty="0"/>
              <a:t>Hybrid assembly will become less necessary</a:t>
            </a:r>
          </a:p>
          <a:p>
            <a:pPr lvl="1"/>
            <a:r>
              <a:rPr lang="en-US" dirty="0"/>
              <a:t>Can produce ‘perfect’ bacterial assemblies with just long-reads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Still more expensive to do high quality long-read sequencing at scale</a:t>
            </a:r>
          </a:p>
        </p:txBody>
      </p:sp>
    </p:spTree>
    <p:extLst>
      <p:ext uri="{BB962C8B-B14F-4D97-AF65-F5344CB8AC3E}">
        <p14:creationId xmlns:p14="http://schemas.microsoft.com/office/powerpoint/2010/main" val="3777934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6576-F7DF-2BE8-72F8-74265081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Assembly Method Comparison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A68DF-1CDD-CB37-E11D-492B26F78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going to compare these different types of approaches as a group. We will:</a:t>
            </a:r>
          </a:p>
          <a:p>
            <a:pPr lvl="1"/>
            <a:r>
              <a:rPr lang="en-US" dirty="0"/>
              <a:t>Compare assembly approaches</a:t>
            </a:r>
          </a:p>
          <a:p>
            <a:pPr lvl="2"/>
            <a:r>
              <a:rPr lang="en-US" dirty="0"/>
              <a:t>Short-read only</a:t>
            </a:r>
          </a:p>
          <a:p>
            <a:pPr lvl="2"/>
            <a:r>
              <a:rPr lang="en-US" dirty="0"/>
              <a:t>Long-read only</a:t>
            </a:r>
          </a:p>
          <a:p>
            <a:pPr lvl="2"/>
            <a:r>
              <a:rPr lang="en-US" dirty="0"/>
              <a:t>Hybrid (short-read first &amp; long-read first)</a:t>
            </a:r>
          </a:p>
          <a:p>
            <a:pPr lvl="1"/>
            <a:r>
              <a:rPr lang="en-US" dirty="0"/>
              <a:t>Compare the effect of long-read depth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Evaluate different assemblies using standard quality metrics (Quast)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C3B99-FDC6-979A-7951-36ABD93C0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2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py and graphic_1">
  <a:themeElements>
    <a:clrScheme name="Connecting Science">
      <a:dk1>
        <a:srgbClr val="000000"/>
      </a:dk1>
      <a:lt1>
        <a:srgbClr val="FFFFFF"/>
      </a:lt1>
      <a:dk2>
        <a:srgbClr val="009BB2"/>
      </a:dk2>
      <a:lt2>
        <a:srgbClr val="E91E63"/>
      </a:lt2>
      <a:accent1>
        <a:srgbClr val="2A512C"/>
      </a:accent1>
      <a:accent2>
        <a:srgbClr val="C91D1D"/>
      </a:accent2>
      <a:accent3>
        <a:srgbClr val="006171"/>
      </a:accent3>
      <a:accent4>
        <a:srgbClr val="FEC300"/>
      </a:accent4>
      <a:accent5>
        <a:srgbClr val="80C34B"/>
      </a:accent5>
      <a:accent6>
        <a:srgbClr val="9C27B2"/>
      </a:accent6>
      <a:hlink>
        <a:srgbClr val="F027B2"/>
      </a:hlink>
      <a:folHlink>
        <a:srgbClr val="F07F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5744</TotalTime>
  <Words>732</Words>
  <Application>Microsoft Macintosh PowerPoint</Application>
  <PresentationFormat>Widescreen</PresentationFormat>
  <Paragraphs>197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Courier</vt:lpstr>
      <vt:lpstr>Helvetica Neue</vt:lpstr>
      <vt:lpstr>ＭＳ Ｐゴシック</vt:lpstr>
      <vt:lpstr>Arial</vt:lpstr>
      <vt:lpstr>Calibri</vt:lpstr>
      <vt:lpstr>Office Theme</vt:lpstr>
      <vt:lpstr>Copy and graphic_1</vt:lpstr>
      <vt:lpstr>Genomic &amp; Epidemiological Surveillance of Bacterial Pathogens 6-11 July 2025</vt:lpstr>
      <vt:lpstr>PowerPoint Presentation</vt:lpstr>
      <vt:lpstr>PowerPoint Presentation</vt:lpstr>
      <vt:lpstr>PowerPoint Presentation</vt:lpstr>
      <vt:lpstr>General principle of genome sequencing and bioinformatics </vt:lpstr>
      <vt:lpstr>Kintsugi: about making the brokenness beautiful</vt:lpstr>
      <vt:lpstr>Module 5 – about making the brokenness beautiful</vt:lpstr>
      <vt:lpstr>Assembly</vt:lpstr>
      <vt:lpstr>de novo Assembly</vt:lpstr>
      <vt:lpstr>Assemblers produce 2 main outputs</vt:lpstr>
      <vt:lpstr>Assembly Graphs</vt:lpstr>
      <vt:lpstr>Why short reads don’t assemble well</vt:lpstr>
      <vt:lpstr>PowerPoint Presentation</vt:lpstr>
      <vt:lpstr>Methods for assembling genomes</vt:lpstr>
      <vt:lpstr>PowerPoint Presentation</vt:lpstr>
      <vt:lpstr>PowerPoint Presentation</vt:lpstr>
      <vt:lpstr>PowerPoint Presentation</vt:lpstr>
      <vt:lpstr>Example from Mapping exercise</vt:lpstr>
      <vt:lpstr>Long Read only approaches</vt:lpstr>
      <vt:lpstr>Assembly Method Comparison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Andy Jermy</dc:creator>
  <cp:lastModifiedBy>Mathew Beale</cp:lastModifiedBy>
  <cp:revision>27</cp:revision>
  <dcterms:created xsi:type="dcterms:W3CDTF">2022-05-24T14:06:23Z</dcterms:created>
  <dcterms:modified xsi:type="dcterms:W3CDTF">2025-07-09T20:06:07Z</dcterms:modified>
</cp:coreProperties>
</file>