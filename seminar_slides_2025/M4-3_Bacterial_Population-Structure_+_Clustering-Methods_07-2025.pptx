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679" r:id="rId2"/>
  </p:sldMasterIdLst>
  <p:notesMasterIdLst>
    <p:notesMasterId r:id="rId48"/>
  </p:notesMasterIdLst>
  <p:sldIdLst>
    <p:sldId id="313" r:id="rId3"/>
    <p:sldId id="264" r:id="rId4"/>
    <p:sldId id="283" r:id="rId5"/>
    <p:sldId id="314" r:id="rId6"/>
    <p:sldId id="316" r:id="rId7"/>
    <p:sldId id="31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4" r:id="rId18"/>
    <p:sldId id="285" r:id="rId19"/>
    <p:sldId id="281" r:id="rId20"/>
    <p:sldId id="286" r:id="rId21"/>
    <p:sldId id="287" r:id="rId22"/>
    <p:sldId id="288" r:id="rId23"/>
    <p:sldId id="282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0" r:id="rId35"/>
    <p:sldId id="301" r:id="rId36"/>
    <p:sldId id="302" r:id="rId37"/>
    <p:sldId id="304" r:id="rId38"/>
    <p:sldId id="303" r:id="rId39"/>
    <p:sldId id="305" r:id="rId40"/>
    <p:sldId id="306" r:id="rId41"/>
    <p:sldId id="312" r:id="rId42"/>
    <p:sldId id="307" r:id="rId43"/>
    <p:sldId id="309" r:id="rId44"/>
    <p:sldId id="308" r:id="rId45"/>
    <p:sldId id="310" r:id="rId46"/>
    <p:sldId id="31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179"/>
  </p:normalViewPr>
  <p:slideViewPr>
    <p:cSldViewPr snapToGrid="0">
      <p:cViewPr varScale="1">
        <p:scale>
          <a:sx n="96" d="100"/>
          <a:sy n="96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28A1-17CA-3543-8973-987B886EFEDD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C7E86-63B8-FF4A-A9B9-9A46A25A2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2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2dddb779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2dddb779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(Whit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CAE9-E68A-7E42-B44D-AC4B63AF0F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8758" y="1600199"/>
            <a:ext cx="7341076" cy="1909763"/>
          </a:xfrm>
        </p:spPr>
        <p:txBody>
          <a:bodyPr anchor="b">
            <a:normAutofit/>
          </a:bodyPr>
          <a:lstStyle>
            <a:lvl1pPr algn="l">
              <a:defRPr sz="4800">
                <a:latin typeface="Wellcome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6C19E-49F8-EF4B-8F71-A8FD88A68C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38757" y="3602038"/>
            <a:ext cx="7341077" cy="840566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Wellcom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ED323-CDA3-5448-9AA4-59E17B42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74277"/>
            <a:ext cx="2743200" cy="515856"/>
          </a:xfrm>
        </p:spPr>
        <p:txBody>
          <a:bodyPr/>
          <a:lstStyle>
            <a:lvl1pPr algn="ctr">
              <a:defRPr/>
            </a:lvl1pPr>
          </a:lstStyle>
          <a:p>
            <a:fld id="{32BD5361-5468-3C4B-AC85-B4C168B75E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54FFC1B-E61E-3138-8836-953DE689AA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756" y="4647103"/>
            <a:ext cx="7341077" cy="1389063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26236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15C0F5-FA51-AD58-9C34-610A61CB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74277"/>
            <a:ext cx="2743200" cy="515856"/>
          </a:xfrm>
        </p:spPr>
        <p:txBody>
          <a:bodyPr/>
          <a:lstStyle>
            <a:lvl1pPr algn="ctr">
              <a:defRPr/>
            </a:lvl1pPr>
          </a:lstStyle>
          <a:p>
            <a:fld id="{32BD5361-5468-3C4B-AC85-B4C168B75E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AB6B7B4-E118-060F-E1BA-218BB9523D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8758" y="1600199"/>
            <a:ext cx="7341076" cy="1909763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Wellcome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r>
              <a:rPr lang="en-US" dirty="0"/>
              <a:t>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E4F2400-8FCC-271A-92CD-7365C4C672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38757" y="3602038"/>
            <a:ext cx="7341077" cy="840566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Wellcom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r>
              <a:rPr lang="en-US" dirty="0"/>
              <a:t> </a:t>
            </a:r>
            <a:r>
              <a:rPr lang="en-US" dirty="0" err="1"/>
              <a:t>subtitle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142E536-57DC-2832-7B0C-CA139BBE45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756" y="4647103"/>
            <a:ext cx="7341077" cy="1389063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75257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ta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0CEF-7AF5-1841-BDB5-45202C893D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Wellcome"/>
              </a:defRPr>
            </a:lvl1pPr>
          </a:lstStyle>
          <a:p>
            <a:r>
              <a:rPr lang="en-US" dirty="0"/>
              <a:t>Data slide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FCC3-C838-A048-A75C-3839EFA125F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Wellcome"/>
              </a:defRPr>
            </a:lvl1pPr>
            <a:lvl2pPr>
              <a:defRPr>
                <a:latin typeface="Wellcome"/>
              </a:defRPr>
            </a:lvl2pPr>
            <a:lvl3pPr>
              <a:defRPr>
                <a:latin typeface="Wellcome"/>
              </a:defRPr>
            </a:lvl3pPr>
            <a:lvl4pPr>
              <a:defRPr>
                <a:latin typeface="Wellcome"/>
              </a:defRPr>
            </a:lvl4pPr>
            <a:lvl5pPr>
              <a:defRPr>
                <a:latin typeface="Wellcome"/>
              </a:defRPr>
            </a:lvl5pPr>
          </a:lstStyle>
          <a:p>
            <a:pPr lvl="0"/>
            <a:r>
              <a:rPr lang="en-US" dirty="0"/>
              <a:t>Click to edit Data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77D834-F7A1-98CC-A9C5-3B84D355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74277"/>
            <a:ext cx="2743200" cy="515856"/>
          </a:xfrm>
        </p:spPr>
        <p:txBody>
          <a:bodyPr/>
          <a:lstStyle>
            <a:lvl1pPr algn="ctr">
              <a:defRPr/>
            </a:lvl1pPr>
          </a:lstStyle>
          <a:p>
            <a:fld id="{32BD5361-5468-3C4B-AC85-B4C168B75E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8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t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0CEF-7AF5-1841-BDB5-45202C893D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Wellcome"/>
              </a:defRPr>
            </a:lvl1pPr>
          </a:lstStyle>
          <a:p>
            <a:r>
              <a:rPr lang="en-US" dirty="0"/>
              <a:t>Data slide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FCC3-C838-A048-A75C-3839EFA125F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Wellcome"/>
              </a:defRPr>
            </a:lvl1pPr>
            <a:lvl2pPr>
              <a:defRPr>
                <a:latin typeface="Wellcome"/>
              </a:defRPr>
            </a:lvl2pPr>
            <a:lvl3pPr>
              <a:defRPr>
                <a:latin typeface="Wellcome"/>
              </a:defRPr>
            </a:lvl3pPr>
            <a:lvl4pPr>
              <a:defRPr>
                <a:latin typeface="Wellcome"/>
              </a:defRPr>
            </a:lvl4pPr>
            <a:lvl5pPr>
              <a:defRPr>
                <a:latin typeface="Wellcome"/>
              </a:defRPr>
            </a:lvl5pPr>
          </a:lstStyle>
          <a:p>
            <a:pPr lvl="0"/>
            <a:r>
              <a:rPr lang="en-US" dirty="0"/>
              <a:t>Click to edit Data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FABD81-856D-7280-6A93-68F07BC0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74277"/>
            <a:ext cx="2743200" cy="515856"/>
          </a:xfrm>
        </p:spPr>
        <p:txBody>
          <a:bodyPr/>
          <a:lstStyle>
            <a:lvl1pPr algn="ctr">
              <a:defRPr/>
            </a:lvl1pPr>
          </a:lstStyle>
          <a:p>
            <a:fld id="{32BD5361-5468-3C4B-AC85-B4C168B75E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5027-D9C8-8E42-4934-987B764C0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Wellcome"/>
              </a:defRPr>
            </a:lvl1pPr>
          </a:lstStyle>
          <a:p>
            <a:r>
              <a:rPr lang="en-US" dirty="0"/>
              <a:t>Blank slide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C9877-A8A9-9BCB-8433-2A8C3269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74277"/>
            <a:ext cx="2743200" cy="515856"/>
          </a:xfrm>
        </p:spPr>
        <p:txBody>
          <a:bodyPr/>
          <a:lstStyle>
            <a:lvl1pPr algn="ctr">
              <a:defRPr/>
            </a:lvl1pPr>
          </a:lstStyle>
          <a:p>
            <a:fld id="{32BD5361-5468-3C4B-AC85-B4C168B75E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89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66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475312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75312" y="2021304"/>
            <a:ext cx="7784768" cy="347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475312" y="951054"/>
            <a:ext cx="7784768" cy="95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210" cy="49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3604847" y="6086007"/>
            <a:ext cx="2958768" cy="4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772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bc6d7cb80_0_89"/>
          <p:cNvSpPr txBox="1">
            <a:spLocks noGrp="1"/>
          </p:cNvSpPr>
          <p:nvPr>
            <p:ph type="title"/>
          </p:nvPr>
        </p:nvSpPr>
        <p:spPr>
          <a:xfrm>
            <a:off x="475311" y="951055"/>
            <a:ext cx="112413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1bc6d7cb80_0_89"/>
          <p:cNvSpPr txBox="1">
            <a:spLocks noGrp="1"/>
          </p:cNvSpPr>
          <p:nvPr>
            <p:ph type="dt" idx="10"/>
          </p:nvPr>
        </p:nvSpPr>
        <p:spPr>
          <a:xfrm>
            <a:off x="479118" y="6086006"/>
            <a:ext cx="29550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1bc6d7cb80_0_89"/>
          <p:cNvSpPr txBox="1">
            <a:spLocks noGrp="1"/>
          </p:cNvSpPr>
          <p:nvPr>
            <p:ph type="ftr" idx="11"/>
          </p:nvPr>
        </p:nvSpPr>
        <p:spPr>
          <a:xfrm>
            <a:off x="3604847" y="6086006"/>
            <a:ext cx="2958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1bc6d7cb80_0_89"/>
          <p:cNvSpPr txBox="1">
            <a:spLocks noGrp="1"/>
          </p:cNvSpPr>
          <p:nvPr>
            <p:ph type="sldNum" idx="12"/>
          </p:nvPr>
        </p:nvSpPr>
        <p:spPr>
          <a:xfrm>
            <a:off x="10535478" y="6086006"/>
            <a:ext cx="11811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24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 Slide 04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75300" y="2103431"/>
            <a:ext cx="6080800" cy="2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Helvetica Neue"/>
              <a:buNone/>
              <a:defRPr sz="5067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6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9162" y="385969"/>
            <a:ext cx="2667001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 rot="-4743976">
            <a:off x="6887487" y="2806313"/>
            <a:ext cx="6248631" cy="6190344"/>
          </a:xfrm>
          <a:prstGeom prst="ellipse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 rot="-4744071">
            <a:off x="8343539" y="-994295"/>
            <a:ext cx="4901755" cy="4856099"/>
          </a:xfrm>
          <a:prstGeom prst="ellipse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32845" y="4956661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32845" y="5537228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32845" y="6330828"/>
            <a:ext cx="60808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609585" marR="0" lvl="0" indent="-304792" algn="l">
              <a:lnSpc>
                <a:spcPct val="4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535479" y="6086007"/>
            <a:ext cx="11812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1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1740B-AC2E-1A43-8EEE-31EB6D5BA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C4903-7E46-4040-A973-724BADCC1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68245-4EC0-FF42-8EEA-D62FC93C1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7056E-402D-4802-851A-D2956F643866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3DA62-30C7-0F48-A18C-9103A89A6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94295-2DCB-B24F-AA62-27299DDC2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D5361-5468-3C4B-AC85-B4C168B75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0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 rot="4462381">
            <a:off x="7265968" y="-3126990"/>
            <a:ext cx="9327323" cy="6253978"/>
            <a:chOff x="-2190568" y="-6468307"/>
            <a:chExt cx="16557151" cy="11101584"/>
          </a:xfrm>
        </p:grpSpPr>
        <p:sp>
          <p:nvSpPr>
            <p:cNvPr id="11" name="Google Shape;11;p20"/>
            <p:cNvSpPr/>
            <p:nvPr/>
          </p:nvSpPr>
          <p:spPr>
            <a:xfrm>
              <a:off x="-2190568" y="-6468307"/>
              <a:ext cx="11206551" cy="11101584"/>
            </a:xfrm>
            <a:prstGeom prst="ellipse">
              <a:avLst/>
            </a:prstGeom>
            <a:noFill/>
            <a:ln w="635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6807129" y="-5452267"/>
              <a:ext cx="7559454" cy="7488648"/>
            </a:xfrm>
            <a:prstGeom prst="ellipse">
              <a:avLst/>
            </a:prstGeom>
            <a:noFill/>
            <a:ln w="635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438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1473-3099(16)30157-8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379967" y="2651733"/>
            <a:ext cx="9802800" cy="2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r>
              <a:rPr lang="en-GB" sz="4000"/>
              <a:t>Genomic &amp; Epidemiological Surveillance of Bacterial Pathogens</a:t>
            </a:r>
            <a:endParaRPr sz="4000"/>
          </a:p>
          <a:p>
            <a:r>
              <a:rPr lang="en-GB" sz="1867"/>
              <a:t>6-11 July 2025</a:t>
            </a:r>
            <a:endParaRPr sz="1867"/>
          </a:p>
        </p:txBody>
      </p:sp>
      <p:grpSp>
        <p:nvGrpSpPr>
          <p:cNvPr id="225" name="Google Shape;225;p34"/>
          <p:cNvGrpSpPr/>
          <p:nvPr/>
        </p:nvGrpSpPr>
        <p:grpSpPr>
          <a:xfrm>
            <a:off x="6679935" y="103"/>
            <a:ext cx="5511952" cy="1385132"/>
            <a:chOff x="-73850" y="3941600"/>
            <a:chExt cx="4861200" cy="1218305"/>
          </a:xfrm>
        </p:grpSpPr>
        <p:sp>
          <p:nvSpPr>
            <p:cNvPr id="226" name="Google Shape;226;p34"/>
            <p:cNvSpPr/>
            <p:nvPr/>
          </p:nvSpPr>
          <p:spPr>
            <a:xfrm>
              <a:off x="-73850" y="3941600"/>
              <a:ext cx="4861200" cy="12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63" y="3957905"/>
              <a:ext cx="4714825" cy="120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34"/>
          <p:cNvSpPr txBox="1"/>
          <p:nvPr/>
        </p:nvSpPr>
        <p:spPr>
          <a:xfrm>
            <a:off x="418700" y="5030434"/>
            <a:ext cx="5995352" cy="188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GB" sz="26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4: Mapping and Phylogeny</a:t>
            </a:r>
          </a:p>
          <a:p>
            <a:endParaRPr lang="en-GB" sz="2667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GB" sz="2667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Bacterial population structure and sequence clustering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A29401-EE69-1579-7E76-59259C542A66}"/>
              </a:ext>
            </a:extLst>
          </p:cNvPr>
          <p:cNvSpPr txBox="1"/>
          <p:nvPr/>
        </p:nvSpPr>
        <p:spPr>
          <a:xfrm>
            <a:off x="7572375" y="6515100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Mat Beale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6;p13">
            <a:extLst>
              <a:ext uri="{FF2B5EF4-FFF2-40B4-BE49-F238E27FC236}">
                <a16:creationId xmlns:a16="http://schemas.microsoft.com/office/drawing/2014/main" id="{110C7700-222E-E799-49CC-CC294FBED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294868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8" name="Google Shape;77;p13">
            <a:extLst>
              <a:ext uri="{FF2B5EF4-FFF2-40B4-BE49-F238E27FC236}">
                <a16:creationId xmlns:a16="http://schemas.microsoft.com/office/drawing/2014/main" id="{3CEDB68B-5B90-1E19-92C6-5AC6559D1421}"/>
              </a:ext>
            </a:extLst>
          </p:cNvPr>
          <p:cNvSpPr txBox="1">
            <a:spLocks/>
          </p:cNvSpPr>
          <p:nvPr/>
        </p:nvSpPr>
        <p:spPr>
          <a:xfrm>
            <a:off x="1806567" y="2374883"/>
            <a:ext cx="7571700" cy="357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Wellcome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Wellcome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Wellcome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Wellcome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Wellcome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0550" indent="-514350">
              <a:lnSpc>
                <a:spcPct val="200000"/>
              </a:lnSpc>
              <a:spcBef>
                <a:spcPts val="600"/>
              </a:spcBef>
              <a:buSzPts val="2400"/>
              <a:buFont typeface="+mj-lt"/>
              <a:buAutoNum type="arabicPeriod"/>
            </a:pPr>
            <a:r>
              <a:rPr lang="en-GB" dirty="0"/>
              <a:t>Introduction to Population Structure</a:t>
            </a:r>
          </a:p>
          <a:p>
            <a:pPr marL="590550" indent="-514350">
              <a:lnSpc>
                <a:spcPct val="200000"/>
              </a:lnSpc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GB" dirty="0"/>
              <a:t>Applications and Approaches</a:t>
            </a:r>
          </a:p>
          <a:p>
            <a:pPr marL="590550" indent="-514350">
              <a:lnSpc>
                <a:spcPct val="200000"/>
              </a:lnSpc>
              <a:spcBef>
                <a:spcPts val="0"/>
              </a:spcBef>
              <a:buSzPts val="2400"/>
              <a:buFont typeface="+mj-lt"/>
              <a:buAutoNum type="arabicPeriod"/>
            </a:pPr>
            <a:r>
              <a:rPr lang="en-GB" dirty="0"/>
              <a:t>Algorithms</a:t>
            </a:r>
          </a:p>
        </p:txBody>
      </p:sp>
      <p:sp>
        <p:nvSpPr>
          <p:cNvPr id="2" name="Google Shape;71;p12">
            <a:extLst>
              <a:ext uri="{FF2B5EF4-FFF2-40B4-BE49-F238E27FC236}">
                <a16:creationId xmlns:a16="http://schemas.microsoft.com/office/drawing/2014/main" id="{72E36F36-24C2-2D12-2384-8412FA10B19A}"/>
              </a:ext>
            </a:extLst>
          </p:cNvPr>
          <p:cNvSpPr txBox="1">
            <a:spLocks/>
          </p:cNvSpPr>
          <p:nvPr/>
        </p:nvSpPr>
        <p:spPr>
          <a:xfrm>
            <a:off x="2837530" y="6452746"/>
            <a:ext cx="6823305" cy="40525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/>
              <a:t>Original Slide Credit: Gerry Tonkin-Hill, University of Melbourne</a:t>
            </a:r>
          </a:p>
        </p:txBody>
      </p:sp>
    </p:spTree>
    <p:extLst>
      <p:ext uri="{BB962C8B-B14F-4D97-AF65-F5344CB8AC3E}">
        <p14:creationId xmlns:p14="http://schemas.microsoft.com/office/powerpoint/2010/main" val="402128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470410"/>
            <a:ext cx="6869105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1.	</a:t>
            </a:r>
            <a:r>
              <a:rPr lang="en-GB" sz="3700" dirty="0"/>
              <a:t>Population structure</a:t>
            </a:r>
          </a:p>
        </p:txBody>
      </p:sp>
    </p:spTree>
    <p:extLst>
      <p:ext uri="{BB962C8B-B14F-4D97-AF65-F5344CB8AC3E}">
        <p14:creationId xmlns:p14="http://schemas.microsoft.com/office/powerpoint/2010/main" val="356600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2E18F-1D9C-2E22-3755-8E9C9302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15">
            <a:extLst>
              <a:ext uri="{FF2B5EF4-FFF2-40B4-BE49-F238E27FC236}">
                <a16:creationId xmlns:a16="http://schemas.microsoft.com/office/drawing/2014/main" id="{7954B780-8D48-C610-4C69-38C87D7E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7053" y="212035"/>
            <a:ext cx="8371103" cy="1527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we mean by population structure?</a:t>
            </a:r>
            <a:endParaRPr dirty="0"/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6B2D2656-1F90-D753-AC83-756133093E63}"/>
              </a:ext>
            </a:extLst>
          </p:cNvPr>
          <p:cNvSpPr txBox="1"/>
          <p:nvPr/>
        </p:nvSpPr>
        <p:spPr>
          <a:xfrm>
            <a:off x="1727054" y="2150387"/>
            <a:ext cx="803979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Systematic differences in alleles and/or gene frequencies between subpopulations</a:t>
            </a:r>
            <a:endParaRPr sz="18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Google Shape;89;p15">
            <a:extLst>
              <a:ext uri="{FF2B5EF4-FFF2-40B4-BE49-F238E27FC236}">
                <a16:creationId xmlns:a16="http://schemas.microsoft.com/office/drawing/2014/main" id="{16C77F78-281D-ABB7-EA1B-45B4B5944B71}"/>
              </a:ext>
            </a:extLst>
          </p:cNvPr>
          <p:cNvSpPr/>
          <p:nvPr/>
        </p:nvSpPr>
        <p:spPr>
          <a:xfrm>
            <a:off x="3215530" y="3907854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90;p15">
            <a:extLst>
              <a:ext uri="{FF2B5EF4-FFF2-40B4-BE49-F238E27FC236}">
                <a16:creationId xmlns:a16="http://schemas.microsoft.com/office/drawing/2014/main" id="{6688EEB8-D9F2-8364-A1FF-9A67B3B99D57}"/>
              </a:ext>
            </a:extLst>
          </p:cNvPr>
          <p:cNvSpPr/>
          <p:nvPr/>
        </p:nvSpPr>
        <p:spPr>
          <a:xfrm>
            <a:off x="3481780" y="3806929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1;p15">
            <a:extLst>
              <a:ext uri="{FF2B5EF4-FFF2-40B4-BE49-F238E27FC236}">
                <a16:creationId xmlns:a16="http://schemas.microsoft.com/office/drawing/2014/main" id="{A8FF7149-865E-8777-63C6-18282834420D}"/>
              </a:ext>
            </a:extLst>
          </p:cNvPr>
          <p:cNvSpPr/>
          <p:nvPr/>
        </p:nvSpPr>
        <p:spPr>
          <a:xfrm>
            <a:off x="3271555" y="4212654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2;p15">
            <a:extLst>
              <a:ext uri="{FF2B5EF4-FFF2-40B4-BE49-F238E27FC236}">
                <a16:creationId xmlns:a16="http://schemas.microsoft.com/office/drawing/2014/main" id="{B9AC77BF-24F5-3A88-90C5-EC051D9764F4}"/>
              </a:ext>
            </a:extLst>
          </p:cNvPr>
          <p:cNvSpPr/>
          <p:nvPr/>
        </p:nvSpPr>
        <p:spPr>
          <a:xfrm>
            <a:off x="3712155" y="4691091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93;p15">
            <a:extLst>
              <a:ext uri="{FF2B5EF4-FFF2-40B4-BE49-F238E27FC236}">
                <a16:creationId xmlns:a16="http://schemas.microsoft.com/office/drawing/2014/main" id="{3733AEAE-7CDA-797D-A3A9-2FB7FC914D7B}"/>
              </a:ext>
            </a:extLst>
          </p:cNvPr>
          <p:cNvSpPr/>
          <p:nvPr/>
        </p:nvSpPr>
        <p:spPr>
          <a:xfrm>
            <a:off x="3491868" y="4196629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4;p15">
            <a:extLst>
              <a:ext uri="{FF2B5EF4-FFF2-40B4-BE49-F238E27FC236}">
                <a16:creationId xmlns:a16="http://schemas.microsoft.com/office/drawing/2014/main" id="{540FF93F-7C3E-0ABD-99B0-146BE19BFC1D}"/>
              </a:ext>
            </a:extLst>
          </p:cNvPr>
          <p:cNvSpPr/>
          <p:nvPr/>
        </p:nvSpPr>
        <p:spPr>
          <a:xfrm>
            <a:off x="4055505" y="4317391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95;p15">
            <a:extLst>
              <a:ext uri="{FF2B5EF4-FFF2-40B4-BE49-F238E27FC236}">
                <a16:creationId xmlns:a16="http://schemas.microsoft.com/office/drawing/2014/main" id="{3B9F2469-B405-1667-0030-664094CBD946}"/>
              </a:ext>
            </a:extLst>
          </p:cNvPr>
          <p:cNvSpPr/>
          <p:nvPr/>
        </p:nvSpPr>
        <p:spPr>
          <a:xfrm>
            <a:off x="3866368" y="4317379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96;p15">
            <a:extLst>
              <a:ext uri="{FF2B5EF4-FFF2-40B4-BE49-F238E27FC236}">
                <a16:creationId xmlns:a16="http://schemas.microsoft.com/office/drawing/2014/main" id="{8CDC8034-D8F8-D7C6-15DD-72BA56C4D5F5}"/>
              </a:ext>
            </a:extLst>
          </p:cNvPr>
          <p:cNvSpPr/>
          <p:nvPr/>
        </p:nvSpPr>
        <p:spPr>
          <a:xfrm>
            <a:off x="3712180" y="3806916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7;p15">
            <a:extLst>
              <a:ext uri="{FF2B5EF4-FFF2-40B4-BE49-F238E27FC236}">
                <a16:creationId xmlns:a16="http://schemas.microsoft.com/office/drawing/2014/main" id="{EF54908C-D3CA-8B41-A5EC-C2F2AF58A3E7}"/>
              </a:ext>
            </a:extLst>
          </p:cNvPr>
          <p:cNvSpPr/>
          <p:nvPr/>
        </p:nvSpPr>
        <p:spPr>
          <a:xfrm>
            <a:off x="3988943" y="4567904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8;p15">
            <a:extLst>
              <a:ext uri="{FF2B5EF4-FFF2-40B4-BE49-F238E27FC236}">
                <a16:creationId xmlns:a16="http://schemas.microsoft.com/office/drawing/2014/main" id="{7E96032B-7B50-2C61-275A-601615A12F84}"/>
              </a:ext>
            </a:extLst>
          </p:cNvPr>
          <p:cNvSpPr/>
          <p:nvPr/>
        </p:nvSpPr>
        <p:spPr>
          <a:xfrm>
            <a:off x="4265730" y="4162179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9;p15">
            <a:extLst>
              <a:ext uri="{FF2B5EF4-FFF2-40B4-BE49-F238E27FC236}">
                <a16:creationId xmlns:a16="http://schemas.microsoft.com/office/drawing/2014/main" id="{A6B595DD-6508-164A-314F-7E444F483D15}"/>
              </a:ext>
            </a:extLst>
          </p:cNvPr>
          <p:cNvSpPr/>
          <p:nvPr/>
        </p:nvSpPr>
        <p:spPr>
          <a:xfrm>
            <a:off x="4265730" y="4579179"/>
            <a:ext cx="154200" cy="198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0;p15">
            <a:extLst>
              <a:ext uri="{FF2B5EF4-FFF2-40B4-BE49-F238E27FC236}">
                <a16:creationId xmlns:a16="http://schemas.microsoft.com/office/drawing/2014/main" id="{38E34AF6-B738-5E0C-E7FD-1D9AFC88E496}"/>
              </a:ext>
            </a:extLst>
          </p:cNvPr>
          <p:cNvSpPr/>
          <p:nvPr/>
        </p:nvSpPr>
        <p:spPr>
          <a:xfrm>
            <a:off x="3329380" y="4517441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01;p15">
            <a:extLst>
              <a:ext uri="{FF2B5EF4-FFF2-40B4-BE49-F238E27FC236}">
                <a16:creationId xmlns:a16="http://schemas.microsoft.com/office/drawing/2014/main" id="{18991D5D-825F-EC6D-0789-1BEB834D9449}"/>
              </a:ext>
            </a:extLst>
          </p:cNvPr>
          <p:cNvSpPr/>
          <p:nvPr/>
        </p:nvSpPr>
        <p:spPr>
          <a:xfrm>
            <a:off x="4095855" y="3911654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02;p15">
            <a:extLst>
              <a:ext uri="{FF2B5EF4-FFF2-40B4-BE49-F238E27FC236}">
                <a16:creationId xmlns:a16="http://schemas.microsoft.com/office/drawing/2014/main" id="{D34FBE13-32CC-789E-70D8-9D4E8EE70D3D}"/>
              </a:ext>
            </a:extLst>
          </p:cNvPr>
          <p:cNvSpPr/>
          <p:nvPr/>
        </p:nvSpPr>
        <p:spPr>
          <a:xfrm>
            <a:off x="3683705" y="4058454"/>
            <a:ext cx="154200" cy="1983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103;p15">
            <a:extLst>
              <a:ext uri="{FF2B5EF4-FFF2-40B4-BE49-F238E27FC236}">
                <a16:creationId xmlns:a16="http://schemas.microsoft.com/office/drawing/2014/main" id="{420D93C3-9C5E-B46A-4ACE-44A6D6B9A1F5}"/>
              </a:ext>
            </a:extLst>
          </p:cNvPr>
          <p:cNvCxnSpPr>
            <a:cxnSpLocks/>
          </p:cNvCxnSpPr>
          <p:nvPr/>
        </p:nvCxnSpPr>
        <p:spPr>
          <a:xfrm rot="10800000" flipH="1">
            <a:off x="3313730" y="3649141"/>
            <a:ext cx="925200" cy="149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46EDC9-F92F-0FE3-F4B6-78861D76EE4E}"/>
              </a:ext>
            </a:extLst>
          </p:cNvPr>
          <p:cNvSpPr txBox="1"/>
          <p:nvPr/>
        </p:nvSpPr>
        <p:spPr>
          <a:xfrm>
            <a:off x="2690192" y="5495187"/>
            <a:ext cx="246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allele distribution between groups</a:t>
            </a:r>
          </a:p>
        </p:txBody>
      </p:sp>
    </p:spTree>
    <p:extLst>
      <p:ext uri="{BB962C8B-B14F-4D97-AF65-F5344CB8AC3E}">
        <p14:creationId xmlns:p14="http://schemas.microsoft.com/office/powerpoint/2010/main" val="42737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2B7E-26A9-658F-473E-2E744141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15">
            <a:extLst>
              <a:ext uri="{FF2B5EF4-FFF2-40B4-BE49-F238E27FC236}">
                <a16:creationId xmlns:a16="http://schemas.microsoft.com/office/drawing/2014/main" id="{3D2C11EA-F5D5-4EBE-E8E6-51056FA3F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7053" y="212035"/>
            <a:ext cx="8371103" cy="1527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we mean by population structure?</a:t>
            </a:r>
            <a:endParaRPr dirty="0"/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B76EA136-49F6-9F65-1E49-158078F51C5B}"/>
              </a:ext>
            </a:extLst>
          </p:cNvPr>
          <p:cNvSpPr txBox="1"/>
          <p:nvPr/>
        </p:nvSpPr>
        <p:spPr>
          <a:xfrm>
            <a:off x="1727054" y="2150387"/>
            <a:ext cx="803979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Systematic differences in alleles and/or gene frequencies between subpopulations</a:t>
            </a:r>
            <a:endParaRPr sz="18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3D5D0B3-93E9-17BE-951E-457217E659A4}"/>
              </a:ext>
            </a:extLst>
          </p:cNvPr>
          <p:cNvGrpSpPr/>
          <p:nvPr/>
        </p:nvGrpSpPr>
        <p:grpSpPr>
          <a:xfrm>
            <a:off x="3215530" y="3649141"/>
            <a:ext cx="4550850" cy="1516350"/>
            <a:chOff x="3215530" y="4590045"/>
            <a:chExt cx="4550850" cy="1516350"/>
          </a:xfrm>
        </p:grpSpPr>
        <p:sp>
          <p:nvSpPr>
            <p:cNvPr id="7" name="Google Shape;89;p15">
              <a:extLst>
                <a:ext uri="{FF2B5EF4-FFF2-40B4-BE49-F238E27FC236}">
                  <a16:creationId xmlns:a16="http://schemas.microsoft.com/office/drawing/2014/main" id="{AACE4C0E-CC5D-F79E-0B35-B32E5C9B8349}"/>
                </a:ext>
              </a:extLst>
            </p:cNvPr>
            <p:cNvSpPr/>
            <p:nvPr/>
          </p:nvSpPr>
          <p:spPr>
            <a:xfrm>
              <a:off x="3215530" y="484875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;p15">
              <a:extLst>
                <a:ext uri="{FF2B5EF4-FFF2-40B4-BE49-F238E27FC236}">
                  <a16:creationId xmlns:a16="http://schemas.microsoft.com/office/drawing/2014/main" id="{51F55FC4-8DBD-3A30-03B1-8FF96D6CAD63}"/>
                </a:ext>
              </a:extLst>
            </p:cNvPr>
            <p:cNvSpPr/>
            <p:nvPr/>
          </p:nvSpPr>
          <p:spPr>
            <a:xfrm>
              <a:off x="3481780" y="474783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1;p15">
              <a:extLst>
                <a:ext uri="{FF2B5EF4-FFF2-40B4-BE49-F238E27FC236}">
                  <a16:creationId xmlns:a16="http://schemas.microsoft.com/office/drawing/2014/main" id="{B07C73A1-3D86-4A08-03EF-FAA1D5B82BBE}"/>
                </a:ext>
              </a:extLst>
            </p:cNvPr>
            <p:cNvSpPr/>
            <p:nvPr/>
          </p:nvSpPr>
          <p:spPr>
            <a:xfrm>
              <a:off x="3271555" y="51535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;p15">
              <a:extLst>
                <a:ext uri="{FF2B5EF4-FFF2-40B4-BE49-F238E27FC236}">
                  <a16:creationId xmlns:a16="http://schemas.microsoft.com/office/drawing/2014/main" id="{2DF00DDF-2773-C6D5-142F-1CDD0BE03D35}"/>
                </a:ext>
              </a:extLst>
            </p:cNvPr>
            <p:cNvSpPr/>
            <p:nvPr/>
          </p:nvSpPr>
          <p:spPr>
            <a:xfrm>
              <a:off x="3712155" y="56319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3;p15">
              <a:extLst>
                <a:ext uri="{FF2B5EF4-FFF2-40B4-BE49-F238E27FC236}">
                  <a16:creationId xmlns:a16="http://schemas.microsoft.com/office/drawing/2014/main" id="{B82B7CCD-95BE-B78A-66BD-8247D73A97E7}"/>
                </a:ext>
              </a:extLst>
            </p:cNvPr>
            <p:cNvSpPr/>
            <p:nvPr/>
          </p:nvSpPr>
          <p:spPr>
            <a:xfrm>
              <a:off x="3491868" y="5137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;p15">
              <a:extLst>
                <a:ext uri="{FF2B5EF4-FFF2-40B4-BE49-F238E27FC236}">
                  <a16:creationId xmlns:a16="http://schemas.microsoft.com/office/drawing/2014/main" id="{E89C0AC5-A2E3-78E5-7A97-1A8CD258E27D}"/>
                </a:ext>
              </a:extLst>
            </p:cNvPr>
            <p:cNvSpPr/>
            <p:nvPr/>
          </p:nvSpPr>
          <p:spPr>
            <a:xfrm>
              <a:off x="4055505" y="52582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5;p15">
              <a:extLst>
                <a:ext uri="{FF2B5EF4-FFF2-40B4-BE49-F238E27FC236}">
                  <a16:creationId xmlns:a16="http://schemas.microsoft.com/office/drawing/2014/main" id="{F14C97D6-7BC2-900B-A36D-C568EFA8960E}"/>
                </a:ext>
              </a:extLst>
            </p:cNvPr>
            <p:cNvSpPr/>
            <p:nvPr/>
          </p:nvSpPr>
          <p:spPr>
            <a:xfrm>
              <a:off x="3866368" y="52582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6;p15">
              <a:extLst>
                <a:ext uri="{FF2B5EF4-FFF2-40B4-BE49-F238E27FC236}">
                  <a16:creationId xmlns:a16="http://schemas.microsoft.com/office/drawing/2014/main" id="{E23B25E6-A7F2-A203-6BD8-03BD504235FC}"/>
                </a:ext>
              </a:extLst>
            </p:cNvPr>
            <p:cNvSpPr/>
            <p:nvPr/>
          </p:nvSpPr>
          <p:spPr>
            <a:xfrm>
              <a:off x="3712180" y="4747820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;p15">
              <a:extLst>
                <a:ext uri="{FF2B5EF4-FFF2-40B4-BE49-F238E27FC236}">
                  <a16:creationId xmlns:a16="http://schemas.microsoft.com/office/drawing/2014/main" id="{5BEFE839-203A-A262-B4ED-82D6605EB5D7}"/>
                </a:ext>
              </a:extLst>
            </p:cNvPr>
            <p:cNvSpPr/>
            <p:nvPr/>
          </p:nvSpPr>
          <p:spPr>
            <a:xfrm>
              <a:off x="3988943" y="55088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;p15">
              <a:extLst>
                <a:ext uri="{FF2B5EF4-FFF2-40B4-BE49-F238E27FC236}">
                  <a16:creationId xmlns:a16="http://schemas.microsoft.com/office/drawing/2014/main" id="{0E9B4B22-4F11-DAC7-6C20-6C6E4BCE4BED}"/>
                </a:ext>
              </a:extLst>
            </p:cNvPr>
            <p:cNvSpPr/>
            <p:nvPr/>
          </p:nvSpPr>
          <p:spPr>
            <a:xfrm>
              <a:off x="4265730" y="51030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9;p15">
              <a:extLst>
                <a:ext uri="{FF2B5EF4-FFF2-40B4-BE49-F238E27FC236}">
                  <a16:creationId xmlns:a16="http://schemas.microsoft.com/office/drawing/2014/main" id="{8BFEBB5B-3D89-DE42-A117-10CF59EF2E39}"/>
                </a:ext>
              </a:extLst>
            </p:cNvPr>
            <p:cNvSpPr/>
            <p:nvPr/>
          </p:nvSpPr>
          <p:spPr>
            <a:xfrm>
              <a:off x="4265730" y="55200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0;p15">
              <a:extLst>
                <a:ext uri="{FF2B5EF4-FFF2-40B4-BE49-F238E27FC236}">
                  <a16:creationId xmlns:a16="http://schemas.microsoft.com/office/drawing/2014/main" id="{D9FC75CA-D8E0-762D-B886-481AAF387712}"/>
                </a:ext>
              </a:extLst>
            </p:cNvPr>
            <p:cNvSpPr/>
            <p:nvPr/>
          </p:nvSpPr>
          <p:spPr>
            <a:xfrm>
              <a:off x="3329380" y="545834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;p15">
              <a:extLst>
                <a:ext uri="{FF2B5EF4-FFF2-40B4-BE49-F238E27FC236}">
                  <a16:creationId xmlns:a16="http://schemas.microsoft.com/office/drawing/2014/main" id="{297F8D62-EFC9-C4EC-C20D-40862F1B43A2}"/>
                </a:ext>
              </a:extLst>
            </p:cNvPr>
            <p:cNvSpPr/>
            <p:nvPr/>
          </p:nvSpPr>
          <p:spPr>
            <a:xfrm>
              <a:off x="4095855" y="48525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;p15">
              <a:extLst>
                <a:ext uri="{FF2B5EF4-FFF2-40B4-BE49-F238E27FC236}">
                  <a16:creationId xmlns:a16="http://schemas.microsoft.com/office/drawing/2014/main" id="{A1B50D9F-75BF-BD1E-DDF3-A9C96945AB01}"/>
                </a:ext>
              </a:extLst>
            </p:cNvPr>
            <p:cNvSpPr/>
            <p:nvPr/>
          </p:nvSpPr>
          <p:spPr>
            <a:xfrm>
              <a:off x="3683705" y="49993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" name="Google Shape;103;p15">
              <a:extLst>
                <a:ext uri="{FF2B5EF4-FFF2-40B4-BE49-F238E27FC236}">
                  <a16:creationId xmlns:a16="http://schemas.microsoft.com/office/drawing/2014/main" id="{C3AFDDD5-B0CC-856A-7514-EDD0B8560BE7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13730" y="4590045"/>
              <a:ext cx="925200" cy="1497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104;p15">
              <a:extLst>
                <a:ext uri="{FF2B5EF4-FFF2-40B4-BE49-F238E27FC236}">
                  <a16:creationId xmlns:a16="http://schemas.microsoft.com/office/drawing/2014/main" id="{A749EAA5-E067-2CD0-5215-AD791BAE805E}"/>
                </a:ext>
              </a:extLst>
            </p:cNvPr>
            <p:cNvSpPr/>
            <p:nvPr/>
          </p:nvSpPr>
          <p:spPr>
            <a:xfrm>
              <a:off x="6561980" y="48672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5;p15">
              <a:extLst>
                <a:ext uri="{FF2B5EF4-FFF2-40B4-BE49-F238E27FC236}">
                  <a16:creationId xmlns:a16="http://schemas.microsoft.com/office/drawing/2014/main" id="{FF42CE11-AF1B-D67E-130C-E01EF887B90E}"/>
                </a:ext>
              </a:extLst>
            </p:cNvPr>
            <p:cNvSpPr/>
            <p:nvPr/>
          </p:nvSpPr>
          <p:spPr>
            <a:xfrm>
              <a:off x="6828230" y="476628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;p15">
              <a:extLst>
                <a:ext uri="{FF2B5EF4-FFF2-40B4-BE49-F238E27FC236}">
                  <a16:creationId xmlns:a16="http://schemas.microsoft.com/office/drawing/2014/main" id="{6CAFAAE6-CB48-F055-32A4-607B3E2B78CA}"/>
                </a:ext>
              </a:extLst>
            </p:cNvPr>
            <p:cNvSpPr/>
            <p:nvPr/>
          </p:nvSpPr>
          <p:spPr>
            <a:xfrm>
              <a:off x="6618005" y="51720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7;p15">
              <a:extLst>
                <a:ext uri="{FF2B5EF4-FFF2-40B4-BE49-F238E27FC236}">
                  <a16:creationId xmlns:a16="http://schemas.microsoft.com/office/drawing/2014/main" id="{D9424ABC-DB7F-377F-EEC7-E6E0EA424981}"/>
                </a:ext>
              </a:extLst>
            </p:cNvPr>
            <p:cNvSpPr/>
            <p:nvPr/>
          </p:nvSpPr>
          <p:spPr>
            <a:xfrm>
              <a:off x="7058605" y="565044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;p15">
              <a:extLst>
                <a:ext uri="{FF2B5EF4-FFF2-40B4-BE49-F238E27FC236}">
                  <a16:creationId xmlns:a16="http://schemas.microsoft.com/office/drawing/2014/main" id="{8311626A-5ECB-E108-648E-1636357C4C5E}"/>
                </a:ext>
              </a:extLst>
            </p:cNvPr>
            <p:cNvSpPr/>
            <p:nvPr/>
          </p:nvSpPr>
          <p:spPr>
            <a:xfrm>
              <a:off x="6838318" y="515598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;p15">
              <a:extLst>
                <a:ext uri="{FF2B5EF4-FFF2-40B4-BE49-F238E27FC236}">
                  <a16:creationId xmlns:a16="http://schemas.microsoft.com/office/drawing/2014/main" id="{E995BE1C-39D5-4297-DE37-3F017DBF2413}"/>
                </a:ext>
              </a:extLst>
            </p:cNvPr>
            <p:cNvSpPr/>
            <p:nvPr/>
          </p:nvSpPr>
          <p:spPr>
            <a:xfrm>
              <a:off x="7401955" y="5276745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0;p15">
              <a:extLst>
                <a:ext uri="{FF2B5EF4-FFF2-40B4-BE49-F238E27FC236}">
                  <a16:creationId xmlns:a16="http://schemas.microsoft.com/office/drawing/2014/main" id="{FC5F5B8E-3162-8F99-52D0-2923ACD40DB7}"/>
                </a:ext>
              </a:extLst>
            </p:cNvPr>
            <p:cNvSpPr/>
            <p:nvPr/>
          </p:nvSpPr>
          <p:spPr>
            <a:xfrm>
              <a:off x="7212818" y="52767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1;p15">
              <a:extLst>
                <a:ext uri="{FF2B5EF4-FFF2-40B4-BE49-F238E27FC236}">
                  <a16:creationId xmlns:a16="http://schemas.microsoft.com/office/drawing/2014/main" id="{423025C1-FF22-A867-3F62-597A36A8AADC}"/>
                </a:ext>
              </a:extLst>
            </p:cNvPr>
            <p:cNvSpPr/>
            <p:nvPr/>
          </p:nvSpPr>
          <p:spPr>
            <a:xfrm>
              <a:off x="7058630" y="4766270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2;p15">
              <a:extLst>
                <a:ext uri="{FF2B5EF4-FFF2-40B4-BE49-F238E27FC236}">
                  <a16:creationId xmlns:a16="http://schemas.microsoft.com/office/drawing/2014/main" id="{689965FA-D518-E6C3-5CB9-35A07DCD68C8}"/>
                </a:ext>
              </a:extLst>
            </p:cNvPr>
            <p:cNvSpPr/>
            <p:nvPr/>
          </p:nvSpPr>
          <p:spPr>
            <a:xfrm>
              <a:off x="7335393" y="552725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3;p15">
              <a:extLst>
                <a:ext uri="{FF2B5EF4-FFF2-40B4-BE49-F238E27FC236}">
                  <a16:creationId xmlns:a16="http://schemas.microsoft.com/office/drawing/2014/main" id="{8F7B770E-C77B-1E01-29C9-002E729120EF}"/>
                </a:ext>
              </a:extLst>
            </p:cNvPr>
            <p:cNvSpPr/>
            <p:nvPr/>
          </p:nvSpPr>
          <p:spPr>
            <a:xfrm>
              <a:off x="7612180" y="5121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4;p15">
              <a:extLst>
                <a:ext uri="{FF2B5EF4-FFF2-40B4-BE49-F238E27FC236}">
                  <a16:creationId xmlns:a16="http://schemas.microsoft.com/office/drawing/2014/main" id="{3A0C5B74-5E5D-A71F-7FE3-2A2DDB90B500}"/>
                </a:ext>
              </a:extLst>
            </p:cNvPr>
            <p:cNvSpPr/>
            <p:nvPr/>
          </p:nvSpPr>
          <p:spPr>
            <a:xfrm>
              <a:off x="7612180" y="5538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5;p15">
              <a:extLst>
                <a:ext uri="{FF2B5EF4-FFF2-40B4-BE49-F238E27FC236}">
                  <a16:creationId xmlns:a16="http://schemas.microsoft.com/office/drawing/2014/main" id="{5C7965E4-E358-5D39-A4D9-DE8607B03638}"/>
                </a:ext>
              </a:extLst>
            </p:cNvPr>
            <p:cNvSpPr/>
            <p:nvPr/>
          </p:nvSpPr>
          <p:spPr>
            <a:xfrm>
              <a:off x="6675830" y="54767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6;p15">
              <a:extLst>
                <a:ext uri="{FF2B5EF4-FFF2-40B4-BE49-F238E27FC236}">
                  <a16:creationId xmlns:a16="http://schemas.microsoft.com/office/drawing/2014/main" id="{98D33BEE-9F23-0AB4-B583-E5D270EF891F}"/>
                </a:ext>
              </a:extLst>
            </p:cNvPr>
            <p:cNvSpPr/>
            <p:nvPr/>
          </p:nvSpPr>
          <p:spPr>
            <a:xfrm>
              <a:off x="7442305" y="487100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7;p15">
              <a:extLst>
                <a:ext uri="{FF2B5EF4-FFF2-40B4-BE49-F238E27FC236}">
                  <a16:creationId xmlns:a16="http://schemas.microsoft.com/office/drawing/2014/main" id="{2B43D129-719E-E9C4-5D5A-731FC8318761}"/>
                </a:ext>
              </a:extLst>
            </p:cNvPr>
            <p:cNvSpPr/>
            <p:nvPr/>
          </p:nvSpPr>
          <p:spPr>
            <a:xfrm>
              <a:off x="7030155" y="50178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" name="Google Shape;118;p15">
              <a:extLst>
                <a:ext uri="{FF2B5EF4-FFF2-40B4-BE49-F238E27FC236}">
                  <a16:creationId xmlns:a16="http://schemas.microsoft.com/office/drawing/2014/main" id="{61E4456F-2748-364C-29A5-3D3217CE01CC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660180" y="4608495"/>
              <a:ext cx="925200" cy="1497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Google Shape;119;p15">
              <a:extLst>
                <a:ext uri="{FF2B5EF4-FFF2-40B4-BE49-F238E27FC236}">
                  <a16:creationId xmlns:a16="http://schemas.microsoft.com/office/drawing/2014/main" id="{D73A5BE8-48F5-668D-7BB4-F0DD3D625B9B}"/>
                </a:ext>
              </a:extLst>
            </p:cNvPr>
            <p:cNvSpPr txBox="1"/>
            <p:nvPr/>
          </p:nvSpPr>
          <p:spPr>
            <a:xfrm>
              <a:off x="5243205" y="5023395"/>
              <a:ext cx="5937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rgbClr val="2E2E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VS</a:t>
              </a:r>
              <a:endParaRPr sz="29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38BEC5B-D122-E7CE-5AD5-6521CC9935D5}"/>
              </a:ext>
            </a:extLst>
          </p:cNvPr>
          <p:cNvSpPr txBox="1"/>
          <p:nvPr/>
        </p:nvSpPr>
        <p:spPr>
          <a:xfrm>
            <a:off x="2690192" y="5495187"/>
            <a:ext cx="246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allele distribution between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6AF42-1B0B-2486-83D3-2CCCAB05A143}"/>
              </a:ext>
            </a:extLst>
          </p:cNvPr>
          <p:cNvSpPr txBox="1"/>
          <p:nvPr/>
        </p:nvSpPr>
        <p:spPr>
          <a:xfrm>
            <a:off x="6109253" y="5495187"/>
            <a:ext cx="246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Non-Random allele distribution between groups</a:t>
            </a:r>
          </a:p>
        </p:txBody>
      </p:sp>
    </p:spTree>
    <p:extLst>
      <p:ext uri="{BB962C8B-B14F-4D97-AF65-F5344CB8AC3E}">
        <p14:creationId xmlns:p14="http://schemas.microsoft.com/office/powerpoint/2010/main" val="419114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545C-51B7-5180-813C-DC006B0B6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15">
            <a:extLst>
              <a:ext uri="{FF2B5EF4-FFF2-40B4-BE49-F238E27FC236}">
                <a16:creationId xmlns:a16="http://schemas.microsoft.com/office/drawing/2014/main" id="{9C624589-E22D-16FE-BC2D-F3B941AB9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7053" y="212035"/>
            <a:ext cx="8371103" cy="1527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we mean by population structure?</a:t>
            </a:r>
            <a:endParaRPr dirty="0"/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F9A47199-16D4-C427-E5C9-186ABBF77E41}"/>
              </a:ext>
            </a:extLst>
          </p:cNvPr>
          <p:cNvSpPr txBox="1"/>
          <p:nvPr/>
        </p:nvSpPr>
        <p:spPr>
          <a:xfrm>
            <a:off x="1727054" y="2150387"/>
            <a:ext cx="803979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Systematic differences in alleles and/or gene frequencies between subpopulations</a:t>
            </a:r>
            <a:endParaRPr sz="18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EA3E0E-0FC6-B6B4-5CDC-B461350298B8}"/>
              </a:ext>
            </a:extLst>
          </p:cNvPr>
          <p:cNvGrpSpPr/>
          <p:nvPr/>
        </p:nvGrpSpPr>
        <p:grpSpPr>
          <a:xfrm>
            <a:off x="3215530" y="3649141"/>
            <a:ext cx="4550850" cy="1516350"/>
            <a:chOff x="3215530" y="4590045"/>
            <a:chExt cx="4550850" cy="1516350"/>
          </a:xfrm>
        </p:grpSpPr>
        <p:sp>
          <p:nvSpPr>
            <p:cNvPr id="7" name="Google Shape;89;p15">
              <a:extLst>
                <a:ext uri="{FF2B5EF4-FFF2-40B4-BE49-F238E27FC236}">
                  <a16:creationId xmlns:a16="http://schemas.microsoft.com/office/drawing/2014/main" id="{A6FAF696-7A1F-75B5-168F-A48378B221DC}"/>
                </a:ext>
              </a:extLst>
            </p:cNvPr>
            <p:cNvSpPr/>
            <p:nvPr/>
          </p:nvSpPr>
          <p:spPr>
            <a:xfrm>
              <a:off x="3215530" y="484875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;p15">
              <a:extLst>
                <a:ext uri="{FF2B5EF4-FFF2-40B4-BE49-F238E27FC236}">
                  <a16:creationId xmlns:a16="http://schemas.microsoft.com/office/drawing/2014/main" id="{1F5D894B-9C9F-8084-52D2-4CF094134A40}"/>
                </a:ext>
              </a:extLst>
            </p:cNvPr>
            <p:cNvSpPr/>
            <p:nvPr/>
          </p:nvSpPr>
          <p:spPr>
            <a:xfrm>
              <a:off x="3481780" y="474783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1;p15">
              <a:extLst>
                <a:ext uri="{FF2B5EF4-FFF2-40B4-BE49-F238E27FC236}">
                  <a16:creationId xmlns:a16="http://schemas.microsoft.com/office/drawing/2014/main" id="{7CE3E6A8-B95D-D038-0891-BB0874E896F2}"/>
                </a:ext>
              </a:extLst>
            </p:cNvPr>
            <p:cNvSpPr/>
            <p:nvPr/>
          </p:nvSpPr>
          <p:spPr>
            <a:xfrm>
              <a:off x="3271555" y="51535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;p15">
              <a:extLst>
                <a:ext uri="{FF2B5EF4-FFF2-40B4-BE49-F238E27FC236}">
                  <a16:creationId xmlns:a16="http://schemas.microsoft.com/office/drawing/2014/main" id="{C127DA00-7268-159E-C1C3-7C54FDD58141}"/>
                </a:ext>
              </a:extLst>
            </p:cNvPr>
            <p:cNvSpPr/>
            <p:nvPr/>
          </p:nvSpPr>
          <p:spPr>
            <a:xfrm>
              <a:off x="3712155" y="56319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3;p15">
              <a:extLst>
                <a:ext uri="{FF2B5EF4-FFF2-40B4-BE49-F238E27FC236}">
                  <a16:creationId xmlns:a16="http://schemas.microsoft.com/office/drawing/2014/main" id="{8301FE7D-057C-EC16-911F-845B3D25903B}"/>
                </a:ext>
              </a:extLst>
            </p:cNvPr>
            <p:cNvSpPr/>
            <p:nvPr/>
          </p:nvSpPr>
          <p:spPr>
            <a:xfrm>
              <a:off x="3491868" y="5137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4;p15">
              <a:extLst>
                <a:ext uri="{FF2B5EF4-FFF2-40B4-BE49-F238E27FC236}">
                  <a16:creationId xmlns:a16="http://schemas.microsoft.com/office/drawing/2014/main" id="{C6FFA3FD-D838-EB31-6564-A700F78A6368}"/>
                </a:ext>
              </a:extLst>
            </p:cNvPr>
            <p:cNvSpPr/>
            <p:nvPr/>
          </p:nvSpPr>
          <p:spPr>
            <a:xfrm>
              <a:off x="4055505" y="52582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5;p15">
              <a:extLst>
                <a:ext uri="{FF2B5EF4-FFF2-40B4-BE49-F238E27FC236}">
                  <a16:creationId xmlns:a16="http://schemas.microsoft.com/office/drawing/2014/main" id="{4EBA498D-0733-97FB-EEB3-47A4F685AD59}"/>
                </a:ext>
              </a:extLst>
            </p:cNvPr>
            <p:cNvSpPr/>
            <p:nvPr/>
          </p:nvSpPr>
          <p:spPr>
            <a:xfrm>
              <a:off x="3866368" y="52582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6;p15">
              <a:extLst>
                <a:ext uri="{FF2B5EF4-FFF2-40B4-BE49-F238E27FC236}">
                  <a16:creationId xmlns:a16="http://schemas.microsoft.com/office/drawing/2014/main" id="{656F1C45-9177-A21C-F5F0-09FF44494BEA}"/>
                </a:ext>
              </a:extLst>
            </p:cNvPr>
            <p:cNvSpPr/>
            <p:nvPr/>
          </p:nvSpPr>
          <p:spPr>
            <a:xfrm>
              <a:off x="3712180" y="4747820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;p15">
              <a:extLst>
                <a:ext uri="{FF2B5EF4-FFF2-40B4-BE49-F238E27FC236}">
                  <a16:creationId xmlns:a16="http://schemas.microsoft.com/office/drawing/2014/main" id="{EBBB376A-A71E-9EAC-7150-9AA0013B2E90}"/>
                </a:ext>
              </a:extLst>
            </p:cNvPr>
            <p:cNvSpPr/>
            <p:nvPr/>
          </p:nvSpPr>
          <p:spPr>
            <a:xfrm>
              <a:off x="3988943" y="55088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;p15">
              <a:extLst>
                <a:ext uri="{FF2B5EF4-FFF2-40B4-BE49-F238E27FC236}">
                  <a16:creationId xmlns:a16="http://schemas.microsoft.com/office/drawing/2014/main" id="{57BD5711-6A14-A308-8291-3422A3BADE0F}"/>
                </a:ext>
              </a:extLst>
            </p:cNvPr>
            <p:cNvSpPr/>
            <p:nvPr/>
          </p:nvSpPr>
          <p:spPr>
            <a:xfrm>
              <a:off x="4265730" y="51030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9;p15">
              <a:extLst>
                <a:ext uri="{FF2B5EF4-FFF2-40B4-BE49-F238E27FC236}">
                  <a16:creationId xmlns:a16="http://schemas.microsoft.com/office/drawing/2014/main" id="{B42F4FC6-2B1D-6FEE-8A93-94E712278E71}"/>
                </a:ext>
              </a:extLst>
            </p:cNvPr>
            <p:cNvSpPr/>
            <p:nvPr/>
          </p:nvSpPr>
          <p:spPr>
            <a:xfrm>
              <a:off x="4265730" y="552008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0;p15">
              <a:extLst>
                <a:ext uri="{FF2B5EF4-FFF2-40B4-BE49-F238E27FC236}">
                  <a16:creationId xmlns:a16="http://schemas.microsoft.com/office/drawing/2014/main" id="{6FCEEC12-113E-3A98-A3C0-E1EE3087C479}"/>
                </a:ext>
              </a:extLst>
            </p:cNvPr>
            <p:cNvSpPr/>
            <p:nvPr/>
          </p:nvSpPr>
          <p:spPr>
            <a:xfrm>
              <a:off x="3329380" y="545834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;p15">
              <a:extLst>
                <a:ext uri="{FF2B5EF4-FFF2-40B4-BE49-F238E27FC236}">
                  <a16:creationId xmlns:a16="http://schemas.microsoft.com/office/drawing/2014/main" id="{DED53B20-374C-A704-18AF-6F8DAB2B48A7}"/>
                </a:ext>
              </a:extLst>
            </p:cNvPr>
            <p:cNvSpPr/>
            <p:nvPr/>
          </p:nvSpPr>
          <p:spPr>
            <a:xfrm>
              <a:off x="4095855" y="48525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;p15">
              <a:extLst>
                <a:ext uri="{FF2B5EF4-FFF2-40B4-BE49-F238E27FC236}">
                  <a16:creationId xmlns:a16="http://schemas.microsoft.com/office/drawing/2014/main" id="{5231B48F-31A8-5326-2854-73DFCD7D8A30}"/>
                </a:ext>
              </a:extLst>
            </p:cNvPr>
            <p:cNvSpPr/>
            <p:nvPr/>
          </p:nvSpPr>
          <p:spPr>
            <a:xfrm>
              <a:off x="3683705" y="499935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" name="Google Shape;103;p15">
              <a:extLst>
                <a:ext uri="{FF2B5EF4-FFF2-40B4-BE49-F238E27FC236}">
                  <a16:creationId xmlns:a16="http://schemas.microsoft.com/office/drawing/2014/main" id="{7737B864-3C5C-97DD-AB87-3305F337300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13730" y="4590045"/>
              <a:ext cx="925200" cy="1497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104;p15">
              <a:extLst>
                <a:ext uri="{FF2B5EF4-FFF2-40B4-BE49-F238E27FC236}">
                  <a16:creationId xmlns:a16="http://schemas.microsoft.com/office/drawing/2014/main" id="{48718952-45CA-9E60-D1A5-21466F1367AB}"/>
                </a:ext>
              </a:extLst>
            </p:cNvPr>
            <p:cNvSpPr/>
            <p:nvPr/>
          </p:nvSpPr>
          <p:spPr>
            <a:xfrm>
              <a:off x="6561980" y="48672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5;p15">
              <a:extLst>
                <a:ext uri="{FF2B5EF4-FFF2-40B4-BE49-F238E27FC236}">
                  <a16:creationId xmlns:a16="http://schemas.microsoft.com/office/drawing/2014/main" id="{3EB7A673-7E07-329C-CCF0-020F0E5C9C40}"/>
                </a:ext>
              </a:extLst>
            </p:cNvPr>
            <p:cNvSpPr/>
            <p:nvPr/>
          </p:nvSpPr>
          <p:spPr>
            <a:xfrm>
              <a:off x="6828230" y="476628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;p15">
              <a:extLst>
                <a:ext uri="{FF2B5EF4-FFF2-40B4-BE49-F238E27FC236}">
                  <a16:creationId xmlns:a16="http://schemas.microsoft.com/office/drawing/2014/main" id="{22D593AC-0B96-3C64-47E8-359FAC139325}"/>
                </a:ext>
              </a:extLst>
            </p:cNvPr>
            <p:cNvSpPr/>
            <p:nvPr/>
          </p:nvSpPr>
          <p:spPr>
            <a:xfrm>
              <a:off x="6618005" y="51720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7;p15">
              <a:extLst>
                <a:ext uri="{FF2B5EF4-FFF2-40B4-BE49-F238E27FC236}">
                  <a16:creationId xmlns:a16="http://schemas.microsoft.com/office/drawing/2014/main" id="{ABEA175B-0A4E-F0B8-13C5-AA32DB57EBED}"/>
                </a:ext>
              </a:extLst>
            </p:cNvPr>
            <p:cNvSpPr/>
            <p:nvPr/>
          </p:nvSpPr>
          <p:spPr>
            <a:xfrm>
              <a:off x="7058605" y="565044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;p15">
              <a:extLst>
                <a:ext uri="{FF2B5EF4-FFF2-40B4-BE49-F238E27FC236}">
                  <a16:creationId xmlns:a16="http://schemas.microsoft.com/office/drawing/2014/main" id="{636E5087-D960-3CBB-48D4-E3EEA99F60C6}"/>
                </a:ext>
              </a:extLst>
            </p:cNvPr>
            <p:cNvSpPr/>
            <p:nvPr/>
          </p:nvSpPr>
          <p:spPr>
            <a:xfrm>
              <a:off x="6838318" y="5155983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;p15">
              <a:extLst>
                <a:ext uri="{FF2B5EF4-FFF2-40B4-BE49-F238E27FC236}">
                  <a16:creationId xmlns:a16="http://schemas.microsoft.com/office/drawing/2014/main" id="{CD301BFB-4368-7076-CB9E-A8088CA44DF5}"/>
                </a:ext>
              </a:extLst>
            </p:cNvPr>
            <p:cNvSpPr/>
            <p:nvPr/>
          </p:nvSpPr>
          <p:spPr>
            <a:xfrm>
              <a:off x="7401955" y="5276745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0;p15">
              <a:extLst>
                <a:ext uri="{FF2B5EF4-FFF2-40B4-BE49-F238E27FC236}">
                  <a16:creationId xmlns:a16="http://schemas.microsoft.com/office/drawing/2014/main" id="{CEF75B7C-0B11-C06F-B86B-C8D0E222B3D6}"/>
                </a:ext>
              </a:extLst>
            </p:cNvPr>
            <p:cNvSpPr/>
            <p:nvPr/>
          </p:nvSpPr>
          <p:spPr>
            <a:xfrm>
              <a:off x="7212818" y="52767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1;p15">
              <a:extLst>
                <a:ext uri="{FF2B5EF4-FFF2-40B4-BE49-F238E27FC236}">
                  <a16:creationId xmlns:a16="http://schemas.microsoft.com/office/drawing/2014/main" id="{9D89796C-5650-2C99-DF9E-F2F06CDFA064}"/>
                </a:ext>
              </a:extLst>
            </p:cNvPr>
            <p:cNvSpPr/>
            <p:nvPr/>
          </p:nvSpPr>
          <p:spPr>
            <a:xfrm>
              <a:off x="7058630" y="4766270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2;p15">
              <a:extLst>
                <a:ext uri="{FF2B5EF4-FFF2-40B4-BE49-F238E27FC236}">
                  <a16:creationId xmlns:a16="http://schemas.microsoft.com/office/drawing/2014/main" id="{15BEC0E4-EA61-2007-C858-87FC843F25EB}"/>
                </a:ext>
              </a:extLst>
            </p:cNvPr>
            <p:cNvSpPr/>
            <p:nvPr/>
          </p:nvSpPr>
          <p:spPr>
            <a:xfrm>
              <a:off x="7335393" y="552725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3;p15">
              <a:extLst>
                <a:ext uri="{FF2B5EF4-FFF2-40B4-BE49-F238E27FC236}">
                  <a16:creationId xmlns:a16="http://schemas.microsoft.com/office/drawing/2014/main" id="{07C16DCB-4E52-7B08-8E20-0ED44C68FABF}"/>
                </a:ext>
              </a:extLst>
            </p:cNvPr>
            <p:cNvSpPr/>
            <p:nvPr/>
          </p:nvSpPr>
          <p:spPr>
            <a:xfrm>
              <a:off x="7612180" y="5121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4;p15">
              <a:extLst>
                <a:ext uri="{FF2B5EF4-FFF2-40B4-BE49-F238E27FC236}">
                  <a16:creationId xmlns:a16="http://schemas.microsoft.com/office/drawing/2014/main" id="{2B152594-E24E-7C95-5D48-B366E0EA8AB7}"/>
                </a:ext>
              </a:extLst>
            </p:cNvPr>
            <p:cNvSpPr/>
            <p:nvPr/>
          </p:nvSpPr>
          <p:spPr>
            <a:xfrm>
              <a:off x="7612180" y="5538533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5;p15">
              <a:extLst>
                <a:ext uri="{FF2B5EF4-FFF2-40B4-BE49-F238E27FC236}">
                  <a16:creationId xmlns:a16="http://schemas.microsoft.com/office/drawing/2014/main" id="{B64B0498-1BC4-387F-7E26-AFE11387885E}"/>
                </a:ext>
              </a:extLst>
            </p:cNvPr>
            <p:cNvSpPr/>
            <p:nvPr/>
          </p:nvSpPr>
          <p:spPr>
            <a:xfrm>
              <a:off x="6675830" y="5476795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6;p15">
              <a:extLst>
                <a:ext uri="{FF2B5EF4-FFF2-40B4-BE49-F238E27FC236}">
                  <a16:creationId xmlns:a16="http://schemas.microsoft.com/office/drawing/2014/main" id="{D0393E7F-9C18-CE2C-453C-AF45F75FAE66}"/>
                </a:ext>
              </a:extLst>
            </p:cNvPr>
            <p:cNvSpPr/>
            <p:nvPr/>
          </p:nvSpPr>
          <p:spPr>
            <a:xfrm>
              <a:off x="7442305" y="4871008"/>
              <a:ext cx="154200" cy="1983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7;p15">
              <a:extLst>
                <a:ext uri="{FF2B5EF4-FFF2-40B4-BE49-F238E27FC236}">
                  <a16:creationId xmlns:a16="http://schemas.microsoft.com/office/drawing/2014/main" id="{8E01C689-5D45-C1E7-579A-E8BE3BD26F36}"/>
                </a:ext>
              </a:extLst>
            </p:cNvPr>
            <p:cNvSpPr/>
            <p:nvPr/>
          </p:nvSpPr>
          <p:spPr>
            <a:xfrm>
              <a:off x="7030155" y="5017808"/>
              <a:ext cx="154200" cy="1983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" name="Google Shape;118;p15">
              <a:extLst>
                <a:ext uri="{FF2B5EF4-FFF2-40B4-BE49-F238E27FC236}">
                  <a16:creationId xmlns:a16="http://schemas.microsoft.com/office/drawing/2014/main" id="{DB587E6F-247F-03B2-B3F9-8FC893DE2A4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660180" y="4608495"/>
              <a:ext cx="925200" cy="1497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Google Shape;119;p15">
              <a:extLst>
                <a:ext uri="{FF2B5EF4-FFF2-40B4-BE49-F238E27FC236}">
                  <a16:creationId xmlns:a16="http://schemas.microsoft.com/office/drawing/2014/main" id="{1A84865D-1578-0CBF-01E3-5FAD5C966D76}"/>
                </a:ext>
              </a:extLst>
            </p:cNvPr>
            <p:cNvSpPr txBox="1"/>
            <p:nvPr/>
          </p:nvSpPr>
          <p:spPr>
            <a:xfrm>
              <a:off x="5243205" y="5023395"/>
              <a:ext cx="593700" cy="63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rgbClr val="2E2E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VS</a:t>
              </a:r>
              <a:endParaRPr sz="29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A068E5-692C-701D-FA73-FCA43243C5BE}"/>
              </a:ext>
            </a:extLst>
          </p:cNvPr>
          <p:cNvSpPr txBox="1"/>
          <p:nvPr/>
        </p:nvSpPr>
        <p:spPr>
          <a:xfrm>
            <a:off x="2690192" y="5495187"/>
            <a:ext cx="246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allele distribution between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7E5E1-2084-F6F1-ABB5-4657E16F7B93}"/>
              </a:ext>
            </a:extLst>
          </p:cNvPr>
          <p:cNvSpPr txBox="1"/>
          <p:nvPr/>
        </p:nvSpPr>
        <p:spPr>
          <a:xfrm>
            <a:off x="6109253" y="5495187"/>
            <a:ext cx="2464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Non-Random allele distribution between groups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440C4-15D7-8A37-2C3F-239675B31391}"/>
              </a:ext>
            </a:extLst>
          </p:cNvPr>
          <p:cNvSpPr txBox="1"/>
          <p:nvPr/>
        </p:nvSpPr>
        <p:spPr>
          <a:xfrm>
            <a:off x="8388626" y="4359965"/>
            <a:ext cx="316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population is ‘structured’</a:t>
            </a:r>
          </a:p>
        </p:txBody>
      </p:sp>
    </p:spTree>
    <p:extLst>
      <p:ext uri="{BB962C8B-B14F-4D97-AF65-F5344CB8AC3E}">
        <p14:creationId xmlns:p14="http://schemas.microsoft.com/office/powerpoint/2010/main" val="250508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5D67F-8D78-DC19-E1D4-4C9A5972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D5361-5468-3C4B-AC85-B4C168B75E9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Google Shape;124;p16">
            <a:extLst>
              <a:ext uri="{FF2B5EF4-FFF2-40B4-BE49-F238E27FC236}">
                <a16:creationId xmlns:a16="http://schemas.microsoft.com/office/drawing/2014/main" id="{7C6F4CC2-04E1-B23B-2EAF-A9185C5A0FE2}"/>
              </a:ext>
            </a:extLst>
          </p:cNvPr>
          <p:cNvSpPr txBox="1">
            <a:spLocks/>
          </p:cNvSpPr>
          <p:nvPr/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/>
              <a:t>What causes it?</a:t>
            </a:r>
          </a:p>
        </p:txBody>
      </p:sp>
      <p:sp>
        <p:nvSpPr>
          <p:cNvPr id="6" name="Google Shape;125;p16">
            <a:extLst>
              <a:ext uri="{FF2B5EF4-FFF2-40B4-BE49-F238E27FC236}">
                <a16:creationId xmlns:a16="http://schemas.microsoft.com/office/drawing/2014/main" id="{1E5DB0E6-4DC1-0A88-2F2E-BF1B6AA27D64}"/>
              </a:ext>
            </a:extLst>
          </p:cNvPr>
          <p:cNvSpPr txBox="1">
            <a:spLocks/>
          </p:cNvSpPr>
          <p:nvPr/>
        </p:nvSpPr>
        <p:spPr>
          <a:xfrm>
            <a:off x="2137870" y="2874561"/>
            <a:ext cx="3481051" cy="1965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61950">
              <a:lnSpc>
                <a:spcPct val="150000"/>
              </a:lnSpc>
              <a:spcBef>
                <a:spcPts val="600"/>
              </a:spcBef>
              <a:buSzPts val="2100"/>
              <a:buFont typeface="Arial" panose="020B0604020202020204" pitchFamily="34" charset="0"/>
              <a:buChar char="◎"/>
            </a:pPr>
            <a:r>
              <a:rPr lang="en-GB" sz="2400" dirty="0"/>
              <a:t>physical separation</a:t>
            </a:r>
          </a:p>
          <a:p>
            <a:pPr marL="457200" indent="-361950">
              <a:lnSpc>
                <a:spcPct val="150000"/>
              </a:lnSpc>
              <a:spcBef>
                <a:spcPts val="0"/>
              </a:spcBef>
              <a:buSzPts val="2100"/>
              <a:buFont typeface="Arial" panose="020B0604020202020204" pitchFamily="34" charset="0"/>
              <a:buChar char="◎"/>
            </a:pPr>
            <a:r>
              <a:rPr lang="en-GB" sz="2400" dirty="0"/>
              <a:t>migration</a:t>
            </a:r>
          </a:p>
          <a:p>
            <a:pPr marL="457200" indent="-361950">
              <a:lnSpc>
                <a:spcPct val="150000"/>
              </a:lnSpc>
              <a:spcBef>
                <a:spcPts val="0"/>
              </a:spcBef>
              <a:buSzPts val="2100"/>
              <a:buFont typeface="Arial" panose="020B0604020202020204" pitchFamily="34" charset="0"/>
              <a:buChar char="◎"/>
            </a:pPr>
            <a:r>
              <a:rPr lang="en-GB" sz="2400" dirty="0"/>
              <a:t>bottlenecks</a:t>
            </a:r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1A31AE22-6747-DA95-2B08-5462E4EE3B79}"/>
              </a:ext>
            </a:extLst>
          </p:cNvPr>
          <p:cNvSpPr txBox="1"/>
          <p:nvPr/>
        </p:nvSpPr>
        <p:spPr>
          <a:xfrm>
            <a:off x="6142746" y="2948561"/>
            <a:ext cx="3370200" cy="1923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Source Sans Pro"/>
              <a:buChar char="◎"/>
            </a:pPr>
            <a:r>
              <a:rPr lang="en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expansions</a:t>
            </a: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Source Sans Pro"/>
              <a:buChar char="◎"/>
            </a:pPr>
            <a:r>
              <a:rPr lang="en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selection</a:t>
            </a: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Source Sans Pro"/>
              <a:buChar char="◎"/>
            </a:pPr>
            <a:r>
              <a:rPr lang="en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random chance</a:t>
            </a:r>
            <a:endParaRPr sz="2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79077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1;p17">
            <a:extLst>
              <a:ext uri="{FF2B5EF4-FFF2-40B4-BE49-F238E27FC236}">
                <a16:creationId xmlns:a16="http://schemas.microsoft.com/office/drawing/2014/main" id="{3087E2E6-641D-228D-AD94-16854436A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950" y="0"/>
            <a:ext cx="7571700" cy="15356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Physical separation - </a:t>
            </a:r>
            <a:r>
              <a:rPr lang="en" i="1" dirty="0"/>
              <a:t>Helicobacter pylori</a:t>
            </a:r>
            <a:endParaRPr i="1" dirty="0"/>
          </a:p>
        </p:txBody>
      </p:sp>
      <p:pic>
        <p:nvPicPr>
          <p:cNvPr id="6" name="Google Shape;132;p17">
            <a:extLst>
              <a:ext uri="{FF2B5EF4-FFF2-40B4-BE49-F238E27FC236}">
                <a16:creationId xmlns:a16="http://schemas.microsoft.com/office/drawing/2014/main" id="{C9B5D31D-F225-ED05-032F-34B3345280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8685"/>
          <a:stretch/>
        </p:blipFill>
        <p:spPr>
          <a:xfrm>
            <a:off x="1851555" y="2286002"/>
            <a:ext cx="8183354" cy="36915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3;p17">
            <a:extLst>
              <a:ext uri="{FF2B5EF4-FFF2-40B4-BE49-F238E27FC236}">
                <a16:creationId xmlns:a16="http://schemas.microsoft.com/office/drawing/2014/main" id="{F46D259D-2401-200C-4671-D541DDA069D1}"/>
              </a:ext>
            </a:extLst>
          </p:cNvPr>
          <p:cNvSpPr txBox="1"/>
          <p:nvPr/>
        </p:nvSpPr>
        <p:spPr>
          <a:xfrm>
            <a:off x="2421234" y="6063174"/>
            <a:ext cx="718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Muñoz-Ramirez, Z. Y. </a:t>
            </a:r>
            <a:r>
              <a:rPr lang="en" sz="1100" i="1" dirty="0"/>
              <a:t>et al.</a:t>
            </a:r>
            <a:r>
              <a:rPr lang="en" sz="1100" dirty="0"/>
              <a:t> A 500-year tale of co-evolution, adaptation, and virulence: Helicobacter pylori in the Americas. </a:t>
            </a:r>
            <a:r>
              <a:rPr lang="en" sz="1100" i="1" dirty="0"/>
              <a:t>ISME J.</a:t>
            </a:r>
            <a:r>
              <a:rPr lang="en" sz="1100" dirty="0"/>
              <a:t> </a:t>
            </a:r>
            <a:r>
              <a:rPr lang="en" sz="1100" b="1" dirty="0"/>
              <a:t>15</a:t>
            </a:r>
            <a:r>
              <a:rPr lang="en" sz="1100" dirty="0"/>
              <a:t>, 78–92 (2021)</a:t>
            </a:r>
            <a:endParaRPr sz="12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92107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8;p18">
            <a:extLst>
              <a:ext uri="{FF2B5EF4-FFF2-40B4-BE49-F238E27FC236}">
                <a16:creationId xmlns:a16="http://schemas.microsoft.com/office/drawing/2014/main" id="{297B848C-3011-09C8-DE76-281AE5C4F9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915" y="18885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induced structure</a:t>
            </a:r>
            <a:endParaRPr/>
          </a:p>
        </p:txBody>
      </p:sp>
      <p:pic>
        <p:nvPicPr>
          <p:cNvPr id="6" name="Google Shape;139;p18">
            <a:extLst>
              <a:ext uri="{FF2B5EF4-FFF2-40B4-BE49-F238E27FC236}">
                <a16:creationId xmlns:a16="http://schemas.microsoft.com/office/drawing/2014/main" id="{07587757-2392-51AC-7D2D-0AD668FF83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2672" y="2181403"/>
            <a:ext cx="8666044" cy="319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89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4;p19">
            <a:extLst>
              <a:ext uri="{FF2B5EF4-FFF2-40B4-BE49-F238E27FC236}">
                <a16:creationId xmlns:a16="http://schemas.microsoft.com/office/drawing/2014/main" id="{72FF3A57-0A6E-75E3-0818-27E4EB188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5176" y="185530"/>
            <a:ext cx="7324180" cy="14877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Selection induced structure - </a:t>
            </a:r>
            <a:r>
              <a:rPr lang="en" i="1" dirty="0"/>
              <a:t>M. tuberculosis</a:t>
            </a:r>
            <a:endParaRPr i="1" dirty="0"/>
          </a:p>
        </p:txBody>
      </p:sp>
      <p:pic>
        <p:nvPicPr>
          <p:cNvPr id="6" name="Google Shape;145;p19">
            <a:extLst>
              <a:ext uri="{FF2B5EF4-FFF2-40B4-BE49-F238E27FC236}">
                <a16:creationId xmlns:a16="http://schemas.microsoft.com/office/drawing/2014/main" id="{66E7BFBB-EFEF-E3E5-95FE-B7D88041BE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0364" r="48762" b="7634"/>
          <a:stretch/>
        </p:blipFill>
        <p:spPr>
          <a:xfrm rot="5400000">
            <a:off x="4651852" y="1511087"/>
            <a:ext cx="3196576" cy="53636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6;p19">
            <a:extLst>
              <a:ext uri="{FF2B5EF4-FFF2-40B4-BE49-F238E27FC236}">
                <a16:creationId xmlns:a16="http://schemas.microsoft.com/office/drawing/2014/main" id="{31F5CE1B-B6E1-907E-EB09-723A36678E53}"/>
              </a:ext>
            </a:extLst>
          </p:cNvPr>
          <p:cNvSpPr/>
          <p:nvPr/>
        </p:nvSpPr>
        <p:spPr>
          <a:xfrm>
            <a:off x="5630251" y="2517722"/>
            <a:ext cx="3213600" cy="249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7;p19">
            <a:extLst>
              <a:ext uri="{FF2B5EF4-FFF2-40B4-BE49-F238E27FC236}">
                <a16:creationId xmlns:a16="http://schemas.microsoft.com/office/drawing/2014/main" id="{67B1BB78-D4D3-D09D-6890-33C52DA8C921}"/>
              </a:ext>
            </a:extLst>
          </p:cNvPr>
          <p:cNvSpPr txBox="1"/>
          <p:nvPr/>
        </p:nvSpPr>
        <p:spPr>
          <a:xfrm>
            <a:off x="6174658" y="4762933"/>
            <a:ext cx="33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Multi-drug resistant</a:t>
            </a:r>
            <a:endParaRPr sz="18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Google Shape;148;p19">
            <a:extLst>
              <a:ext uri="{FF2B5EF4-FFF2-40B4-BE49-F238E27FC236}">
                <a16:creationId xmlns:a16="http://schemas.microsoft.com/office/drawing/2014/main" id="{F24AC66E-7F43-1A18-ECB5-752BA3E0E957}"/>
              </a:ext>
            </a:extLst>
          </p:cNvPr>
          <p:cNvSpPr txBox="1"/>
          <p:nvPr/>
        </p:nvSpPr>
        <p:spPr>
          <a:xfrm>
            <a:off x="2373379" y="6160358"/>
            <a:ext cx="718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latin typeface="Source Sans Pro"/>
                <a:ea typeface="Source Sans Pro"/>
                <a:cs typeface="Source Sans Pro"/>
                <a:sym typeface="Source Sans Pro"/>
              </a:rPr>
              <a:t>Merker</a:t>
            </a:r>
            <a:r>
              <a:rPr lang="en" sz="1200" dirty="0">
                <a:latin typeface="Source Sans Pro"/>
                <a:ea typeface="Source Sans Pro"/>
                <a:cs typeface="Source Sans Pro"/>
                <a:sym typeface="Source Sans Pro"/>
              </a:rPr>
              <a:t>, M. et al. Compensatory evolution drives multidrug-resistant tuberculosis in Central Asia. </a:t>
            </a:r>
            <a:r>
              <a:rPr lang="en" sz="1200" dirty="0" err="1">
                <a:latin typeface="Source Sans Pro"/>
                <a:ea typeface="Source Sans Pro"/>
                <a:cs typeface="Source Sans Pro"/>
                <a:sym typeface="Source Sans Pro"/>
              </a:rPr>
              <a:t>Elife</a:t>
            </a:r>
            <a:r>
              <a:rPr lang="en" sz="1200" dirty="0">
                <a:latin typeface="Source Sans Pro"/>
                <a:ea typeface="Source Sans Pro"/>
                <a:cs typeface="Source Sans Pro"/>
                <a:sym typeface="Source Sans Pro"/>
              </a:rPr>
              <a:t> 7, (2018)</a:t>
            </a:r>
            <a:endParaRPr sz="12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" name="Google Shape;149;p19">
            <a:extLst>
              <a:ext uri="{FF2B5EF4-FFF2-40B4-BE49-F238E27FC236}">
                <a16:creationId xmlns:a16="http://schemas.microsoft.com/office/drawing/2014/main" id="{A450E3D4-6C27-D452-93E8-64AA7C9EEF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652" t="11427" r="61765" b="63690"/>
          <a:stretch/>
        </p:blipFill>
        <p:spPr>
          <a:xfrm>
            <a:off x="5462762" y="2594621"/>
            <a:ext cx="1795421" cy="13477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42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4;p20">
            <a:extLst>
              <a:ext uri="{FF2B5EF4-FFF2-40B4-BE49-F238E27FC236}">
                <a16:creationId xmlns:a16="http://schemas.microsoft.com/office/drawing/2014/main" id="{8327B350-BEEA-D88A-E04F-B1011C53B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152407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in population size</a:t>
            </a:r>
            <a:endParaRPr/>
          </a:p>
        </p:txBody>
      </p:sp>
      <p:pic>
        <p:nvPicPr>
          <p:cNvPr id="6" name="Google Shape;155;p20">
            <a:extLst>
              <a:ext uri="{FF2B5EF4-FFF2-40B4-BE49-F238E27FC236}">
                <a16:creationId xmlns:a16="http://schemas.microsoft.com/office/drawing/2014/main" id="{3EA8C72B-8B73-EE58-E8AE-9FC803A090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45784" y="2446043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6;p20">
            <a:extLst>
              <a:ext uri="{FF2B5EF4-FFF2-40B4-BE49-F238E27FC236}">
                <a16:creationId xmlns:a16="http://schemas.microsoft.com/office/drawing/2014/main" id="{FB113351-1E6D-320E-049B-3CC33490A03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05928" y="1766810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7;p20">
            <a:extLst>
              <a:ext uri="{FF2B5EF4-FFF2-40B4-BE49-F238E27FC236}">
                <a16:creationId xmlns:a16="http://schemas.microsoft.com/office/drawing/2014/main" id="{A9C68A80-A706-5E95-1999-C54EFEB44F9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05928" y="3099809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8;p20">
            <a:extLst>
              <a:ext uri="{FF2B5EF4-FFF2-40B4-BE49-F238E27FC236}">
                <a16:creationId xmlns:a16="http://schemas.microsoft.com/office/drawing/2014/main" id="{0EE87FFC-D59B-C2B1-32CA-10AE0CC086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6071" y="2061008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59;p20">
            <a:extLst>
              <a:ext uri="{FF2B5EF4-FFF2-40B4-BE49-F238E27FC236}">
                <a16:creationId xmlns:a16="http://schemas.microsoft.com/office/drawing/2014/main" id="{D5376D87-01DD-DB6C-68B7-B4AC6FA566C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43482" y="4166653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0;p20">
            <a:extLst>
              <a:ext uri="{FF2B5EF4-FFF2-40B4-BE49-F238E27FC236}">
                <a16:creationId xmlns:a16="http://schemas.microsoft.com/office/drawing/2014/main" id="{03B525A2-6F40-4F2F-A6E4-C366A9CF750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31" y="2446043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61;p20">
            <a:extLst>
              <a:ext uri="{FF2B5EF4-FFF2-40B4-BE49-F238E27FC236}">
                <a16:creationId xmlns:a16="http://schemas.microsoft.com/office/drawing/2014/main" id="{9ACBAA94-1F09-B8AB-0EA6-13352448D60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8373" y="4073176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2;p20">
            <a:extLst>
              <a:ext uri="{FF2B5EF4-FFF2-40B4-BE49-F238E27FC236}">
                <a16:creationId xmlns:a16="http://schemas.microsoft.com/office/drawing/2014/main" id="{6A06BCED-08ED-D58C-61FA-131F670F752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0834" y="3900530"/>
            <a:ext cx="562461" cy="133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63;p20">
            <a:extLst>
              <a:ext uri="{FF2B5EF4-FFF2-40B4-BE49-F238E27FC236}">
                <a16:creationId xmlns:a16="http://schemas.microsoft.com/office/drawing/2014/main" id="{604089BD-2EAA-2EDD-7C6A-7FC52940D51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6716" y="2833654"/>
            <a:ext cx="562461" cy="133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4;p20">
            <a:extLst>
              <a:ext uri="{FF2B5EF4-FFF2-40B4-BE49-F238E27FC236}">
                <a16:creationId xmlns:a16="http://schemas.microsoft.com/office/drawing/2014/main" id="{E4A2A3C6-8D31-101A-A16E-47C3D9D59FF1}"/>
              </a:ext>
            </a:extLst>
          </p:cNvPr>
          <p:cNvSpPr txBox="1"/>
          <p:nvPr/>
        </p:nvSpPr>
        <p:spPr>
          <a:xfrm>
            <a:off x="4868951" y="3231852"/>
            <a:ext cx="706923" cy="8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VS</a:t>
            </a:r>
            <a:endParaRPr sz="2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38294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9;p21">
            <a:extLst>
              <a:ext uri="{FF2B5EF4-FFF2-40B4-BE49-F238E27FC236}">
                <a16:creationId xmlns:a16="http://schemas.microsoft.com/office/drawing/2014/main" id="{2F0B9FF8-125A-0F8D-C451-F097E2A7F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178911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Differences in population size</a:t>
            </a:r>
            <a:endParaRPr dirty="0"/>
          </a:p>
        </p:txBody>
      </p:sp>
      <p:pic>
        <p:nvPicPr>
          <p:cNvPr id="6" name="Google Shape;170;p21">
            <a:extLst>
              <a:ext uri="{FF2B5EF4-FFF2-40B4-BE49-F238E27FC236}">
                <a16:creationId xmlns:a16="http://schemas.microsoft.com/office/drawing/2014/main" id="{18836E8A-8849-458E-A136-8692695DCFA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3686" y="1246414"/>
            <a:ext cx="4989246" cy="47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1;p21">
            <a:extLst>
              <a:ext uri="{FF2B5EF4-FFF2-40B4-BE49-F238E27FC236}">
                <a16:creationId xmlns:a16="http://schemas.microsoft.com/office/drawing/2014/main" id="{414C99F0-189E-C997-927F-F4F3E81E1A35}"/>
              </a:ext>
            </a:extLst>
          </p:cNvPr>
          <p:cNvSpPr txBox="1"/>
          <p:nvPr/>
        </p:nvSpPr>
        <p:spPr>
          <a:xfrm>
            <a:off x="1262339" y="6334800"/>
            <a:ext cx="718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Hu, B., Guo, H., Zhou, P. &amp; Shi, Z.-L. Characteristics of SARS-CoV-2 and COVID-19. </a:t>
            </a:r>
            <a:r>
              <a:rPr lang="en" sz="1100" i="1"/>
              <a:t>Nat. Rev. Microbiol.</a:t>
            </a:r>
            <a:r>
              <a:rPr lang="en" sz="1100"/>
              <a:t> </a:t>
            </a:r>
            <a:r>
              <a:rPr lang="en" sz="1100" b="1"/>
              <a:t>19</a:t>
            </a:r>
            <a:r>
              <a:rPr lang="en" sz="1100"/>
              <a:t>, 141–154 (2021)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12F27-916D-00D7-FBFF-BE49AFC484E1}"/>
              </a:ext>
            </a:extLst>
          </p:cNvPr>
          <p:cNvSpPr txBox="1"/>
          <p:nvPr/>
        </p:nvSpPr>
        <p:spPr>
          <a:xfrm>
            <a:off x="7448938" y="2407023"/>
            <a:ext cx="46130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Expansion of certain lineages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 be due to increased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also be due to oversampling due to interest (e.g. human pathogens </a:t>
            </a:r>
            <a:r>
              <a:rPr lang="en-US" dirty="0" err="1"/>
              <a:t>v.s</a:t>
            </a:r>
            <a:r>
              <a:rPr lang="en-US" dirty="0"/>
              <a:t>. animal pathogens)</a:t>
            </a:r>
          </a:p>
        </p:txBody>
      </p:sp>
    </p:spTree>
    <p:extLst>
      <p:ext uri="{BB962C8B-B14F-4D97-AF65-F5344CB8AC3E}">
        <p14:creationId xmlns:p14="http://schemas.microsoft.com/office/powerpoint/2010/main" val="209815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6;p22">
            <a:extLst>
              <a:ext uri="{FF2B5EF4-FFF2-40B4-BE49-F238E27FC236}">
                <a16:creationId xmlns:a16="http://schemas.microsoft.com/office/drawing/2014/main" id="{669F12D0-CDB4-6227-C09B-4403AA246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Sampling Bias</a:t>
            </a:r>
            <a:endParaRPr dirty="0"/>
          </a:p>
        </p:txBody>
      </p:sp>
      <p:sp>
        <p:nvSpPr>
          <p:cNvPr id="6" name="Google Shape;177;p22">
            <a:extLst>
              <a:ext uri="{FF2B5EF4-FFF2-40B4-BE49-F238E27FC236}">
                <a16:creationId xmlns:a16="http://schemas.microsoft.com/office/drawing/2014/main" id="{518C2843-F3A3-BDE2-5FC1-E37C613C6090}"/>
              </a:ext>
            </a:extLst>
          </p:cNvPr>
          <p:cNvSpPr txBox="1"/>
          <p:nvPr/>
        </p:nvSpPr>
        <p:spPr>
          <a:xfrm>
            <a:off x="5454593" y="3594780"/>
            <a:ext cx="593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E2E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VS</a:t>
            </a:r>
            <a:endParaRPr sz="2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" name="Google Shape;178;p22">
            <a:extLst>
              <a:ext uri="{FF2B5EF4-FFF2-40B4-BE49-F238E27FC236}">
                <a16:creationId xmlns:a16="http://schemas.microsoft.com/office/drawing/2014/main" id="{EC48B6E0-DA0E-4C6B-0FBB-420DB2D448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29543" y="2291305"/>
            <a:ext cx="3238150" cy="32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9;p22">
            <a:extLst>
              <a:ext uri="{FF2B5EF4-FFF2-40B4-BE49-F238E27FC236}">
                <a16:creationId xmlns:a16="http://schemas.microsoft.com/office/drawing/2014/main" id="{D7D396C2-9CB2-3438-6976-9FB1553016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818" y="3197512"/>
            <a:ext cx="2543175" cy="1800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871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84;p23">
            <a:extLst>
              <a:ext uri="{FF2B5EF4-FFF2-40B4-BE49-F238E27FC236}">
                <a16:creationId xmlns:a16="http://schemas.microsoft.com/office/drawing/2014/main" id="{8722572A-2D9F-AC78-84B5-89D8150E97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1024" t="4388"/>
          <a:stretch/>
        </p:blipFill>
        <p:spPr>
          <a:xfrm>
            <a:off x="2039041" y="1531136"/>
            <a:ext cx="5137245" cy="43391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5;p23">
            <a:extLst>
              <a:ext uri="{FF2B5EF4-FFF2-40B4-BE49-F238E27FC236}">
                <a16:creationId xmlns:a16="http://schemas.microsoft.com/office/drawing/2014/main" id="{7631548F-FC51-D031-5A1D-5AF69C2C2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795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Sampling Bias - </a:t>
            </a:r>
            <a:r>
              <a:rPr lang="en" i="1" dirty="0"/>
              <a:t>Escherichia coli</a:t>
            </a:r>
            <a:endParaRPr i="1" dirty="0"/>
          </a:p>
        </p:txBody>
      </p:sp>
      <p:sp>
        <p:nvSpPr>
          <p:cNvPr id="7" name="Google Shape;186;p23">
            <a:extLst>
              <a:ext uri="{FF2B5EF4-FFF2-40B4-BE49-F238E27FC236}">
                <a16:creationId xmlns:a16="http://schemas.microsoft.com/office/drawing/2014/main" id="{D5508943-7C12-0F01-999F-02E54059A3B5}"/>
              </a:ext>
            </a:extLst>
          </p:cNvPr>
          <p:cNvSpPr txBox="1"/>
          <p:nvPr/>
        </p:nvSpPr>
        <p:spPr>
          <a:xfrm>
            <a:off x="1591500" y="6054340"/>
            <a:ext cx="718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Ludden, C. </a:t>
            </a:r>
            <a:r>
              <a:rPr lang="en" sz="1100" i="1"/>
              <a:t>et al.</a:t>
            </a:r>
            <a:r>
              <a:rPr lang="en" sz="1100"/>
              <a:t> One Health Genomic Surveillance of Escherichia coli Demonstrates Distinct Lineages and Mobile Genetic Elements in Isolates from Humans versus Livestock. </a:t>
            </a:r>
            <a:r>
              <a:rPr lang="en" sz="1100" i="1"/>
              <a:t>MBio</a:t>
            </a:r>
            <a:r>
              <a:rPr lang="en" sz="1100"/>
              <a:t> </a:t>
            </a:r>
            <a:r>
              <a:rPr lang="en" sz="1100" b="1"/>
              <a:t>10</a:t>
            </a:r>
            <a:r>
              <a:rPr lang="en" sz="1100"/>
              <a:t>, (2019)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Google Shape;187;p23">
            <a:extLst>
              <a:ext uri="{FF2B5EF4-FFF2-40B4-BE49-F238E27FC236}">
                <a16:creationId xmlns:a16="http://schemas.microsoft.com/office/drawing/2014/main" id="{C52E3517-E71C-4769-2D6B-A0D6CD95C23E}"/>
              </a:ext>
            </a:extLst>
          </p:cNvPr>
          <p:cNvSpPr/>
          <p:nvPr/>
        </p:nvSpPr>
        <p:spPr>
          <a:xfrm>
            <a:off x="1847605" y="3988515"/>
            <a:ext cx="616524" cy="14654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17C6E-F0AA-4BE4-EE36-9CE15E4F85D3}"/>
              </a:ext>
            </a:extLst>
          </p:cNvPr>
          <p:cNvSpPr txBox="1"/>
          <p:nvPr/>
        </p:nvSpPr>
        <p:spPr>
          <a:xfrm>
            <a:off x="8498541" y="2447364"/>
            <a:ext cx="2756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Lineages that appear strongly associated with a particular group (e.g. humans)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well sampled was the other group (i.e. animals)?</a:t>
            </a:r>
          </a:p>
        </p:txBody>
      </p:sp>
    </p:spTree>
    <p:extLst>
      <p:ext uri="{BB962C8B-B14F-4D97-AF65-F5344CB8AC3E}">
        <p14:creationId xmlns:p14="http://schemas.microsoft.com/office/powerpoint/2010/main" val="103973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92;p24">
            <a:extLst>
              <a:ext uri="{FF2B5EF4-FFF2-40B4-BE49-F238E27FC236}">
                <a16:creationId xmlns:a16="http://schemas.microsoft.com/office/drawing/2014/main" id="{12F65405-9AEE-BE43-31D8-C0B4F446F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654" y="251791"/>
            <a:ext cx="9431276" cy="9674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does population structure matter?</a:t>
            </a:r>
            <a:endParaRPr dirty="0"/>
          </a:p>
        </p:txBody>
      </p:sp>
      <p:sp>
        <p:nvSpPr>
          <p:cNvPr id="6" name="Google Shape;193;p24">
            <a:extLst>
              <a:ext uri="{FF2B5EF4-FFF2-40B4-BE49-F238E27FC236}">
                <a16:creationId xmlns:a16="http://schemas.microsoft.com/office/drawing/2014/main" id="{2F2903ED-A176-4CC1-27EC-9312C3A80E65}"/>
              </a:ext>
            </a:extLst>
          </p:cNvPr>
          <p:cNvSpPr txBox="1">
            <a:spLocks/>
          </p:cNvSpPr>
          <p:nvPr/>
        </p:nvSpPr>
        <p:spPr>
          <a:xfrm>
            <a:off x="1674044" y="2308621"/>
            <a:ext cx="7761503" cy="340306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200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◎"/>
            </a:pPr>
            <a:r>
              <a:rPr lang="en-GB" sz="2000" dirty="0"/>
              <a:t>Population dynamics and selection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◎"/>
            </a:pPr>
            <a:r>
              <a:rPr lang="en-GB" sz="2000" dirty="0"/>
              <a:t>Transmission Inference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◎"/>
            </a:pPr>
            <a:r>
              <a:rPr lang="en-GB" sz="2000" dirty="0"/>
              <a:t>Genome Wide Association Studies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◎"/>
            </a:pPr>
            <a:r>
              <a:rPr lang="en-GB" sz="2000" dirty="0"/>
              <a:t>Predicting phenotypes from genotypes (machine learning)</a:t>
            </a:r>
          </a:p>
        </p:txBody>
      </p:sp>
    </p:spTree>
    <p:extLst>
      <p:ext uri="{BB962C8B-B14F-4D97-AF65-F5344CB8AC3E}">
        <p14:creationId xmlns:p14="http://schemas.microsoft.com/office/powerpoint/2010/main" val="3724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3027002"/>
            <a:ext cx="762448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 marL="742950" indent="-742950">
              <a:spcBef>
                <a:spcPts val="0"/>
              </a:spcBef>
              <a:buAutoNum type="arabicPeriod" startAt="2"/>
            </a:pPr>
            <a:r>
              <a:rPr lang="en-GB" sz="4000" dirty="0"/>
              <a:t>Algorithms and Approaches</a:t>
            </a:r>
          </a:p>
          <a:p>
            <a:pPr marL="742950" indent="-742950">
              <a:spcBef>
                <a:spcPts val="0"/>
              </a:spcBef>
              <a:buAutoNum type="arabicPeriod" startAt="2"/>
            </a:pPr>
            <a:endParaRPr lang="en-GB" sz="2800" dirty="0"/>
          </a:p>
          <a:p>
            <a:pPr>
              <a:spcBef>
                <a:spcPts val="0"/>
              </a:spcBef>
            </a:pPr>
            <a:r>
              <a:rPr lang="en-GB" sz="2800" dirty="0"/>
              <a:t>…for defining and describing Population Structure</a:t>
            </a:r>
          </a:p>
        </p:txBody>
      </p:sp>
    </p:spTree>
    <p:extLst>
      <p:ext uri="{BB962C8B-B14F-4D97-AF65-F5344CB8AC3E}">
        <p14:creationId xmlns:p14="http://schemas.microsoft.com/office/powerpoint/2010/main" val="2876247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470410"/>
            <a:ext cx="7650984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2.1	</a:t>
            </a:r>
            <a:r>
              <a:rPr lang="en-GB" sz="3700" dirty="0" err="1"/>
              <a:t>Multilocus</a:t>
            </a:r>
            <a:r>
              <a:rPr lang="en-GB" sz="3700" dirty="0"/>
              <a:t> Sequence Typing</a:t>
            </a:r>
          </a:p>
          <a:p>
            <a:pPr>
              <a:spcBef>
                <a:spcPts val="0"/>
              </a:spcBef>
            </a:pPr>
            <a:r>
              <a:rPr lang="en-GB" sz="3700" dirty="0"/>
              <a:t>		(MLST)</a:t>
            </a:r>
          </a:p>
        </p:txBody>
      </p:sp>
    </p:spTree>
    <p:extLst>
      <p:ext uri="{BB962C8B-B14F-4D97-AF65-F5344CB8AC3E}">
        <p14:creationId xmlns:p14="http://schemas.microsoft.com/office/powerpoint/2010/main" val="2521866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8;p27">
            <a:extLst>
              <a:ext uri="{FF2B5EF4-FFF2-40B4-BE49-F238E27FC236}">
                <a16:creationId xmlns:a16="http://schemas.microsoft.com/office/drawing/2014/main" id="{89F28B71-438B-788A-7845-57FFE80BB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4689" y="347877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Multi-Locus Sequence Typing</a:t>
            </a:r>
            <a:endParaRPr/>
          </a:p>
        </p:txBody>
      </p:sp>
      <p:sp>
        <p:nvSpPr>
          <p:cNvPr id="6" name="Google Shape;209;p27">
            <a:extLst>
              <a:ext uri="{FF2B5EF4-FFF2-40B4-BE49-F238E27FC236}">
                <a16:creationId xmlns:a16="http://schemas.microsoft.com/office/drawing/2014/main" id="{8EADE359-7CB9-6FD8-6547-5B99340D8A8E}"/>
              </a:ext>
            </a:extLst>
          </p:cNvPr>
          <p:cNvSpPr txBox="1"/>
          <p:nvPr/>
        </p:nvSpPr>
        <p:spPr>
          <a:xfrm>
            <a:off x="2681211" y="1847255"/>
            <a:ext cx="69336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Uses a reference database of housekeeping gene fragments to assign sequence ‘types’</a:t>
            </a:r>
            <a:endParaRPr sz="2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9976DD1-8AE8-4431-E050-307877CD007E}"/>
              </a:ext>
            </a:extLst>
          </p:cNvPr>
          <p:cNvGrpSpPr/>
          <p:nvPr/>
        </p:nvGrpSpPr>
        <p:grpSpPr>
          <a:xfrm>
            <a:off x="2454084" y="3208037"/>
            <a:ext cx="6855214" cy="2106085"/>
            <a:chOff x="2454084" y="3208037"/>
            <a:chExt cx="5179400" cy="1591235"/>
          </a:xfrm>
        </p:grpSpPr>
        <p:sp>
          <p:nvSpPr>
            <p:cNvPr id="7" name="Google Shape;210;p27">
              <a:extLst>
                <a:ext uri="{FF2B5EF4-FFF2-40B4-BE49-F238E27FC236}">
                  <a16:creationId xmlns:a16="http://schemas.microsoft.com/office/drawing/2014/main" id="{44C4E4FA-DD6D-7574-11C0-0125FFFAFED2}"/>
                </a:ext>
              </a:extLst>
            </p:cNvPr>
            <p:cNvSpPr txBox="1"/>
            <p:nvPr/>
          </p:nvSpPr>
          <p:spPr>
            <a:xfrm>
              <a:off x="2454084" y="3499537"/>
              <a:ext cx="17022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A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" name="Google Shape;211;p27">
              <a:extLst>
                <a:ext uri="{FF2B5EF4-FFF2-40B4-BE49-F238E27FC236}">
                  <a16:creationId xmlns:a16="http://schemas.microsoft.com/office/drawing/2014/main" id="{F17338DF-D457-45C3-3BD9-5C2D01300C97}"/>
                </a:ext>
              </a:extLst>
            </p:cNvPr>
            <p:cNvSpPr txBox="1"/>
            <p:nvPr/>
          </p:nvSpPr>
          <p:spPr>
            <a:xfrm>
              <a:off x="2454084" y="3918587"/>
              <a:ext cx="17022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" name="Google Shape;212;p27">
              <a:extLst>
                <a:ext uri="{FF2B5EF4-FFF2-40B4-BE49-F238E27FC236}">
                  <a16:creationId xmlns:a16="http://schemas.microsoft.com/office/drawing/2014/main" id="{4DF3C798-B1CD-DB8A-EB0D-14A4C99CA4C1}"/>
                </a:ext>
              </a:extLst>
            </p:cNvPr>
            <p:cNvSpPr txBox="1"/>
            <p:nvPr/>
          </p:nvSpPr>
          <p:spPr>
            <a:xfrm>
              <a:off x="2454084" y="4337637"/>
              <a:ext cx="17022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C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" name="Google Shape;213;p27">
              <a:extLst>
                <a:ext uri="{FF2B5EF4-FFF2-40B4-BE49-F238E27FC236}">
                  <a16:creationId xmlns:a16="http://schemas.microsoft.com/office/drawing/2014/main" id="{961D634B-0F7D-71A2-BA81-8382E83DF224}"/>
                </a:ext>
              </a:extLst>
            </p:cNvPr>
            <p:cNvSpPr/>
            <p:nvPr/>
          </p:nvSpPr>
          <p:spPr>
            <a:xfrm>
              <a:off x="3729509" y="36082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4;p27">
              <a:extLst>
                <a:ext uri="{FF2B5EF4-FFF2-40B4-BE49-F238E27FC236}">
                  <a16:creationId xmlns:a16="http://schemas.microsoft.com/office/drawing/2014/main" id="{20EA0FF9-ED3C-7896-531E-2895980AA0E9}"/>
                </a:ext>
              </a:extLst>
            </p:cNvPr>
            <p:cNvSpPr/>
            <p:nvPr/>
          </p:nvSpPr>
          <p:spPr>
            <a:xfrm>
              <a:off x="3729509" y="401548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5;p27">
              <a:extLst>
                <a:ext uri="{FF2B5EF4-FFF2-40B4-BE49-F238E27FC236}">
                  <a16:creationId xmlns:a16="http://schemas.microsoft.com/office/drawing/2014/main" id="{F7DFFE14-2C34-4B78-9451-FE2B47AD82D6}"/>
                </a:ext>
              </a:extLst>
            </p:cNvPr>
            <p:cNvSpPr/>
            <p:nvPr/>
          </p:nvSpPr>
          <p:spPr>
            <a:xfrm>
              <a:off x="3729509" y="44227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6;p27">
              <a:extLst>
                <a:ext uri="{FF2B5EF4-FFF2-40B4-BE49-F238E27FC236}">
                  <a16:creationId xmlns:a16="http://schemas.microsoft.com/office/drawing/2014/main" id="{37143104-E198-8257-6656-DE06BB39174B}"/>
                </a:ext>
              </a:extLst>
            </p:cNvPr>
            <p:cNvSpPr/>
            <p:nvPr/>
          </p:nvSpPr>
          <p:spPr>
            <a:xfrm>
              <a:off x="4521809" y="36082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7;p27">
              <a:extLst>
                <a:ext uri="{FF2B5EF4-FFF2-40B4-BE49-F238E27FC236}">
                  <a16:creationId xmlns:a16="http://schemas.microsoft.com/office/drawing/2014/main" id="{4F92E8FF-8B24-D389-9AC2-5D7B3629CA95}"/>
                </a:ext>
              </a:extLst>
            </p:cNvPr>
            <p:cNvSpPr/>
            <p:nvPr/>
          </p:nvSpPr>
          <p:spPr>
            <a:xfrm>
              <a:off x="4521809" y="401548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8;p27">
              <a:extLst>
                <a:ext uri="{FF2B5EF4-FFF2-40B4-BE49-F238E27FC236}">
                  <a16:creationId xmlns:a16="http://schemas.microsoft.com/office/drawing/2014/main" id="{3D1C3110-D30F-6262-A5BC-AE609FA072FD}"/>
                </a:ext>
              </a:extLst>
            </p:cNvPr>
            <p:cNvSpPr/>
            <p:nvPr/>
          </p:nvSpPr>
          <p:spPr>
            <a:xfrm>
              <a:off x="4521809" y="44227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9;p27">
              <a:extLst>
                <a:ext uri="{FF2B5EF4-FFF2-40B4-BE49-F238E27FC236}">
                  <a16:creationId xmlns:a16="http://schemas.microsoft.com/office/drawing/2014/main" id="{E03EA25B-FFA1-E10C-E878-666619A37984}"/>
                </a:ext>
              </a:extLst>
            </p:cNvPr>
            <p:cNvSpPr/>
            <p:nvPr/>
          </p:nvSpPr>
          <p:spPr>
            <a:xfrm>
              <a:off x="5314109" y="36082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0;p27">
              <a:extLst>
                <a:ext uri="{FF2B5EF4-FFF2-40B4-BE49-F238E27FC236}">
                  <a16:creationId xmlns:a16="http://schemas.microsoft.com/office/drawing/2014/main" id="{3C3787E8-D13A-5DCE-6C49-D30C47AC2E67}"/>
                </a:ext>
              </a:extLst>
            </p:cNvPr>
            <p:cNvSpPr/>
            <p:nvPr/>
          </p:nvSpPr>
          <p:spPr>
            <a:xfrm>
              <a:off x="5314109" y="401548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1;p27">
              <a:extLst>
                <a:ext uri="{FF2B5EF4-FFF2-40B4-BE49-F238E27FC236}">
                  <a16:creationId xmlns:a16="http://schemas.microsoft.com/office/drawing/2014/main" id="{F39E5A06-6C11-2D47-6E92-DFB73DED0A6E}"/>
                </a:ext>
              </a:extLst>
            </p:cNvPr>
            <p:cNvSpPr/>
            <p:nvPr/>
          </p:nvSpPr>
          <p:spPr>
            <a:xfrm>
              <a:off x="5314109" y="44227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2;p27">
              <a:extLst>
                <a:ext uri="{FF2B5EF4-FFF2-40B4-BE49-F238E27FC236}">
                  <a16:creationId xmlns:a16="http://schemas.microsoft.com/office/drawing/2014/main" id="{CC1AF189-4FE5-C2E3-EFDD-A52923C3FB23}"/>
                </a:ext>
              </a:extLst>
            </p:cNvPr>
            <p:cNvSpPr/>
            <p:nvPr/>
          </p:nvSpPr>
          <p:spPr>
            <a:xfrm>
              <a:off x="6106409" y="36082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3;p27">
              <a:extLst>
                <a:ext uri="{FF2B5EF4-FFF2-40B4-BE49-F238E27FC236}">
                  <a16:creationId xmlns:a16="http://schemas.microsoft.com/office/drawing/2014/main" id="{F89500F5-2B1B-C9AA-F686-9429D0F67D70}"/>
                </a:ext>
              </a:extLst>
            </p:cNvPr>
            <p:cNvSpPr/>
            <p:nvPr/>
          </p:nvSpPr>
          <p:spPr>
            <a:xfrm>
              <a:off x="6106409" y="401548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4;p27">
              <a:extLst>
                <a:ext uri="{FF2B5EF4-FFF2-40B4-BE49-F238E27FC236}">
                  <a16:creationId xmlns:a16="http://schemas.microsoft.com/office/drawing/2014/main" id="{EB030D38-E998-882A-E0C3-C48329D44DB9}"/>
                </a:ext>
              </a:extLst>
            </p:cNvPr>
            <p:cNvSpPr/>
            <p:nvPr/>
          </p:nvSpPr>
          <p:spPr>
            <a:xfrm>
              <a:off x="6106409" y="44227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5;p27">
              <a:extLst>
                <a:ext uri="{FF2B5EF4-FFF2-40B4-BE49-F238E27FC236}">
                  <a16:creationId xmlns:a16="http://schemas.microsoft.com/office/drawing/2014/main" id="{B90DF283-82E7-FA46-1757-352BAC678DAD}"/>
                </a:ext>
              </a:extLst>
            </p:cNvPr>
            <p:cNvSpPr/>
            <p:nvPr/>
          </p:nvSpPr>
          <p:spPr>
            <a:xfrm>
              <a:off x="6917384" y="36082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6;p27">
              <a:extLst>
                <a:ext uri="{FF2B5EF4-FFF2-40B4-BE49-F238E27FC236}">
                  <a16:creationId xmlns:a16="http://schemas.microsoft.com/office/drawing/2014/main" id="{74CA7EE4-7372-703F-D8F3-E34BB091F8E8}"/>
                </a:ext>
              </a:extLst>
            </p:cNvPr>
            <p:cNvSpPr/>
            <p:nvPr/>
          </p:nvSpPr>
          <p:spPr>
            <a:xfrm>
              <a:off x="6917384" y="401548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7;p27">
              <a:extLst>
                <a:ext uri="{FF2B5EF4-FFF2-40B4-BE49-F238E27FC236}">
                  <a16:creationId xmlns:a16="http://schemas.microsoft.com/office/drawing/2014/main" id="{FFE9E650-2507-6949-E7C9-6B1B0A16CFAF}"/>
                </a:ext>
              </a:extLst>
            </p:cNvPr>
            <p:cNvSpPr/>
            <p:nvPr/>
          </p:nvSpPr>
          <p:spPr>
            <a:xfrm>
              <a:off x="6917384" y="4422737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8;p27">
              <a:extLst>
                <a:ext uri="{FF2B5EF4-FFF2-40B4-BE49-F238E27FC236}">
                  <a16:creationId xmlns:a16="http://schemas.microsoft.com/office/drawing/2014/main" id="{2E87375E-F16C-0A66-D823-054D75981048}"/>
                </a:ext>
              </a:extLst>
            </p:cNvPr>
            <p:cNvSpPr txBox="1"/>
            <p:nvPr/>
          </p:nvSpPr>
          <p:spPr>
            <a:xfrm>
              <a:off x="3729509" y="3208037"/>
              <a:ext cx="7161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1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" name="Google Shape;229;p27">
              <a:extLst>
                <a:ext uri="{FF2B5EF4-FFF2-40B4-BE49-F238E27FC236}">
                  <a16:creationId xmlns:a16="http://schemas.microsoft.com/office/drawing/2014/main" id="{81FDF088-9F22-27E4-1A7B-F2F6A7AC5753}"/>
                </a:ext>
              </a:extLst>
            </p:cNvPr>
            <p:cNvSpPr txBox="1"/>
            <p:nvPr/>
          </p:nvSpPr>
          <p:spPr>
            <a:xfrm>
              <a:off x="4521809" y="3208037"/>
              <a:ext cx="7161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2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" name="Google Shape;230;p27">
              <a:extLst>
                <a:ext uri="{FF2B5EF4-FFF2-40B4-BE49-F238E27FC236}">
                  <a16:creationId xmlns:a16="http://schemas.microsoft.com/office/drawing/2014/main" id="{DF75C5E6-9D81-CC22-E504-B45A9F0E3DF9}"/>
                </a:ext>
              </a:extLst>
            </p:cNvPr>
            <p:cNvSpPr txBox="1"/>
            <p:nvPr/>
          </p:nvSpPr>
          <p:spPr>
            <a:xfrm>
              <a:off x="5314109" y="3208037"/>
              <a:ext cx="7161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3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" name="Google Shape;231;p27">
              <a:extLst>
                <a:ext uri="{FF2B5EF4-FFF2-40B4-BE49-F238E27FC236}">
                  <a16:creationId xmlns:a16="http://schemas.microsoft.com/office/drawing/2014/main" id="{FF48BB6B-4B16-7F2C-CAE8-1270A3138A63}"/>
                </a:ext>
              </a:extLst>
            </p:cNvPr>
            <p:cNvSpPr txBox="1"/>
            <p:nvPr/>
          </p:nvSpPr>
          <p:spPr>
            <a:xfrm>
              <a:off x="6106409" y="3208037"/>
              <a:ext cx="7161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4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" name="Google Shape;232;p27">
              <a:extLst>
                <a:ext uri="{FF2B5EF4-FFF2-40B4-BE49-F238E27FC236}">
                  <a16:creationId xmlns:a16="http://schemas.microsoft.com/office/drawing/2014/main" id="{CABB7A4B-1BF6-486F-F92F-56420E6E2757}"/>
                </a:ext>
              </a:extLst>
            </p:cNvPr>
            <p:cNvSpPr txBox="1"/>
            <p:nvPr/>
          </p:nvSpPr>
          <p:spPr>
            <a:xfrm>
              <a:off x="6917384" y="3208037"/>
              <a:ext cx="7161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5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4437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4A8ABC2-85BF-21C8-1A85-15AF164A85EF}"/>
              </a:ext>
            </a:extLst>
          </p:cNvPr>
          <p:cNvGrpSpPr/>
          <p:nvPr/>
        </p:nvGrpSpPr>
        <p:grpSpPr>
          <a:xfrm>
            <a:off x="2060093" y="1806619"/>
            <a:ext cx="9827107" cy="3481591"/>
            <a:chOff x="1092685" y="1780115"/>
            <a:chExt cx="9827107" cy="3481591"/>
          </a:xfrm>
        </p:grpSpPr>
        <p:sp>
          <p:nvSpPr>
            <p:cNvPr id="5" name="Google Shape;238;p28">
              <a:extLst>
                <a:ext uri="{FF2B5EF4-FFF2-40B4-BE49-F238E27FC236}">
                  <a16:creationId xmlns:a16="http://schemas.microsoft.com/office/drawing/2014/main" id="{9C29A010-F8C1-02B8-A18D-44DEBFE2CA71}"/>
                </a:ext>
              </a:extLst>
            </p:cNvPr>
            <p:cNvSpPr txBox="1"/>
            <p:nvPr/>
          </p:nvSpPr>
          <p:spPr>
            <a:xfrm>
              <a:off x="1092685" y="2183500"/>
              <a:ext cx="235554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A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" name="Google Shape;239;p28">
              <a:extLst>
                <a:ext uri="{FF2B5EF4-FFF2-40B4-BE49-F238E27FC236}">
                  <a16:creationId xmlns:a16="http://schemas.microsoft.com/office/drawing/2014/main" id="{CD2E2C83-3E4A-FF14-FCBA-4DC44A7985D9}"/>
                </a:ext>
              </a:extLst>
            </p:cNvPr>
            <p:cNvSpPr txBox="1"/>
            <p:nvPr/>
          </p:nvSpPr>
          <p:spPr>
            <a:xfrm>
              <a:off x="1092685" y="2763392"/>
              <a:ext cx="235554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" name="Google Shape;240;p28">
              <a:extLst>
                <a:ext uri="{FF2B5EF4-FFF2-40B4-BE49-F238E27FC236}">
                  <a16:creationId xmlns:a16="http://schemas.microsoft.com/office/drawing/2014/main" id="{DE4A147D-16C3-25D4-DD14-2C8FDCC45B52}"/>
                </a:ext>
              </a:extLst>
            </p:cNvPr>
            <p:cNvSpPr txBox="1"/>
            <p:nvPr/>
          </p:nvSpPr>
          <p:spPr>
            <a:xfrm>
              <a:off x="1092685" y="3343284"/>
              <a:ext cx="235554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C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" name="Google Shape;241;p28">
              <a:extLst>
                <a:ext uri="{FF2B5EF4-FFF2-40B4-BE49-F238E27FC236}">
                  <a16:creationId xmlns:a16="http://schemas.microsoft.com/office/drawing/2014/main" id="{DF81A091-8BE7-C82F-CD70-E155C98B2A2B}"/>
                </a:ext>
              </a:extLst>
            </p:cNvPr>
            <p:cNvSpPr/>
            <p:nvPr/>
          </p:nvSpPr>
          <p:spPr>
            <a:xfrm>
              <a:off x="2857650" y="2333922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28">
              <a:extLst>
                <a:ext uri="{FF2B5EF4-FFF2-40B4-BE49-F238E27FC236}">
                  <a16:creationId xmlns:a16="http://schemas.microsoft.com/office/drawing/2014/main" id="{36594F92-77CD-8E40-5D16-6D76768B01E2}"/>
                </a:ext>
              </a:extLst>
            </p:cNvPr>
            <p:cNvSpPr/>
            <p:nvPr/>
          </p:nvSpPr>
          <p:spPr>
            <a:xfrm>
              <a:off x="2857650" y="2897485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28">
              <a:extLst>
                <a:ext uri="{FF2B5EF4-FFF2-40B4-BE49-F238E27FC236}">
                  <a16:creationId xmlns:a16="http://schemas.microsoft.com/office/drawing/2014/main" id="{B804FC19-5724-C788-A4BF-F9281DA7C046}"/>
                </a:ext>
              </a:extLst>
            </p:cNvPr>
            <p:cNvSpPr/>
            <p:nvPr/>
          </p:nvSpPr>
          <p:spPr>
            <a:xfrm>
              <a:off x="2857650" y="3461047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4;p28">
              <a:extLst>
                <a:ext uri="{FF2B5EF4-FFF2-40B4-BE49-F238E27FC236}">
                  <a16:creationId xmlns:a16="http://schemas.microsoft.com/office/drawing/2014/main" id="{A31D3330-CAEE-76EC-EA07-8E0750554242}"/>
                </a:ext>
              </a:extLst>
            </p:cNvPr>
            <p:cNvSpPr/>
            <p:nvPr/>
          </p:nvSpPr>
          <p:spPr>
            <a:xfrm>
              <a:off x="3954055" y="2333922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5;p28">
              <a:extLst>
                <a:ext uri="{FF2B5EF4-FFF2-40B4-BE49-F238E27FC236}">
                  <a16:creationId xmlns:a16="http://schemas.microsoft.com/office/drawing/2014/main" id="{C1AFAB22-5251-7B5D-BF64-3239D29F272B}"/>
                </a:ext>
              </a:extLst>
            </p:cNvPr>
            <p:cNvSpPr/>
            <p:nvPr/>
          </p:nvSpPr>
          <p:spPr>
            <a:xfrm>
              <a:off x="3954055" y="2897485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6;p28">
              <a:extLst>
                <a:ext uri="{FF2B5EF4-FFF2-40B4-BE49-F238E27FC236}">
                  <a16:creationId xmlns:a16="http://schemas.microsoft.com/office/drawing/2014/main" id="{04BD27DE-4464-8481-B811-D18821B14C00}"/>
                </a:ext>
              </a:extLst>
            </p:cNvPr>
            <p:cNvSpPr/>
            <p:nvPr/>
          </p:nvSpPr>
          <p:spPr>
            <a:xfrm>
              <a:off x="3954055" y="3461047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7;p28">
              <a:extLst>
                <a:ext uri="{FF2B5EF4-FFF2-40B4-BE49-F238E27FC236}">
                  <a16:creationId xmlns:a16="http://schemas.microsoft.com/office/drawing/2014/main" id="{73BE4D5E-E6CA-1159-893C-D7F3B7FAF066}"/>
                </a:ext>
              </a:extLst>
            </p:cNvPr>
            <p:cNvSpPr/>
            <p:nvPr/>
          </p:nvSpPr>
          <p:spPr>
            <a:xfrm>
              <a:off x="5050459" y="2333922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8;p28">
              <a:extLst>
                <a:ext uri="{FF2B5EF4-FFF2-40B4-BE49-F238E27FC236}">
                  <a16:creationId xmlns:a16="http://schemas.microsoft.com/office/drawing/2014/main" id="{85042EC9-2E19-135F-06B7-DCEA9E43FBCC}"/>
                </a:ext>
              </a:extLst>
            </p:cNvPr>
            <p:cNvSpPr/>
            <p:nvPr/>
          </p:nvSpPr>
          <p:spPr>
            <a:xfrm>
              <a:off x="5050459" y="2897485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9;p28">
              <a:extLst>
                <a:ext uri="{FF2B5EF4-FFF2-40B4-BE49-F238E27FC236}">
                  <a16:creationId xmlns:a16="http://schemas.microsoft.com/office/drawing/2014/main" id="{2B75AC5A-EB16-0357-7DF3-CF652F83C853}"/>
                </a:ext>
              </a:extLst>
            </p:cNvPr>
            <p:cNvSpPr/>
            <p:nvPr/>
          </p:nvSpPr>
          <p:spPr>
            <a:xfrm>
              <a:off x="5050459" y="3461047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0;p28">
              <a:extLst>
                <a:ext uri="{FF2B5EF4-FFF2-40B4-BE49-F238E27FC236}">
                  <a16:creationId xmlns:a16="http://schemas.microsoft.com/office/drawing/2014/main" id="{45F2C8AA-9C60-66D9-6FA5-12EB96417A45}"/>
                </a:ext>
              </a:extLst>
            </p:cNvPr>
            <p:cNvSpPr/>
            <p:nvPr/>
          </p:nvSpPr>
          <p:spPr>
            <a:xfrm>
              <a:off x="6146864" y="2333922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1;p28">
              <a:extLst>
                <a:ext uri="{FF2B5EF4-FFF2-40B4-BE49-F238E27FC236}">
                  <a16:creationId xmlns:a16="http://schemas.microsoft.com/office/drawing/2014/main" id="{7B98DE50-5D25-FB3C-2F2A-70D9C441DD54}"/>
                </a:ext>
              </a:extLst>
            </p:cNvPr>
            <p:cNvSpPr/>
            <p:nvPr/>
          </p:nvSpPr>
          <p:spPr>
            <a:xfrm>
              <a:off x="6146864" y="2897485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2;p28">
              <a:extLst>
                <a:ext uri="{FF2B5EF4-FFF2-40B4-BE49-F238E27FC236}">
                  <a16:creationId xmlns:a16="http://schemas.microsoft.com/office/drawing/2014/main" id="{A1F95523-6FD1-5B68-B606-32C2DC890FE7}"/>
                </a:ext>
              </a:extLst>
            </p:cNvPr>
            <p:cNvSpPr/>
            <p:nvPr/>
          </p:nvSpPr>
          <p:spPr>
            <a:xfrm>
              <a:off x="6146864" y="3461047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3;p28">
              <a:extLst>
                <a:ext uri="{FF2B5EF4-FFF2-40B4-BE49-F238E27FC236}">
                  <a16:creationId xmlns:a16="http://schemas.microsoft.com/office/drawing/2014/main" id="{4E156F94-6F9B-9CAF-2CEB-443A823D2AF8}"/>
                </a:ext>
              </a:extLst>
            </p:cNvPr>
            <p:cNvSpPr/>
            <p:nvPr/>
          </p:nvSpPr>
          <p:spPr>
            <a:xfrm>
              <a:off x="7269111" y="2333922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;p28">
              <a:extLst>
                <a:ext uri="{FF2B5EF4-FFF2-40B4-BE49-F238E27FC236}">
                  <a16:creationId xmlns:a16="http://schemas.microsoft.com/office/drawing/2014/main" id="{964BAC36-2B24-D4DE-8FE5-0AA5C3A28942}"/>
                </a:ext>
              </a:extLst>
            </p:cNvPr>
            <p:cNvSpPr/>
            <p:nvPr/>
          </p:nvSpPr>
          <p:spPr>
            <a:xfrm>
              <a:off x="7269111" y="2897485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5;p28">
              <a:extLst>
                <a:ext uri="{FF2B5EF4-FFF2-40B4-BE49-F238E27FC236}">
                  <a16:creationId xmlns:a16="http://schemas.microsoft.com/office/drawing/2014/main" id="{E2AAE5A3-3617-69DA-B8A2-E21938172051}"/>
                </a:ext>
              </a:extLst>
            </p:cNvPr>
            <p:cNvSpPr/>
            <p:nvPr/>
          </p:nvSpPr>
          <p:spPr>
            <a:xfrm>
              <a:off x="7269111" y="3461047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6;p28">
              <a:extLst>
                <a:ext uri="{FF2B5EF4-FFF2-40B4-BE49-F238E27FC236}">
                  <a16:creationId xmlns:a16="http://schemas.microsoft.com/office/drawing/2014/main" id="{2A560DA6-E3C8-FD48-6254-B43A700CC23E}"/>
                </a:ext>
              </a:extLst>
            </p:cNvPr>
            <p:cNvSpPr txBox="1"/>
            <p:nvPr/>
          </p:nvSpPr>
          <p:spPr>
            <a:xfrm>
              <a:off x="2857650" y="1780115"/>
              <a:ext cx="99095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1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" name="Google Shape;257;p28">
              <a:extLst>
                <a:ext uri="{FF2B5EF4-FFF2-40B4-BE49-F238E27FC236}">
                  <a16:creationId xmlns:a16="http://schemas.microsoft.com/office/drawing/2014/main" id="{DBF25796-5F84-E904-F127-7BB14A5A1D18}"/>
                </a:ext>
              </a:extLst>
            </p:cNvPr>
            <p:cNvSpPr txBox="1"/>
            <p:nvPr/>
          </p:nvSpPr>
          <p:spPr>
            <a:xfrm>
              <a:off x="3954055" y="1780115"/>
              <a:ext cx="99095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2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5" name="Google Shape;258;p28">
              <a:extLst>
                <a:ext uri="{FF2B5EF4-FFF2-40B4-BE49-F238E27FC236}">
                  <a16:creationId xmlns:a16="http://schemas.microsoft.com/office/drawing/2014/main" id="{B860EB84-5FF2-D391-83F7-1A9D723D31FB}"/>
                </a:ext>
              </a:extLst>
            </p:cNvPr>
            <p:cNvSpPr txBox="1"/>
            <p:nvPr/>
          </p:nvSpPr>
          <p:spPr>
            <a:xfrm>
              <a:off x="5050459" y="1780115"/>
              <a:ext cx="99095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3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" name="Google Shape;259;p28">
              <a:extLst>
                <a:ext uri="{FF2B5EF4-FFF2-40B4-BE49-F238E27FC236}">
                  <a16:creationId xmlns:a16="http://schemas.microsoft.com/office/drawing/2014/main" id="{E0F4A521-0563-6E23-5F07-9FEC236BFEB0}"/>
                </a:ext>
              </a:extLst>
            </p:cNvPr>
            <p:cNvSpPr txBox="1"/>
            <p:nvPr/>
          </p:nvSpPr>
          <p:spPr>
            <a:xfrm>
              <a:off x="6146864" y="1780115"/>
              <a:ext cx="99095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4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" name="Google Shape;260;p28">
              <a:extLst>
                <a:ext uri="{FF2B5EF4-FFF2-40B4-BE49-F238E27FC236}">
                  <a16:creationId xmlns:a16="http://schemas.microsoft.com/office/drawing/2014/main" id="{20128A97-48FC-53A5-7C7D-8D55F78774A0}"/>
                </a:ext>
              </a:extLst>
            </p:cNvPr>
            <p:cNvSpPr txBox="1"/>
            <p:nvPr/>
          </p:nvSpPr>
          <p:spPr>
            <a:xfrm>
              <a:off x="7269111" y="1780115"/>
              <a:ext cx="99095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Gene 5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" name="Google Shape;261;p28">
              <a:extLst>
                <a:ext uri="{FF2B5EF4-FFF2-40B4-BE49-F238E27FC236}">
                  <a16:creationId xmlns:a16="http://schemas.microsoft.com/office/drawing/2014/main" id="{4BAD7EFF-D7C2-0656-244D-DC45874DA3C1}"/>
                </a:ext>
              </a:extLst>
            </p:cNvPr>
            <p:cNvSpPr txBox="1"/>
            <p:nvPr/>
          </p:nvSpPr>
          <p:spPr>
            <a:xfrm>
              <a:off x="1092685" y="4800071"/>
              <a:ext cx="2355547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Query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" name="Google Shape;262;p28">
              <a:extLst>
                <a:ext uri="{FF2B5EF4-FFF2-40B4-BE49-F238E27FC236}">
                  <a16:creationId xmlns:a16="http://schemas.microsoft.com/office/drawing/2014/main" id="{921265B7-6B94-E124-ECE5-3771E4783F80}"/>
                </a:ext>
              </a:extLst>
            </p:cNvPr>
            <p:cNvSpPr/>
            <p:nvPr/>
          </p:nvSpPr>
          <p:spPr>
            <a:xfrm>
              <a:off x="2857650" y="4934164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3;p28">
              <a:extLst>
                <a:ext uri="{FF2B5EF4-FFF2-40B4-BE49-F238E27FC236}">
                  <a16:creationId xmlns:a16="http://schemas.microsoft.com/office/drawing/2014/main" id="{5B79E1C1-E338-79DA-AD22-AFD223A42222}"/>
                </a:ext>
              </a:extLst>
            </p:cNvPr>
            <p:cNvSpPr/>
            <p:nvPr/>
          </p:nvSpPr>
          <p:spPr>
            <a:xfrm>
              <a:off x="3954055" y="4934164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64;p28">
              <a:extLst>
                <a:ext uri="{FF2B5EF4-FFF2-40B4-BE49-F238E27FC236}">
                  <a16:creationId xmlns:a16="http://schemas.microsoft.com/office/drawing/2014/main" id="{2B1C4421-AB2E-608B-3D72-526E0D0F4BA4}"/>
                </a:ext>
              </a:extLst>
            </p:cNvPr>
            <p:cNvSpPr/>
            <p:nvPr/>
          </p:nvSpPr>
          <p:spPr>
            <a:xfrm>
              <a:off x="5050459" y="4934164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65;p28">
              <a:extLst>
                <a:ext uri="{FF2B5EF4-FFF2-40B4-BE49-F238E27FC236}">
                  <a16:creationId xmlns:a16="http://schemas.microsoft.com/office/drawing/2014/main" id="{5E1D8B97-2826-7BBC-786D-6C4165BCC6FA}"/>
                </a:ext>
              </a:extLst>
            </p:cNvPr>
            <p:cNvSpPr/>
            <p:nvPr/>
          </p:nvSpPr>
          <p:spPr>
            <a:xfrm>
              <a:off x="6146864" y="4934164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66;p28">
              <a:extLst>
                <a:ext uri="{FF2B5EF4-FFF2-40B4-BE49-F238E27FC236}">
                  <a16:creationId xmlns:a16="http://schemas.microsoft.com/office/drawing/2014/main" id="{59295DC1-C3C1-7388-C8E5-5881BEEFBBC9}"/>
                </a:ext>
              </a:extLst>
            </p:cNvPr>
            <p:cNvSpPr/>
            <p:nvPr/>
          </p:nvSpPr>
          <p:spPr>
            <a:xfrm>
              <a:off x="7269111" y="4934164"/>
              <a:ext cx="990957" cy="285622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" name="Google Shape;267;p28">
              <a:extLst>
                <a:ext uri="{FF2B5EF4-FFF2-40B4-BE49-F238E27FC236}">
                  <a16:creationId xmlns:a16="http://schemas.microsoft.com/office/drawing/2014/main" id="{2868747A-CC55-0672-A701-6537124EA1E5}"/>
                </a:ext>
              </a:extLst>
            </p:cNvPr>
            <p:cNvCxnSpPr>
              <a:stCxn id="9" idx="2"/>
              <a:endCxn id="29" idx="0"/>
            </p:cNvCxnSpPr>
            <p:nvPr/>
          </p:nvCxnSpPr>
          <p:spPr>
            <a:xfrm>
              <a:off x="3353129" y="3183106"/>
              <a:ext cx="0" cy="1751092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Google Shape;268;p28">
              <a:extLst>
                <a:ext uri="{FF2B5EF4-FFF2-40B4-BE49-F238E27FC236}">
                  <a16:creationId xmlns:a16="http://schemas.microsoft.com/office/drawing/2014/main" id="{F9F9AAFA-598E-54EC-B112-F51F9290A688}"/>
                </a:ext>
              </a:extLst>
            </p:cNvPr>
            <p:cNvCxnSpPr>
              <a:cxnSpLocks/>
            </p:cNvCxnSpPr>
            <p:nvPr/>
          </p:nvCxnSpPr>
          <p:spPr>
            <a:xfrm>
              <a:off x="4423414" y="3183106"/>
              <a:ext cx="0" cy="1751092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269;p28">
              <a:extLst>
                <a:ext uri="{FF2B5EF4-FFF2-40B4-BE49-F238E27FC236}">
                  <a16:creationId xmlns:a16="http://schemas.microsoft.com/office/drawing/2014/main" id="{5C0284DB-4A32-0627-4B17-CD3D69CCAAB0}"/>
                </a:ext>
              </a:extLst>
            </p:cNvPr>
            <p:cNvCxnSpPr>
              <a:cxnSpLocks/>
            </p:cNvCxnSpPr>
            <p:nvPr/>
          </p:nvCxnSpPr>
          <p:spPr>
            <a:xfrm>
              <a:off x="5524004" y="3183106"/>
              <a:ext cx="0" cy="1751092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Google Shape;270;p28">
              <a:extLst>
                <a:ext uri="{FF2B5EF4-FFF2-40B4-BE49-F238E27FC236}">
                  <a16:creationId xmlns:a16="http://schemas.microsoft.com/office/drawing/2014/main" id="{757BC077-B3C5-FD41-46B3-E408733C5B7E}"/>
                </a:ext>
              </a:extLst>
            </p:cNvPr>
            <p:cNvCxnSpPr>
              <a:cxnSpLocks/>
            </p:cNvCxnSpPr>
            <p:nvPr/>
          </p:nvCxnSpPr>
          <p:spPr>
            <a:xfrm>
              <a:off x="6634731" y="3183106"/>
              <a:ext cx="0" cy="1751092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271;p28">
              <a:extLst>
                <a:ext uri="{FF2B5EF4-FFF2-40B4-BE49-F238E27FC236}">
                  <a16:creationId xmlns:a16="http://schemas.microsoft.com/office/drawing/2014/main" id="{45230801-C9B9-88C9-0A8E-F71304BA6279}"/>
                </a:ext>
              </a:extLst>
            </p:cNvPr>
            <p:cNvCxnSpPr>
              <a:cxnSpLocks/>
            </p:cNvCxnSpPr>
            <p:nvPr/>
          </p:nvCxnSpPr>
          <p:spPr>
            <a:xfrm>
              <a:off x="7764590" y="3183106"/>
              <a:ext cx="0" cy="1751092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sp>
          <p:nvSpPr>
            <p:cNvPr id="39" name="Google Shape;272;p28">
              <a:extLst>
                <a:ext uri="{FF2B5EF4-FFF2-40B4-BE49-F238E27FC236}">
                  <a16:creationId xmlns:a16="http://schemas.microsoft.com/office/drawing/2014/main" id="{84B985FE-C6FA-DCF1-04EC-16D74FC0B952}"/>
                </a:ext>
              </a:extLst>
            </p:cNvPr>
            <p:cNvSpPr txBox="1"/>
            <p:nvPr/>
          </p:nvSpPr>
          <p:spPr>
            <a:xfrm>
              <a:off x="9836454" y="4800071"/>
              <a:ext cx="1083338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0" name="Google Shape;273;p28">
              <a:extLst>
                <a:ext uri="{FF2B5EF4-FFF2-40B4-BE49-F238E27FC236}">
                  <a16:creationId xmlns:a16="http://schemas.microsoft.com/office/drawing/2014/main" id="{FB5B3FAE-9C92-BB1B-3F88-A8891C2EBCD2}"/>
                </a:ext>
              </a:extLst>
            </p:cNvPr>
            <p:cNvSpPr/>
            <p:nvPr/>
          </p:nvSpPr>
          <p:spPr>
            <a:xfrm>
              <a:off x="8726037" y="4962186"/>
              <a:ext cx="849392" cy="22957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208;p27">
            <a:extLst>
              <a:ext uri="{FF2B5EF4-FFF2-40B4-BE49-F238E27FC236}">
                <a16:creationId xmlns:a16="http://schemas.microsoft.com/office/drawing/2014/main" id="{D9E261A0-FD7F-4760-7530-098D7A7EF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4689" y="347877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Multi-Locus Sequence Typing</a:t>
            </a: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3730B2-CB92-FC86-79A2-4917C9A10B41}"/>
              </a:ext>
            </a:extLst>
          </p:cNvPr>
          <p:cNvSpPr txBox="1"/>
          <p:nvPr/>
        </p:nvSpPr>
        <p:spPr>
          <a:xfrm>
            <a:off x="2319130" y="5839936"/>
            <a:ext cx="7593495" cy="88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1800" dirty="0"/>
              <a:t>With MLST, genomes form part of a cluster if they are ‘identical’ over the defined regions/genes/loci</a:t>
            </a:r>
          </a:p>
        </p:txBody>
      </p:sp>
    </p:spTree>
    <p:extLst>
      <p:ext uri="{BB962C8B-B14F-4D97-AF65-F5344CB8AC3E}">
        <p14:creationId xmlns:p14="http://schemas.microsoft.com/office/powerpoint/2010/main" val="626979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p29">
            <a:extLst>
              <a:ext uri="{FF2B5EF4-FFF2-40B4-BE49-F238E27FC236}">
                <a16:creationId xmlns:a16="http://schemas.microsoft.com/office/drawing/2014/main" id="{9287EFC5-92F3-DEA6-A294-1BED804CA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1282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Core Gene Multi-Locus Sequence Typing (</a:t>
            </a:r>
            <a:r>
              <a:rPr lang="en" dirty="0" err="1"/>
              <a:t>cgMLST</a:t>
            </a:r>
            <a:r>
              <a:rPr lang="en" dirty="0"/>
              <a:t>)</a:t>
            </a:r>
            <a:endParaRPr dirty="0"/>
          </a:p>
        </p:txBody>
      </p:sp>
      <p:sp>
        <p:nvSpPr>
          <p:cNvPr id="3" name="Google Shape;279;p29">
            <a:extLst>
              <a:ext uri="{FF2B5EF4-FFF2-40B4-BE49-F238E27FC236}">
                <a16:creationId xmlns:a16="http://schemas.microsoft.com/office/drawing/2014/main" id="{B100302D-BC26-4775-5E9A-8784845CC65D}"/>
              </a:ext>
            </a:extLst>
          </p:cNvPr>
          <p:cNvSpPr txBox="1"/>
          <p:nvPr/>
        </p:nvSpPr>
        <p:spPr>
          <a:xfrm>
            <a:off x="1819819" y="2191812"/>
            <a:ext cx="772174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Extends MLST to cover a much larger proportion of the core genome</a:t>
            </a:r>
            <a:endParaRPr sz="2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9694669-0528-CC8B-3C5A-010D8ABFA4FA}"/>
              </a:ext>
            </a:extLst>
          </p:cNvPr>
          <p:cNvGrpSpPr/>
          <p:nvPr/>
        </p:nvGrpSpPr>
        <p:grpSpPr>
          <a:xfrm>
            <a:off x="1008225" y="3147770"/>
            <a:ext cx="9664114" cy="1941064"/>
            <a:chOff x="1008225" y="1955075"/>
            <a:chExt cx="6140528" cy="1233342"/>
          </a:xfrm>
        </p:grpSpPr>
        <p:sp>
          <p:nvSpPr>
            <p:cNvPr id="4" name="Google Shape;280;p29">
              <a:extLst>
                <a:ext uri="{FF2B5EF4-FFF2-40B4-BE49-F238E27FC236}">
                  <a16:creationId xmlns:a16="http://schemas.microsoft.com/office/drawing/2014/main" id="{626B0F88-03DD-BDC7-0CF7-CBCB0CFD58AB}"/>
                </a:ext>
              </a:extLst>
            </p:cNvPr>
            <p:cNvSpPr txBox="1"/>
            <p:nvPr/>
          </p:nvSpPr>
          <p:spPr>
            <a:xfrm>
              <a:off x="1008225" y="1955075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A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" name="Google Shape;281;p29">
              <a:extLst>
                <a:ext uri="{FF2B5EF4-FFF2-40B4-BE49-F238E27FC236}">
                  <a16:creationId xmlns:a16="http://schemas.microsoft.com/office/drawing/2014/main" id="{7942176D-93B9-B213-6CFD-91912A91FC53}"/>
                </a:ext>
              </a:extLst>
            </p:cNvPr>
            <p:cNvSpPr txBox="1"/>
            <p:nvPr/>
          </p:nvSpPr>
          <p:spPr>
            <a:xfrm>
              <a:off x="1008225" y="2371646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" name="Google Shape;282;p29">
              <a:extLst>
                <a:ext uri="{FF2B5EF4-FFF2-40B4-BE49-F238E27FC236}">
                  <a16:creationId xmlns:a16="http://schemas.microsoft.com/office/drawing/2014/main" id="{892CCD96-81B4-8A51-8511-F6513CC1245F}"/>
                </a:ext>
              </a:extLst>
            </p:cNvPr>
            <p:cNvSpPr txBox="1"/>
            <p:nvPr/>
          </p:nvSpPr>
          <p:spPr>
            <a:xfrm>
              <a:off x="1008225" y="2788217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C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" name="Google Shape;283;p29">
              <a:extLst>
                <a:ext uri="{FF2B5EF4-FFF2-40B4-BE49-F238E27FC236}">
                  <a16:creationId xmlns:a16="http://schemas.microsoft.com/office/drawing/2014/main" id="{F3A68D0F-8D80-A66A-78A6-0A9764C149E5}"/>
                </a:ext>
              </a:extLst>
            </p:cNvPr>
            <p:cNvSpPr/>
            <p:nvPr/>
          </p:nvSpPr>
          <p:spPr>
            <a:xfrm>
              <a:off x="2283650" y="20564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4;p29">
              <a:extLst>
                <a:ext uri="{FF2B5EF4-FFF2-40B4-BE49-F238E27FC236}">
                  <a16:creationId xmlns:a16="http://schemas.microsoft.com/office/drawing/2014/main" id="{36375B91-28B0-B864-0180-2E3AB176A1C5}"/>
                </a:ext>
              </a:extLst>
            </p:cNvPr>
            <p:cNvSpPr/>
            <p:nvPr/>
          </p:nvSpPr>
          <p:spPr>
            <a:xfrm>
              <a:off x="2283650" y="246191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85;p29">
              <a:extLst>
                <a:ext uri="{FF2B5EF4-FFF2-40B4-BE49-F238E27FC236}">
                  <a16:creationId xmlns:a16="http://schemas.microsoft.com/office/drawing/2014/main" id="{51FBD3D9-4A58-28B9-CD6A-DE1D85C0A101}"/>
                </a:ext>
              </a:extLst>
            </p:cNvPr>
            <p:cNvSpPr/>
            <p:nvPr/>
          </p:nvSpPr>
          <p:spPr>
            <a:xfrm>
              <a:off x="2283650" y="2867386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;p29">
              <a:extLst>
                <a:ext uri="{FF2B5EF4-FFF2-40B4-BE49-F238E27FC236}">
                  <a16:creationId xmlns:a16="http://schemas.microsoft.com/office/drawing/2014/main" id="{2BCDBF0F-476D-AA31-615E-7287407485C2}"/>
                </a:ext>
              </a:extLst>
            </p:cNvPr>
            <p:cNvSpPr/>
            <p:nvPr/>
          </p:nvSpPr>
          <p:spPr>
            <a:xfrm>
              <a:off x="2607517" y="20564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7;p29">
              <a:extLst>
                <a:ext uri="{FF2B5EF4-FFF2-40B4-BE49-F238E27FC236}">
                  <a16:creationId xmlns:a16="http://schemas.microsoft.com/office/drawing/2014/main" id="{2338A2CF-AFCC-A440-3FCE-C2715AFB17E0}"/>
                </a:ext>
              </a:extLst>
            </p:cNvPr>
            <p:cNvSpPr/>
            <p:nvPr/>
          </p:nvSpPr>
          <p:spPr>
            <a:xfrm>
              <a:off x="2607517" y="246191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8;p29">
              <a:extLst>
                <a:ext uri="{FF2B5EF4-FFF2-40B4-BE49-F238E27FC236}">
                  <a16:creationId xmlns:a16="http://schemas.microsoft.com/office/drawing/2014/main" id="{74F0344D-E806-3234-8E6B-70D96DB47A28}"/>
                </a:ext>
              </a:extLst>
            </p:cNvPr>
            <p:cNvSpPr/>
            <p:nvPr/>
          </p:nvSpPr>
          <p:spPr>
            <a:xfrm>
              <a:off x="2607517" y="2867386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9;p29">
              <a:extLst>
                <a:ext uri="{FF2B5EF4-FFF2-40B4-BE49-F238E27FC236}">
                  <a16:creationId xmlns:a16="http://schemas.microsoft.com/office/drawing/2014/main" id="{0B781AA3-F978-128A-B146-2367F032EE46}"/>
                </a:ext>
              </a:extLst>
            </p:cNvPr>
            <p:cNvSpPr/>
            <p:nvPr/>
          </p:nvSpPr>
          <p:spPr>
            <a:xfrm>
              <a:off x="2931384" y="20564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0;p29">
              <a:extLst>
                <a:ext uri="{FF2B5EF4-FFF2-40B4-BE49-F238E27FC236}">
                  <a16:creationId xmlns:a16="http://schemas.microsoft.com/office/drawing/2014/main" id="{B3EE37A2-ACAE-9827-80CF-B1F63D07B0C3}"/>
                </a:ext>
              </a:extLst>
            </p:cNvPr>
            <p:cNvSpPr/>
            <p:nvPr/>
          </p:nvSpPr>
          <p:spPr>
            <a:xfrm>
              <a:off x="2931384" y="246191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1;p29">
              <a:extLst>
                <a:ext uri="{FF2B5EF4-FFF2-40B4-BE49-F238E27FC236}">
                  <a16:creationId xmlns:a16="http://schemas.microsoft.com/office/drawing/2014/main" id="{6F225BEA-B1C5-5193-9DD0-B1134043DA48}"/>
                </a:ext>
              </a:extLst>
            </p:cNvPr>
            <p:cNvSpPr/>
            <p:nvPr/>
          </p:nvSpPr>
          <p:spPr>
            <a:xfrm>
              <a:off x="2931384" y="2867386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2;p29">
              <a:extLst>
                <a:ext uri="{FF2B5EF4-FFF2-40B4-BE49-F238E27FC236}">
                  <a16:creationId xmlns:a16="http://schemas.microsoft.com/office/drawing/2014/main" id="{429989EC-1865-2777-4822-8B5F6858B4E1}"/>
                </a:ext>
              </a:extLst>
            </p:cNvPr>
            <p:cNvSpPr/>
            <p:nvPr/>
          </p:nvSpPr>
          <p:spPr>
            <a:xfrm>
              <a:off x="3255252" y="20564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3;p29">
              <a:extLst>
                <a:ext uri="{FF2B5EF4-FFF2-40B4-BE49-F238E27FC236}">
                  <a16:creationId xmlns:a16="http://schemas.microsoft.com/office/drawing/2014/main" id="{E947F819-EED1-FF99-D764-16E322C035F3}"/>
                </a:ext>
              </a:extLst>
            </p:cNvPr>
            <p:cNvSpPr/>
            <p:nvPr/>
          </p:nvSpPr>
          <p:spPr>
            <a:xfrm>
              <a:off x="3255252" y="246191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4;p29">
              <a:extLst>
                <a:ext uri="{FF2B5EF4-FFF2-40B4-BE49-F238E27FC236}">
                  <a16:creationId xmlns:a16="http://schemas.microsoft.com/office/drawing/2014/main" id="{C887EE6E-242F-4E3C-72D0-BF635573106D}"/>
                </a:ext>
              </a:extLst>
            </p:cNvPr>
            <p:cNvSpPr/>
            <p:nvPr/>
          </p:nvSpPr>
          <p:spPr>
            <a:xfrm>
              <a:off x="3255252" y="2867386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5;p29">
              <a:extLst>
                <a:ext uri="{FF2B5EF4-FFF2-40B4-BE49-F238E27FC236}">
                  <a16:creationId xmlns:a16="http://schemas.microsoft.com/office/drawing/2014/main" id="{BFB64D51-F912-52BD-4844-11F75830BA9C}"/>
                </a:ext>
              </a:extLst>
            </p:cNvPr>
            <p:cNvSpPr/>
            <p:nvPr/>
          </p:nvSpPr>
          <p:spPr>
            <a:xfrm>
              <a:off x="3586753" y="20564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6;p29">
              <a:extLst>
                <a:ext uri="{FF2B5EF4-FFF2-40B4-BE49-F238E27FC236}">
                  <a16:creationId xmlns:a16="http://schemas.microsoft.com/office/drawing/2014/main" id="{FACDA86C-67AC-D761-E914-CA4CBB62D476}"/>
                </a:ext>
              </a:extLst>
            </p:cNvPr>
            <p:cNvSpPr/>
            <p:nvPr/>
          </p:nvSpPr>
          <p:spPr>
            <a:xfrm>
              <a:off x="3586753" y="246191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97;p29">
              <a:extLst>
                <a:ext uri="{FF2B5EF4-FFF2-40B4-BE49-F238E27FC236}">
                  <a16:creationId xmlns:a16="http://schemas.microsoft.com/office/drawing/2014/main" id="{B2AD4AF4-B233-0DC6-B9D1-49C00A0A39D6}"/>
                </a:ext>
              </a:extLst>
            </p:cNvPr>
            <p:cNvSpPr/>
            <p:nvPr/>
          </p:nvSpPr>
          <p:spPr>
            <a:xfrm>
              <a:off x="3586753" y="2867386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98;p29">
              <a:extLst>
                <a:ext uri="{FF2B5EF4-FFF2-40B4-BE49-F238E27FC236}">
                  <a16:creationId xmlns:a16="http://schemas.microsoft.com/office/drawing/2014/main" id="{B7725169-625C-2690-D110-EBE31509B75E}"/>
                </a:ext>
              </a:extLst>
            </p:cNvPr>
            <p:cNvSpPr/>
            <p:nvPr/>
          </p:nvSpPr>
          <p:spPr>
            <a:xfrm>
              <a:off x="3918250" y="20635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99;p29">
              <a:extLst>
                <a:ext uri="{FF2B5EF4-FFF2-40B4-BE49-F238E27FC236}">
                  <a16:creationId xmlns:a16="http://schemas.microsoft.com/office/drawing/2014/main" id="{6FFEEB01-C3DF-5AF8-C4BD-459FDDA76D9F}"/>
                </a:ext>
              </a:extLst>
            </p:cNvPr>
            <p:cNvSpPr/>
            <p:nvPr/>
          </p:nvSpPr>
          <p:spPr>
            <a:xfrm>
              <a:off x="3918250" y="246900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0;p29">
              <a:extLst>
                <a:ext uri="{FF2B5EF4-FFF2-40B4-BE49-F238E27FC236}">
                  <a16:creationId xmlns:a16="http://schemas.microsoft.com/office/drawing/2014/main" id="{F5ED00DD-A83A-AA7E-4457-619BB4F76023}"/>
                </a:ext>
              </a:extLst>
            </p:cNvPr>
            <p:cNvSpPr/>
            <p:nvPr/>
          </p:nvSpPr>
          <p:spPr>
            <a:xfrm>
              <a:off x="3918250" y="287447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1;p29">
              <a:extLst>
                <a:ext uri="{FF2B5EF4-FFF2-40B4-BE49-F238E27FC236}">
                  <a16:creationId xmlns:a16="http://schemas.microsoft.com/office/drawing/2014/main" id="{0918C566-7C0F-0FBC-DBFA-E14ACBED2948}"/>
                </a:ext>
              </a:extLst>
            </p:cNvPr>
            <p:cNvSpPr/>
            <p:nvPr/>
          </p:nvSpPr>
          <p:spPr>
            <a:xfrm>
              <a:off x="4242117" y="20635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2;p29">
              <a:extLst>
                <a:ext uri="{FF2B5EF4-FFF2-40B4-BE49-F238E27FC236}">
                  <a16:creationId xmlns:a16="http://schemas.microsoft.com/office/drawing/2014/main" id="{A5063611-2505-8087-3DD2-F70F951F6B53}"/>
                </a:ext>
              </a:extLst>
            </p:cNvPr>
            <p:cNvSpPr/>
            <p:nvPr/>
          </p:nvSpPr>
          <p:spPr>
            <a:xfrm>
              <a:off x="4242117" y="246900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3;p29">
              <a:extLst>
                <a:ext uri="{FF2B5EF4-FFF2-40B4-BE49-F238E27FC236}">
                  <a16:creationId xmlns:a16="http://schemas.microsoft.com/office/drawing/2014/main" id="{AAF9FA92-C578-6A3C-6B66-1C3B25B1D7A3}"/>
                </a:ext>
              </a:extLst>
            </p:cNvPr>
            <p:cNvSpPr/>
            <p:nvPr/>
          </p:nvSpPr>
          <p:spPr>
            <a:xfrm>
              <a:off x="4242117" y="287447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04;p29">
              <a:extLst>
                <a:ext uri="{FF2B5EF4-FFF2-40B4-BE49-F238E27FC236}">
                  <a16:creationId xmlns:a16="http://schemas.microsoft.com/office/drawing/2014/main" id="{A67823E1-ED26-7DA9-A7BD-D204D7CBE929}"/>
                </a:ext>
              </a:extLst>
            </p:cNvPr>
            <p:cNvSpPr/>
            <p:nvPr/>
          </p:nvSpPr>
          <p:spPr>
            <a:xfrm>
              <a:off x="4565984" y="20635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5;p29">
              <a:extLst>
                <a:ext uri="{FF2B5EF4-FFF2-40B4-BE49-F238E27FC236}">
                  <a16:creationId xmlns:a16="http://schemas.microsoft.com/office/drawing/2014/main" id="{A352D9BE-8DBD-7394-FC1F-7B455491BB13}"/>
                </a:ext>
              </a:extLst>
            </p:cNvPr>
            <p:cNvSpPr/>
            <p:nvPr/>
          </p:nvSpPr>
          <p:spPr>
            <a:xfrm>
              <a:off x="4565984" y="246900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6;p29">
              <a:extLst>
                <a:ext uri="{FF2B5EF4-FFF2-40B4-BE49-F238E27FC236}">
                  <a16:creationId xmlns:a16="http://schemas.microsoft.com/office/drawing/2014/main" id="{87FA71DD-123D-68FE-4FE2-965B136D6E7C}"/>
                </a:ext>
              </a:extLst>
            </p:cNvPr>
            <p:cNvSpPr/>
            <p:nvPr/>
          </p:nvSpPr>
          <p:spPr>
            <a:xfrm>
              <a:off x="4565984" y="287447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07;p29">
              <a:extLst>
                <a:ext uri="{FF2B5EF4-FFF2-40B4-BE49-F238E27FC236}">
                  <a16:creationId xmlns:a16="http://schemas.microsoft.com/office/drawing/2014/main" id="{CBC4FCAC-9FA1-2E73-3182-13429C9B6626}"/>
                </a:ext>
              </a:extLst>
            </p:cNvPr>
            <p:cNvSpPr/>
            <p:nvPr/>
          </p:nvSpPr>
          <p:spPr>
            <a:xfrm>
              <a:off x="4889852" y="20635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08;p29">
              <a:extLst>
                <a:ext uri="{FF2B5EF4-FFF2-40B4-BE49-F238E27FC236}">
                  <a16:creationId xmlns:a16="http://schemas.microsoft.com/office/drawing/2014/main" id="{BB55E4AE-8A60-5FE7-6C71-A3E46D455C39}"/>
                </a:ext>
              </a:extLst>
            </p:cNvPr>
            <p:cNvSpPr/>
            <p:nvPr/>
          </p:nvSpPr>
          <p:spPr>
            <a:xfrm>
              <a:off x="4889852" y="246900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09;p29">
              <a:extLst>
                <a:ext uri="{FF2B5EF4-FFF2-40B4-BE49-F238E27FC236}">
                  <a16:creationId xmlns:a16="http://schemas.microsoft.com/office/drawing/2014/main" id="{05807D7D-BBC8-BEC8-B84F-7E1C65DB9AA0}"/>
                </a:ext>
              </a:extLst>
            </p:cNvPr>
            <p:cNvSpPr/>
            <p:nvPr/>
          </p:nvSpPr>
          <p:spPr>
            <a:xfrm>
              <a:off x="4889852" y="287447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0;p29">
              <a:extLst>
                <a:ext uri="{FF2B5EF4-FFF2-40B4-BE49-F238E27FC236}">
                  <a16:creationId xmlns:a16="http://schemas.microsoft.com/office/drawing/2014/main" id="{5999EC33-3C9F-7774-ACEB-1F509EA31874}"/>
                </a:ext>
              </a:extLst>
            </p:cNvPr>
            <p:cNvSpPr/>
            <p:nvPr/>
          </p:nvSpPr>
          <p:spPr>
            <a:xfrm>
              <a:off x="5221353" y="20635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1;p29">
              <a:extLst>
                <a:ext uri="{FF2B5EF4-FFF2-40B4-BE49-F238E27FC236}">
                  <a16:creationId xmlns:a16="http://schemas.microsoft.com/office/drawing/2014/main" id="{89653442-23D4-1475-297B-4A4A673474B8}"/>
                </a:ext>
              </a:extLst>
            </p:cNvPr>
            <p:cNvSpPr/>
            <p:nvPr/>
          </p:nvSpPr>
          <p:spPr>
            <a:xfrm>
              <a:off x="5221353" y="246900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2;p29">
              <a:extLst>
                <a:ext uri="{FF2B5EF4-FFF2-40B4-BE49-F238E27FC236}">
                  <a16:creationId xmlns:a16="http://schemas.microsoft.com/office/drawing/2014/main" id="{3F0FF811-0AA7-D76F-A932-5B8C649F4790}"/>
                </a:ext>
              </a:extLst>
            </p:cNvPr>
            <p:cNvSpPr/>
            <p:nvPr/>
          </p:nvSpPr>
          <p:spPr>
            <a:xfrm>
              <a:off x="5221353" y="287447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3;p29">
              <a:extLst>
                <a:ext uri="{FF2B5EF4-FFF2-40B4-BE49-F238E27FC236}">
                  <a16:creationId xmlns:a16="http://schemas.microsoft.com/office/drawing/2014/main" id="{15684D76-EA8C-0A7B-B04F-6888483A68E5}"/>
                </a:ext>
              </a:extLst>
            </p:cNvPr>
            <p:cNvSpPr/>
            <p:nvPr/>
          </p:nvSpPr>
          <p:spPr>
            <a:xfrm>
              <a:off x="5552850" y="20635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4;p29">
              <a:extLst>
                <a:ext uri="{FF2B5EF4-FFF2-40B4-BE49-F238E27FC236}">
                  <a16:creationId xmlns:a16="http://schemas.microsoft.com/office/drawing/2014/main" id="{15A2689B-76C6-52C2-6E34-50DDF9FC35B9}"/>
                </a:ext>
              </a:extLst>
            </p:cNvPr>
            <p:cNvSpPr/>
            <p:nvPr/>
          </p:nvSpPr>
          <p:spPr>
            <a:xfrm>
              <a:off x="5552850" y="246899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5;p29">
              <a:extLst>
                <a:ext uri="{FF2B5EF4-FFF2-40B4-BE49-F238E27FC236}">
                  <a16:creationId xmlns:a16="http://schemas.microsoft.com/office/drawing/2014/main" id="{A8483905-8B66-80B1-8537-BB441B488482}"/>
                </a:ext>
              </a:extLst>
            </p:cNvPr>
            <p:cNvSpPr/>
            <p:nvPr/>
          </p:nvSpPr>
          <p:spPr>
            <a:xfrm>
              <a:off x="5552850" y="2874461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6;p29">
              <a:extLst>
                <a:ext uri="{FF2B5EF4-FFF2-40B4-BE49-F238E27FC236}">
                  <a16:creationId xmlns:a16="http://schemas.microsoft.com/office/drawing/2014/main" id="{A8C29A37-5FAE-EAC6-3296-6400F6EFE7CA}"/>
                </a:ext>
              </a:extLst>
            </p:cNvPr>
            <p:cNvSpPr/>
            <p:nvPr/>
          </p:nvSpPr>
          <p:spPr>
            <a:xfrm>
              <a:off x="5876717" y="20635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;p29">
              <a:extLst>
                <a:ext uri="{FF2B5EF4-FFF2-40B4-BE49-F238E27FC236}">
                  <a16:creationId xmlns:a16="http://schemas.microsoft.com/office/drawing/2014/main" id="{217B6954-4346-6017-9A04-4363C856A7EC}"/>
                </a:ext>
              </a:extLst>
            </p:cNvPr>
            <p:cNvSpPr/>
            <p:nvPr/>
          </p:nvSpPr>
          <p:spPr>
            <a:xfrm>
              <a:off x="5876717" y="246899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8;p29">
              <a:extLst>
                <a:ext uri="{FF2B5EF4-FFF2-40B4-BE49-F238E27FC236}">
                  <a16:creationId xmlns:a16="http://schemas.microsoft.com/office/drawing/2014/main" id="{A11D82A1-A7D5-DB16-D7DE-27AE105BDD55}"/>
                </a:ext>
              </a:extLst>
            </p:cNvPr>
            <p:cNvSpPr/>
            <p:nvPr/>
          </p:nvSpPr>
          <p:spPr>
            <a:xfrm>
              <a:off x="5876717" y="2874461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9;p29">
              <a:extLst>
                <a:ext uri="{FF2B5EF4-FFF2-40B4-BE49-F238E27FC236}">
                  <a16:creationId xmlns:a16="http://schemas.microsoft.com/office/drawing/2014/main" id="{95897DDC-A7FF-9E71-A039-2C2C11CF99DA}"/>
                </a:ext>
              </a:extLst>
            </p:cNvPr>
            <p:cNvSpPr/>
            <p:nvPr/>
          </p:nvSpPr>
          <p:spPr>
            <a:xfrm>
              <a:off x="6200584" y="20635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0;p29">
              <a:extLst>
                <a:ext uri="{FF2B5EF4-FFF2-40B4-BE49-F238E27FC236}">
                  <a16:creationId xmlns:a16="http://schemas.microsoft.com/office/drawing/2014/main" id="{93C8BEFA-3871-7D0D-086B-361E2B213F5B}"/>
                </a:ext>
              </a:extLst>
            </p:cNvPr>
            <p:cNvSpPr/>
            <p:nvPr/>
          </p:nvSpPr>
          <p:spPr>
            <a:xfrm>
              <a:off x="6200584" y="246899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1;p29">
              <a:extLst>
                <a:ext uri="{FF2B5EF4-FFF2-40B4-BE49-F238E27FC236}">
                  <a16:creationId xmlns:a16="http://schemas.microsoft.com/office/drawing/2014/main" id="{884A84D5-F058-F1F1-B158-78E8433B0A1B}"/>
                </a:ext>
              </a:extLst>
            </p:cNvPr>
            <p:cNvSpPr/>
            <p:nvPr/>
          </p:nvSpPr>
          <p:spPr>
            <a:xfrm>
              <a:off x="6200584" y="2874461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22;p29">
              <a:extLst>
                <a:ext uri="{FF2B5EF4-FFF2-40B4-BE49-F238E27FC236}">
                  <a16:creationId xmlns:a16="http://schemas.microsoft.com/office/drawing/2014/main" id="{CFD27E72-1D32-4DED-0F1F-F9244D82371E}"/>
                </a:ext>
              </a:extLst>
            </p:cNvPr>
            <p:cNvSpPr/>
            <p:nvPr/>
          </p:nvSpPr>
          <p:spPr>
            <a:xfrm>
              <a:off x="6524452" y="20635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23;p29">
              <a:extLst>
                <a:ext uri="{FF2B5EF4-FFF2-40B4-BE49-F238E27FC236}">
                  <a16:creationId xmlns:a16="http://schemas.microsoft.com/office/drawing/2014/main" id="{470CC932-AEBF-908B-581F-068DCA754B99}"/>
                </a:ext>
              </a:extLst>
            </p:cNvPr>
            <p:cNvSpPr/>
            <p:nvPr/>
          </p:nvSpPr>
          <p:spPr>
            <a:xfrm>
              <a:off x="6524452" y="246899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24;p29">
              <a:extLst>
                <a:ext uri="{FF2B5EF4-FFF2-40B4-BE49-F238E27FC236}">
                  <a16:creationId xmlns:a16="http://schemas.microsoft.com/office/drawing/2014/main" id="{46173AE1-689E-30DC-58B1-E37C682B5242}"/>
                </a:ext>
              </a:extLst>
            </p:cNvPr>
            <p:cNvSpPr/>
            <p:nvPr/>
          </p:nvSpPr>
          <p:spPr>
            <a:xfrm>
              <a:off x="6524452" y="2874461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25;p29">
              <a:extLst>
                <a:ext uri="{FF2B5EF4-FFF2-40B4-BE49-F238E27FC236}">
                  <a16:creationId xmlns:a16="http://schemas.microsoft.com/office/drawing/2014/main" id="{0B2BDD61-B554-5E99-6F27-417F408F3867}"/>
                </a:ext>
              </a:extLst>
            </p:cNvPr>
            <p:cNvSpPr/>
            <p:nvPr/>
          </p:nvSpPr>
          <p:spPr>
            <a:xfrm>
              <a:off x="6855953" y="20635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26;p29">
              <a:extLst>
                <a:ext uri="{FF2B5EF4-FFF2-40B4-BE49-F238E27FC236}">
                  <a16:creationId xmlns:a16="http://schemas.microsoft.com/office/drawing/2014/main" id="{CCC148F9-79CB-CBAF-B8A9-D60D5B856209}"/>
                </a:ext>
              </a:extLst>
            </p:cNvPr>
            <p:cNvSpPr/>
            <p:nvPr/>
          </p:nvSpPr>
          <p:spPr>
            <a:xfrm>
              <a:off x="6855953" y="246899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27;p29">
              <a:extLst>
                <a:ext uri="{FF2B5EF4-FFF2-40B4-BE49-F238E27FC236}">
                  <a16:creationId xmlns:a16="http://schemas.microsoft.com/office/drawing/2014/main" id="{91B8BD5F-7521-70F5-77CE-E540839AE492}"/>
                </a:ext>
              </a:extLst>
            </p:cNvPr>
            <p:cNvSpPr/>
            <p:nvPr/>
          </p:nvSpPr>
          <p:spPr>
            <a:xfrm>
              <a:off x="6855953" y="2874461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2A5B34-910D-1F57-A08F-69BF07F73540}"/>
              </a:ext>
            </a:extLst>
          </p:cNvPr>
          <p:cNvSpPr txBox="1"/>
          <p:nvPr/>
        </p:nvSpPr>
        <p:spPr>
          <a:xfrm>
            <a:off x="2319130" y="5839936"/>
            <a:ext cx="7593495" cy="88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1800" dirty="0"/>
              <a:t>With MLST, genomes form part of a cluster if they are ‘identical’ over the defined regions/genes/loci</a:t>
            </a:r>
          </a:p>
        </p:txBody>
      </p:sp>
    </p:spTree>
    <p:extLst>
      <p:ext uri="{BB962C8B-B14F-4D97-AF65-F5344CB8AC3E}">
        <p14:creationId xmlns:p14="http://schemas.microsoft.com/office/powerpoint/2010/main" val="4171879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p29">
            <a:extLst>
              <a:ext uri="{FF2B5EF4-FFF2-40B4-BE49-F238E27FC236}">
                <a16:creationId xmlns:a16="http://schemas.microsoft.com/office/drawing/2014/main" id="{9287EFC5-92F3-DEA6-A294-1BED804CA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1282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Core Gene Multi-Locus Sequence Typing (</a:t>
            </a:r>
            <a:r>
              <a:rPr lang="en" dirty="0" err="1"/>
              <a:t>cgMLST</a:t>
            </a:r>
            <a:r>
              <a:rPr lang="en" dirty="0"/>
              <a:t>)</a:t>
            </a:r>
            <a:endParaRPr dirty="0"/>
          </a:p>
        </p:txBody>
      </p:sp>
      <p:sp>
        <p:nvSpPr>
          <p:cNvPr id="54" name="Google Shape;333;p30">
            <a:extLst>
              <a:ext uri="{FF2B5EF4-FFF2-40B4-BE49-F238E27FC236}">
                <a16:creationId xmlns:a16="http://schemas.microsoft.com/office/drawing/2014/main" id="{703E3A49-7FFC-C05B-70FB-CFA657C436C5}"/>
              </a:ext>
            </a:extLst>
          </p:cNvPr>
          <p:cNvSpPr txBox="1"/>
          <p:nvPr/>
        </p:nvSpPr>
        <p:spPr>
          <a:xfrm>
            <a:off x="2137872" y="2231569"/>
            <a:ext cx="6933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Provides finer scale resolution</a:t>
            </a:r>
            <a:endParaRPr sz="2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884F950-B3E6-E3F2-C86A-9CBB945547B6}"/>
              </a:ext>
            </a:extLst>
          </p:cNvPr>
          <p:cNvGrpSpPr/>
          <p:nvPr/>
        </p:nvGrpSpPr>
        <p:grpSpPr>
          <a:xfrm>
            <a:off x="1283632" y="3273288"/>
            <a:ext cx="9365028" cy="2886342"/>
            <a:chOff x="1389649" y="3773920"/>
            <a:chExt cx="7138703" cy="2200179"/>
          </a:xfrm>
        </p:grpSpPr>
        <p:sp>
          <p:nvSpPr>
            <p:cNvPr id="55" name="Google Shape;334;p30">
              <a:extLst>
                <a:ext uri="{FF2B5EF4-FFF2-40B4-BE49-F238E27FC236}">
                  <a16:creationId xmlns:a16="http://schemas.microsoft.com/office/drawing/2014/main" id="{3C6DB7D0-37D5-A82A-92FD-B2120DCD62DC}"/>
                </a:ext>
              </a:extLst>
            </p:cNvPr>
            <p:cNvSpPr txBox="1"/>
            <p:nvPr/>
          </p:nvSpPr>
          <p:spPr>
            <a:xfrm>
              <a:off x="2387824" y="5138120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B.1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" name="Google Shape;335;p30">
              <a:extLst>
                <a:ext uri="{FF2B5EF4-FFF2-40B4-BE49-F238E27FC236}">
                  <a16:creationId xmlns:a16="http://schemas.microsoft.com/office/drawing/2014/main" id="{B1E00922-8949-24BA-FF72-87EAD1CF596C}"/>
                </a:ext>
              </a:extLst>
            </p:cNvPr>
            <p:cNvSpPr/>
            <p:nvPr/>
          </p:nvSpPr>
          <p:spPr>
            <a:xfrm>
              <a:off x="3663249" y="52283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6;p30">
              <a:extLst>
                <a:ext uri="{FF2B5EF4-FFF2-40B4-BE49-F238E27FC236}">
                  <a16:creationId xmlns:a16="http://schemas.microsoft.com/office/drawing/2014/main" id="{DE041E8E-5C35-5CE8-6E8C-C141C8F16532}"/>
                </a:ext>
              </a:extLst>
            </p:cNvPr>
            <p:cNvSpPr/>
            <p:nvPr/>
          </p:nvSpPr>
          <p:spPr>
            <a:xfrm>
              <a:off x="3987116" y="52283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7;p30">
              <a:extLst>
                <a:ext uri="{FF2B5EF4-FFF2-40B4-BE49-F238E27FC236}">
                  <a16:creationId xmlns:a16="http://schemas.microsoft.com/office/drawing/2014/main" id="{558E47C6-573F-F557-78A3-59E0A8CAC724}"/>
                </a:ext>
              </a:extLst>
            </p:cNvPr>
            <p:cNvSpPr/>
            <p:nvPr/>
          </p:nvSpPr>
          <p:spPr>
            <a:xfrm>
              <a:off x="4310983" y="52283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8;p30">
              <a:extLst>
                <a:ext uri="{FF2B5EF4-FFF2-40B4-BE49-F238E27FC236}">
                  <a16:creationId xmlns:a16="http://schemas.microsoft.com/office/drawing/2014/main" id="{4AF8BD54-A2E3-8BA1-AE3A-42E2B6019983}"/>
                </a:ext>
              </a:extLst>
            </p:cNvPr>
            <p:cNvSpPr/>
            <p:nvPr/>
          </p:nvSpPr>
          <p:spPr>
            <a:xfrm>
              <a:off x="4634851" y="52283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9;p30">
              <a:extLst>
                <a:ext uri="{FF2B5EF4-FFF2-40B4-BE49-F238E27FC236}">
                  <a16:creationId xmlns:a16="http://schemas.microsoft.com/office/drawing/2014/main" id="{09093555-9E40-59D5-5696-E69D2CCBCEB2}"/>
                </a:ext>
              </a:extLst>
            </p:cNvPr>
            <p:cNvSpPr/>
            <p:nvPr/>
          </p:nvSpPr>
          <p:spPr>
            <a:xfrm>
              <a:off x="4966352" y="52283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40;p30">
              <a:extLst>
                <a:ext uri="{FF2B5EF4-FFF2-40B4-BE49-F238E27FC236}">
                  <a16:creationId xmlns:a16="http://schemas.microsoft.com/office/drawing/2014/main" id="{82DFFD75-1889-B2E3-FB82-8DD374EACF26}"/>
                </a:ext>
              </a:extLst>
            </p:cNvPr>
            <p:cNvSpPr/>
            <p:nvPr/>
          </p:nvSpPr>
          <p:spPr>
            <a:xfrm>
              <a:off x="5297849" y="52354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41;p30">
              <a:extLst>
                <a:ext uri="{FF2B5EF4-FFF2-40B4-BE49-F238E27FC236}">
                  <a16:creationId xmlns:a16="http://schemas.microsoft.com/office/drawing/2014/main" id="{56A6C8EE-EC20-EB83-FA8A-7216D16BF248}"/>
                </a:ext>
              </a:extLst>
            </p:cNvPr>
            <p:cNvSpPr/>
            <p:nvPr/>
          </p:nvSpPr>
          <p:spPr>
            <a:xfrm>
              <a:off x="5621716" y="52354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42;p30">
              <a:extLst>
                <a:ext uri="{FF2B5EF4-FFF2-40B4-BE49-F238E27FC236}">
                  <a16:creationId xmlns:a16="http://schemas.microsoft.com/office/drawing/2014/main" id="{91D14EB5-870E-B8B3-8AC3-E68D4322C346}"/>
                </a:ext>
              </a:extLst>
            </p:cNvPr>
            <p:cNvSpPr/>
            <p:nvPr/>
          </p:nvSpPr>
          <p:spPr>
            <a:xfrm>
              <a:off x="5945583" y="52354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43;p30">
              <a:extLst>
                <a:ext uri="{FF2B5EF4-FFF2-40B4-BE49-F238E27FC236}">
                  <a16:creationId xmlns:a16="http://schemas.microsoft.com/office/drawing/2014/main" id="{6287B57B-ED07-9DD4-8CC0-3C3B248FF637}"/>
                </a:ext>
              </a:extLst>
            </p:cNvPr>
            <p:cNvSpPr/>
            <p:nvPr/>
          </p:nvSpPr>
          <p:spPr>
            <a:xfrm>
              <a:off x="6269451" y="52354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44;p30">
              <a:extLst>
                <a:ext uri="{FF2B5EF4-FFF2-40B4-BE49-F238E27FC236}">
                  <a16:creationId xmlns:a16="http://schemas.microsoft.com/office/drawing/2014/main" id="{0BEF08AC-F01C-FC55-744C-1F14E83C69F7}"/>
                </a:ext>
              </a:extLst>
            </p:cNvPr>
            <p:cNvSpPr/>
            <p:nvPr/>
          </p:nvSpPr>
          <p:spPr>
            <a:xfrm>
              <a:off x="6600952" y="52354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45;p30">
              <a:extLst>
                <a:ext uri="{FF2B5EF4-FFF2-40B4-BE49-F238E27FC236}">
                  <a16:creationId xmlns:a16="http://schemas.microsoft.com/office/drawing/2014/main" id="{9C1A9794-D2EC-3FC5-2FA3-A0F218A1FC84}"/>
                </a:ext>
              </a:extLst>
            </p:cNvPr>
            <p:cNvSpPr/>
            <p:nvPr/>
          </p:nvSpPr>
          <p:spPr>
            <a:xfrm>
              <a:off x="6932449" y="52354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46;p30">
              <a:extLst>
                <a:ext uri="{FF2B5EF4-FFF2-40B4-BE49-F238E27FC236}">
                  <a16:creationId xmlns:a16="http://schemas.microsoft.com/office/drawing/2014/main" id="{A22D33B6-9634-390B-B05B-3789F4339604}"/>
                </a:ext>
              </a:extLst>
            </p:cNvPr>
            <p:cNvSpPr/>
            <p:nvPr/>
          </p:nvSpPr>
          <p:spPr>
            <a:xfrm>
              <a:off x="7256316" y="52354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47;p30">
              <a:extLst>
                <a:ext uri="{FF2B5EF4-FFF2-40B4-BE49-F238E27FC236}">
                  <a16:creationId xmlns:a16="http://schemas.microsoft.com/office/drawing/2014/main" id="{CC3C3E31-BBF2-D53F-8DA7-B2F0196E9CE2}"/>
                </a:ext>
              </a:extLst>
            </p:cNvPr>
            <p:cNvSpPr/>
            <p:nvPr/>
          </p:nvSpPr>
          <p:spPr>
            <a:xfrm>
              <a:off x="7580183" y="52354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48;p30">
              <a:extLst>
                <a:ext uri="{FF2B5EF4-FFF2-40B4-BE49-F238E27FC236}">
                  <a16:creationId xmlns:a16="http://schemas.microsoft.com/office/drawing/2014/main" id="{46D2A52C-52F3-1CC6-358C-53B6374FEAF1}"/>
                </a:ext>
              </a:extLst>
            </p:cNvPr>
            <p:cNvSpPr/>
            <p:nvPr/>
          </p:nvSpPr>
          <p:spPr>
            <a:xfrm>
              <a:off x="7904051" y="52354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49;p30">
              <a:extLst>
                <a:ext uri="{FF2B5EF4-FFF2-40B4-BE49-F238E27FC236}">
                  <a16:creationId xmlns:a16="http://schemas.microsoft.com/office/drawing/2014/main" id="{56A5ACCE-C87F-48E9-D4E0-D38A7CE17495}"/>
                </a:ext>
              </a:extLst>
            </p:cNvPr>
            <p:cNvSpPr/>
            <p:nvPr/>
          </p:nvSpPr>
          <p:spPr>
            <a:xfrm>
              <a:off x="8235552" y="52354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50;p30">
              <a:extLst>
                <a:ext uri="{FF2B5EF4-FFF2-40B4-BE49-F238E27FC236}">
                  <a16:creationId xmlns:a16="http://schemas.microsoft.com/office/drawing/2014/main" id="{CCBBA54A-F3AF-6AC4-826B-2127AF388216}"/>
                </a:ext>
              </a:extLst>
            </p:cNvPr>
            <p:cNvSpPr txBox="1"/>
            <p:nvPr/>
          </p:nvSpPr>
          <p:spPr>
            <a:xfrm>
              <a:off x="2387824" y="5538320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B.2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2" name="Google Shape;351;p30">
              <a:extLst>
                <a:ext uri="{FF2B5EF4-FFF2-40B4-BE49-F238E27FC236}">
                  <a16:creationId xmlns:a16="http://schemas.microsoft.com/office/drawing/2014/main" id="{B91BB4A5-BC96-7243-AB1A-06A92B29628E}"/>
                </a:ext>
              </a:extLst>
            </p:cNvPr>
            <p:cNvSpPr/>
            <p:nvPr/>
          </p:nvSpPr>
          <p:spPr>
            <a:xfrm>
              <a:off x="3663249" y="56285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52;p30">
              <a:extLst>
                <a:ext uri="{FF2B5EF4-FFF2-40B4-BE49-F238E27FC236}">
                  <a16:creationId xmlns:a16="http://schemas.microsoft.com/office/drawing/2014/main" id="{F83435DE-FE53-41BC-BEA0-37662A6BF00D}"/>
                </a:ext>
              </a:extLst>
            </p:cNvPr>
            <p:cNvSpPr/>
            <p:nvPr/>
          </p:nvSpPr>
          <p:spPr>
            <a:xfrm>
              <a:off x="3987116" y="56285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53;p30">
              <a:extLst>
                <a:ext uri="{FF2B5EF4-FFF2-40B4-BE49-F238E27FC236}">
                  <a16:creationId xmlns:a16="http://schemas.microsoft.com/office/drawing/2014/main" id="{58BFF43D-DDE1-A6F3-478D-578F32E7CE4F}"/>
                </a:ext>
              </a:extLst>
            </p:cNvPr>
            <p:cNvSpPr/>
            <p:nvPr/>
          </p:nvSpPr>
          <p:spPr>
            <a:xfrm>
              <a:off x="4310983" y="56285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54;p30">
              <a:extLst>
                <a:ext uri="{FF2B5EF4-FFF2-40B4-BE49-F238E27FC236}">
                  <a16:creationId xmlns:a16="http://schemas.microsoft.com/office/drawing/2014/main" id="{6B3B772B-029F-C049-3BE9-EE7B88E8BF34}"/>
                </a:ext>
              </a:extLst>
            </p:cNvPr>
            <p:cNvSpPr/>
            <p:nvPr/>
          </p:nvSpPr>
          <p:spPr>
            <a:xfrm>
              <a:off x="4634851" y="56285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55;p30">
              <a:extLst>
                <a:ext uri="{FF2B5EF4-FFF2-40B4-BE49-F238E27FC236}">
                  <a16:creationId xmlns:a16="http://schemas.microsoft.com/office/drawing/2014/main" id="{60ED6F47-05B3-09F7-8D85-BE6991F0D280}"/>
                </a:ext>
              </a:extLst>
            </p:cNvPr>
            <p:cNvSpPr/>
            <p:nvPr/>
          </p:nvSpPr>
          <p:spPr>
            <a:xfrm>
              <a:off x="4966352" y="5628592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56;p30">
              <a:extLst>
                <a:ext uri="{FF2B5EF4-FFF2-40B4-BE49-F238E27FC236}">
                  <a16:creationId xmlns:a16="http://schemas.microsoft.com/office/drawing/2014/main" id="{E022D506-10B9-D9D2-9086-AB111BBFEFE5}"/>
                </a:ext>
              </a:extLst>
            </p:cNvPr>
            <p:cNvSpPr/>
            <p:nvPr/>
          </p:nvSpPr>
          <p:spPr>
            <a:xfrm>
              <a:off x="5297849" y="56356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57;p30">
              <a:extLst>
                <a:ext uri="{FF2B5EF4-FFF2-40B4-BE49-F238E27FC236}">
                  <a16:creationId xmlns:a16="http://schemas.microsoft.com/office/drawing/2014/main" id="{875886C5-B5DD-B6B1-AED4-709675322490}"/>
                </a:ext>
              </a:extLst>
            </p:cNvPr>
            <p:cNvSpPr/>
            <p:nvPr/>
          </p:nvSpPr>
          <p:spPr>
            <a:xfrm>
              <a:off x="5621716" y="56356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58;p30">
              <a:extLst>
                <a:ext uri="{FF2B5EF4-FFF2-40B4-BE49-F238E27FC236}">
                  <a16:creationId xmlns:a16="http://schemas.microsoft.com/office/drawing/2014/main" id="{32BABFD8-71D6-B5CD-402C-8DCF3181DE1C}"/>
                </a:ext>
              </a:extLst>
            </p:cNvPr>
            <p:cNvSpPr/>
            <p:nvPr/>
          </p:nvSpPr>
          <p:spPr>
            <a:xfrm>
              <a:off x="5945583" y="56356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59;p30">
              <a:extLst>
                <a:ext uri="{FF2B5EF4-FFF2-40B4-BE49-F238E27FC236}">
                  <a16:creationId xmlns:a16="http://schemas.microsoft.com/office/drawing/2014/main" id="{A5C6807C-4E65-DA6E-1DD5-6E9C3E6D99E3}"/>
                </a:ext>
              </a:extLst>
            </p:cNvPr>
            <p:cNvSpPr/>
            <p:nvPr/>
          </p:nvSpPr>
          <p:spPr>
            <a:xfrm>
              <a:off x="6269451" y="56356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60;p30">
              <a:extLst>
                <a:ext uri="{FF2B5EF4-FFF2-40B4-BE49-F238E27FC236}">
                  <a16:creationId xmlns:a16="http://schemas.microsoft.com/office/drawing/2014/main" id="{21D5D5C7-AF8A-0D77-DE4B-FCEBAEF97735}"/>
                </a:ext>
              </a:extLst>
            </p:cNvPr>
            <p:cNvSpPr/>
            <p:nvPr/>
          </p:nvSpPr>
          <p:spPr>
            <a:xfrm>
              <a:off x="6600952" y="563567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61;p30">
              <a:extLst>
                <a:ext uri="{FF2B5EF4-FFF2-40B4-BE49-F238E27FC236}">
                  <a16:creationId xmlns:a16="http://schemas.microsoft.com/office/drawing/2014/main" id="{5D7AA76B-88CA-8621-CA1A-229DE88F58A0}"/>
                </a:ext>
              </a:extLst>
            </p:cNvPr>
            <p:cNvSpPr/>
            <p:nvPr/>
          </p:nvSpPr>
          <p:spPr>
            <a:xfrm>
              <a:off x="6932449" y="56356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62;p30">
              <a:extLst>
                <a:ext uri="{FF2B5EF4-FFF2-40B4-BE49-F238E27FC236}">
                  <a16:creationId xmlns:a16="http://schemas.microsoft.com/office/drawing/2014/main" id="{3404C443-7724-F91E-331B-9D9BF2ECDEDF}"/>
                </a:ext>
              </a:extLst>
            </p:cNvPr>
            <p:cNvSpPr/>
            <p:nvPr/>
          </p:nvSpPr>
          <p:spPr>
            <a:xfrm>
              <a:off x="7256316" y="56356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63;p30">
              <a:extLst>
                <a:ext uri="{FF2B5EF4-FFF2-40B4-BE49-F238E27FC236}">
                  <a16:creationId xmlns:a16="http://schemas.microsoft.com/office/drawing/2014/main" id="{E4D20DFE-9A3F-76E3-6F34-21813642DB7E}"/>
                </a:ext>
              </a:extLst>
            </p:cNvPr>
            <p:cNvSpPr/>
            <p:nvPr/>
          </p:nvSpPr>
          <p:spPr>
            <a:xfrm>
              <a:off x="7580183" y="56356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64;p30">
              <a:extLst>
                <a:ext uri="{FF2B5EF4-FFF2-40B4-BE49-F238E27FC236}">
                  <a16:creationId xmlns:a16="http://schemas.microsoft.com/office/drawing/2014/main" id="{B6355178-E3DD-3160-C606-057DCE4A9BC0}"/>
                </a:ext>
              </a:extLst>
            </p:cNvPr>
            <p:cNvSpPr/>
            <p:nvPr/>
          </p:nvSpPr>
          <p:spPr>
            <a:xfrm>
              <a:off x="7904051" y="56356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65;p30">
              <a:extLst>
                <a:ext uri="{FF2B5EF4-FFF2-40B4-BE49-F238E27FC236}">
                  <a16:creationId xmlns:a16="http://schemas.microsoft.com/office/drawing/2014/main" id="{EFF20524-0174-24F1-5CD5-8FA070115A4E}"/>
                </a:ext>
              </a:extLst>
            </p:cNvPr>
            <p:cNvSpPr/>
            <p:nvPr/>
          </p:nvSpPr>
          <p:spPr>
            <a:xfrm>
              <a:off x="8235552" y="5635667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66;p30">
              <a:extLst>
                <a:ext uri="{FF2B5EF4-FFF2-40B4-BE49-F238E27FC236}">
                  <a16:creationId xmlns:a16="http://schemas.microsoft.com/office/drawing/2014/main" id="{4B449922-0816-FA4D-9FE0-FE8FD7ABF7B3}"/>
                </a:ext>
              </a:extLst>
            </p:cNvPr>
            <p:cNvSpPr/>
            <p:nvPr/>
          </p:nvSpPr>
          <p:spPr>
            <a:xfrm>
              <a:off x="4213724" y="5082499"/>
              <a:ext cx="830100" cy="8916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67;p30">
              <a:extLst>
                <a:ext uri="{FF2B5EF4-FFF2-40B4-BE49-F238E27FC236}">
                  <a16:creationId xmlns:a16="http://schemas.microsoft.com/office/drawing/2014/main" id="{A7119A66-E7FA-7D42-F992-EFB70D110930}"/>
                </a:ext>
              </a:extLst>
            </p:cNvPr>
            <p:cNvSpPr/>
            <p:nvPr/>
          </p:nvSpPr>
          <p:spPr>
            <a:xfrm>
              <a:off x="3644587" y="38708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68;p30">
              <a:extLst>
                <a:ext uri="{FF2B5EF4-FFF2-40B4-BE49-F238E27FC236}">
                  <a16:creationId xmlns:a16="http://schemas.microsoft.com/office/drawing/2014/main" id="{883E2BE0-2082-56AA-788C-14549F8C6BF5}"/>
                </a:ext>
              </a:extLst>
            </p:cNvPr>
            <p:cNvSpPr/>
            <p:nvPr/>
          </p:nvSpPr>
          <p:spPr>
            <a:xfrm>
              <a:off x="4436887" y="38708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69;p30">
              <a:extLst>
                <a:ext uri="{FF2B5EF4-FFF2-40B4-BE49-F238E27FC236}">
                  <a16:creationId xmlns:a16="http://schemas.microsoft.com/office/drawing/2014/main" id="{F783D064-0509-4B35-86C6-C5835E0A05BF}"/>
                </a:ext>
              </a:extLst>
            </p:cNvPr>
            <p:cNvSpPr/>
            <p:nvPr/>
          </p:nvSpPr>
          <p:spPr>
            <a:xfrm>
              <a:off x="5229187" y="38708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70;p30">
              <a:extLst>
                <a:ext uri="{FF2B5EF4-FFF2-40B4-BE49-F238E27FC236}">
                  <a16:creationId xmlns:a16="http://schemas.microsoft.com/office/drawing/2014/main" id="{29306418-3F61-4C68-26FC-D894A359B409}"/>
                </a:ext>
              </a:extLst>
            </p:cNvPr>
            <p:cNvSpPr/>
            <p:nvPr/>
          </p:nvSpPr>
          <p:spPr>
            <a:xfrm>
              <a:off x="6021487" y="38708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71;p30">
              <a:extLst>
                <a:ext uri="{FF2B5EF4-FFF2-40B4-BE49-F238E27FC236}">
                  <a16:creationId xmlns:a16="http://schemas.microsoft.com/office/drawing/2014/main" id="{32789817-8DCF-501B-A1D9-207FE466DC1D}"/>
                </a:ext>
              </a:extLst>
            </p:cNvPr>
            <p:cNvSpPr/>
            <p:nvPr/>
          </p:nvSpPr>
          <p:spPr>
            <a:xfrm>
              <a:off x="6832462" y="38708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72;p30">
              <a:extLst>
                <a:ext uri="{FF2B5EF4-FFF2-40B4-BE49-F238E27FC236}">
                  <a16:creationId xmlns:a16="http://schemas.microsoft.com/office/drawing/2014/main" id="{16CCC3CF-6497-107B-0CA2-7F5EA9CCC553}"/>
                </a:ext>
              </a:extLst>
            </p:cNvPr>
            <p:cNvSpPr txBox="1"/>
            <p:nvPr/>
          </p:nvSpPr>
          <p:spPr>
            <a:xfrm>
              <a:off x="2387824" y="3773920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B.1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4" name="Google Shape;373;p30">
              <a:extLst>
                <a:ext uri="{FF2B5EF4-FFF2-40B4-BE49-F238E27FC236}">
                  <a16:creationId xmlns:a16="http://schemas.microsoft.com/office/drawing/2014/main" id="{BF78232E-C8E7-B09A-B9DB-E12B48DEF577}"/>
                </a:ext>
              </a:extLst>
            </p:cNvPr>
            <p:cNvSpPr txBox="1"/>
            <p:nvPr/>
          </p:nvSpPr>
          <p:spPr>
            <a:xfrm>
              <a:off x="2387824" y="4174120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Strain B.2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5" name="Google Shape;374;p30">
              <a:extLst>
                <a:ext uri="{FF2B5EF4-FFF2-40B4-BE49-F238E27FC236}">
                  <a16:creationId xmlns:a16="http://schemas.microsoft.com/office/drawing/2014/main" id="{27C80998-944D-E8E2-5FDE-ECE0B715ACF8}"/>
                </a:ext>
              </a:extLst>
            </p:cNvPr>
            <p:cNvSpPr/>
            <p:nvPr/>
          </p:nvSpPr>
          <p:spPr>
            <a:xfrm>
              <a:off x="3653912" y="42710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75;p30">
              <a:extLst>
                <a:ext uri="{FF2B5EF4-FFF2-40B4-BE49-F238E27FC236}">
                  <a16:creationId xmlns:a16="http://schemas.microsoft.com/office/drawing/2014/main" id="{E426691C-E583-C735-0BAD-E25889E5153C}"/>
                </a:ext>
              </a:extLst>
            </p:cNvPr>
            <p:cNvSpPr/>
            <p:nvPr/>
          </p:nvSpPr>
          <p:spPr>
            <a:xfrm>
              <a:off x="4446212" y="42710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76;p30">
              <a:extLst>
                <a:ext uri="{FF2B5EF4-FFF2-40B4-BE49-F238E27FC236}">
                  <a16:creationId xmlns:a16="http://schemas.microsoft.com/office/drawing/2014/main" id="{6B252083-32C2-BAD6-AC6D-3321AB6ACE10}"/>
                </a:ext>
              </a:extLst>
            </p:cNvPr>
            <p:cNvSpPr/>
            <p:nvPr/>
          </p:nvSpPr>
          <p:spPr>
            <a:xfrm>
              <a:off x="5238512" y="42710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77;p30">
              <a:extLst>
                <a:ext uri="{FF2B5EF4-FFF2-40B4-BE49-F238E27FC236}">
                  <a16:creationId xmlns:a16="http://schemas.microsoft.com/office/drawing/2014/main" id="{54A596F5-FE38-FA23-594A-3CFC4A9065E9}"/>
                </a:ext>
              </a:extLst>
            </p:cNvPr>
            <p:cNvSpPr/>
            <p:nvPr/>
          </p:nvSpPr>
          <p:spPr>
            <a:xfrm>
              <a:off x="6030812" y="42710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78;p30">
              <a:extLst>
                <a:ext uri="{FF2B5EF4-FFF2-40B4-BE49-F238E27FC236}">
                  <a16:creationId xmlns:a16="http://schemas.microsoft.com/office/drawing/2014/main" id="{9E9B4B62-0B88-B014-75D9-C7EB562176BD}"/>
                </a:ext>
              </a:extLst>
            </p:cNvPr>
            <p:cNvSpPr/>
            <p:nvPr/>
          </p:nvSpPr>
          <p:spPr>
            <a:xfrm>
              <a:off x="6841787" y="4271024"/>
              <a:ext cx="716100" cy="2064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79;p30">
              <a:extLst>
                <a:ext uri="{FF2B5EF4-FFF2-40B4-BE49-F238E27FC236}">
                  <a16:creationId xmlns:a16="http://schemas.microsoft.com/office/drawing/2014/main" id="{AB477394-8CD7-F391-1ADB-616D882562AD}"/>
                </a:ext>
              </a:extLst>
            </p:cNvPr>
            <p:cNvSpPr/>
            <p:nvPr/>
          </p:nvSpPr>
          <p:spPr>
            <a:xfrm>
              <a:off x="2124724" y="3773924"/>
              <a:ext cx="263100" cy="8316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80;p30">
              <a:extLst>
                <a:ext uri="{FF2B5EF4-FFF2-40B4-BE49-F238E27FC236}">
                  <a16:creationId xmlns:a16="http://schemas.microsoft.com/office/drawing/2014/main" id="{BDA5F682-3F4A-B1B2-315F-2897C398BB37}"/>
                </a:ext>
              </a:extLst>
            </p:cNvPr>
            <p:cNvSpPr txBox="1"/>
            <p:nvPr/>
          </p:nvSpPr>
          <p:spPr>
            <a:xfrm>
              <a:off x="1562249" y="3989624"/>
              <a:ext cx="65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MLST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2" name="Google Shape;381;p30">
              <a:extLst>
                <a:ext uri="{FF2B5EF4-FFF2-40B4-BE49-F238E27FC236}">
                  <a16:creationId xmlns:a16="http://schemas.microsoft.com/office/drawing/2014/main" id="{0424EFEE-BE00-BCFB-5E9A-BFAA8D47581A}"/>
                </a:ext>
              </a:extLst>
            </p:cNvPr>
            <p:cNvSpPr/>
            <p:nvPr/>
          </p:nvSpPr>
          <p:spPr>
            <a:xfrm>
              <a:off x="2124724" y="5112499"/>
              <a:ext cx="263100" cy="8316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82;p30">
              <a:extLst>
                <a:ext uri="{FF2B5EF4-FFF2-40B4-BE49-F238E27FC236}">
                  <a16:creationId xmlns:a16="http://schemas.microsoft.com/office/drawing/2014/main" id="{BD31EEAD-8847-7F08-EE96-AEDF3B993949}"/>
                </a:ext>
              </a:extLst>
            </p:cNvPr>
            <p:cNvSpPr txBox="1"/>
            <p:nvPr/>
          </p:nvSpPr>
          <p:spPr>
            <a:xfrm>
              <a:off x="1389649" y="5328199"/>
              <a:ext cx="830100" cy="351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 err="1">
                  <a:latin typeface="Source Sans Pro"/>
                  <a:ea typeface="Source Sans Pro"/>
                  <a:cs typeface="Source Sans Pro"/>
                  <a:sym typeface="Source Sans Pro"/>
                </a:rPr>
                <a:t>cgMLST</a:t>
              </a:r>
              <a:endParaRPr dirty="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272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F67F0-1858-BB35-6B8C-F6045007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D5361-5468-3C4B-AC85-B4C168B75E9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01D1F6FC-2CF4-DDB0-0EFA-E108C51EB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2411" y="119270"/>
            <a:ext cx="7571700" cy="14082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don’t have a suitable database?</a:t>
            </a:r>
            <a:endParaRPr/>
          </a:p>
        </p:txBody>
      </p:sp>
      <p:sp>
        <p:nvSpPr>
          <p:cNvPr id="6" name="Google Shape;388;p31">
            <a:extLst>
              <a:ext uri="{FF2B5EF4-FFF2-40B4-BE49-F238E27FC236}">
                <a16:creationId xmlns:a16="http://schemas.microsoft.com/office/drawing/2014/main" id="{858CE916-C0AF-6331-4FF0-D8A9F97FDFD4}"/>
              </a:ext>
            </a:extLst>
          </p:cNvPr>
          <p:cNvSpPr txBox="1">
            <a:spLocks/>
          </p:cNvSpPr>
          <p:nvPr/>
        </p:nvSpPr>
        <p:spPr>
          <a:xfrm>
            <a:off x="1909543" y="2479886"/>
            <a:ext cx="8334387" cy="296675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400" dirty="0"/>
              <a:t>MLST is not so good for:</a:t>
            </a:r>
          </a:p>
          <a:p>
            <a:pPr marL="438150" indent="-342900">
              <a:lnSpc>
                <a:spcPct val="150000"/>
              </a:lnSpc>
              <a:spcBef>
                <a:spcPts val="600"/>
              </a:spcBef>
              <a:buSzPts val="2100"/>
            </a:pPr>
            <a:r>
              <a:rPr lang="en-GB" sz="2400" dirty="0"/>
              <a:t>Identifying novel clusters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</a:pPr>
            <a:r>
              <a:rPr lang="en-GB" sz="2400" dirty="0"/>
              <a:t>Controlling for population structure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</a:pPr>
            <a:r>
              <a:rPr lang="en-GB" sz="2400" dirty="0"/>
              <a:t>Analysing outbreaks</a:t>
            </a:r>
          </a:p>
        </p:txBody>
      </p:sp>
    </p:spTree>
    <p:extLst>
      <p:ext uri="{BB962C8B-B14F-4D97-AF65-F5344CB8AC3E}">
        <p14:creationId xmlns:p14="http://schemas.microsoft.com/office/powerpoint/2010/main" val="165590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470410"/>
            <a:ext cx="7650984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2.2	</a:t>
            </a:r>
            <a:r>
              <a:rPr lang="en" sz="4000" dirty="0"/>
              <a:t>Model based clustering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3041607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8;p33">
            <a:extLst>
              <a:ext uri="{FF2B5EF4-FFF2-40B4-BE49-F238E27FC236}">
                <a16:creationId xmlns:a16="http://schemas.microsoft.com/office/drawing/2014/main" id="{76274178-6E91-955E-D090-CC073C3F6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based clustering</a:t>
            </a:r>
            <a:endParaRPr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919EC23-CE26-4FE5-922B-D01C68C8BD8B}"/>
              </a:ext>
            </a:extLst>
          </p:cNvPr>
          <p:cNvGrpSpPr/>
          <p:nvPr/>
        </p:nvGrpSpPr>
        <p:grpSpPr>
          <a:xfrm>
            <a:off x="2475369" y="2318615"/>
            <a:ext cx="7991267" cy="3128027"/>
            <a:chOff x="2475369" y="2318616"/>
            <a:chExt cx="7084953" cy="2773268"/>
          </a:xfrm>
        </p:grpSpPr>
        <p:sp>
          <p:nvSpPr>
            <p:cNvPr id="8" name="Google Shape;399;p33">
              <a:extLst>
                <a:ext uri="{FF2B5EF4-FFF2-40B4-BE49-F238E27FC236}">
                  <a16:creationId xmlns:a16="http://schemas.microsoft.com/office/drawing/2014/main" id="{4DEF8624-B00B-1ACA-1BC7-889DCB4F7B9C}"/>
                </a:ext>
              </a:extLst>
            </p:cNvPr>
            <p:cNvSpPr/>
            <p:nvPr/>
          </p:nvSpPr>
          <p:spPr>
            <a:xfrm>
              <a:off x="2893994" y="28450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00;p33">
              <a:extLst>
                <a:ext uri="{FF2B5EF4-FFF2-40B4-BE49-F238E27FC236}">
                  <a16:creationId xmlns:a16="http://schemas.microsoft.com/office/drawing/2014/main" id="{51B795A2-5FD1-62BE-80AB-4B982575D5C4}"/>
                </a:ext>
              </a:extLst>
            </p:cNvPr>
            <p:cNvSpPr/>
            <p:nvPr/>
          </p:nvSpPr>
          <p:spPr>
            <a:xfrm>
              <a:off x="3217861" y="28450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01;p33">
              <a:extLst>
                <a:ext uri="{FF2B5EF4-FFF2-40B4-BE49-F238E27FC236}">
                  <a16:creationId xmlns:a16="http://schemas.microsoft.com/office/drawing/2014/main" id="{DCBF6D4F-0559-241B-39AA-65FDB3423648}"/>
                </a:ext>
              </a:extLst>
            </p:cNvPr>
            <p:cNvSpPr/>
            <p:nvPr/>
          </p:nvSpPr>
          <p:spPr>
            <a:xfrm>
              <a:off x="3541728" y="28450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02;p33">
              <a:extLst>
                <a:ext uri="{FF2B5EF4-FFF2-40B4-BE49-F238E27FC236}">
                  <a16:creationId xmlns:a16="http://schemas.microsoft.com/office/drawing/2014/main" id="{DF6E4BA1-0C6D-8751-D402-A88976661952}"/>
                </a:ext>
              </a:extLst>
            </p:cNvPr>
            <p:cNvSpPr/>
            <p:nvPr/>
          </p:nvSpPr>
          <p:spPr>
            <a:xfrm>
              <a:off x="3865596" y="28450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03;p33">
              <a:extLst>
                <a:ext uri="{FF2B5EF4-FFF2-40B4-BE49-F238E27FC236}">
                  <a16:creationId xmlns:a16="http://schemas.microsoft.com/office/drawing/2014/main" id="{991F1361-DD29-69B9-3352-38E02F014218}"/>
                </a:ext>
              </a:extLst>
            </p:cNvPr>
            <p:cNvSpPr/>
            <p:nvPr/>
          </p:nvSpPr>
          <p:spPr>
            <a:xfrm>
              <a:off x="4197097" y="28450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04;p33">
              <a:extLst>
                <a:ext uri="{FF2B5EF4-FFF2-40B4-BE49-F238E27FC236}">
                  <a16:creationId xmlns:a16="http://schemas.microsoft.com/office/drawing/2014/main" id="{5CA818DA-9CBA-5F26-6C0D-07C88664F5A4}"/>
                </a:ext>
              </a:extLst>
            </p:cNvPr>
            <p:cNvSpPr/>
            <p:nvPr/>
          </p:nvSpPr>
          <p:spPr>
            <a:xfrm>
              <a:off x="3046394" y="321213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05;p33">
              <a:extLst>
                <a:ext uri="{FF2B5EF4-FFF2-40B4-BE49-F238E27FC236}">
                  <a16:creationId xmlns:a16="http://schemas.microsoft.com/office/drawing/2014/main" id="{0856B5AC-63B1-2E8F-8D55-D88D26C816C8}"/>
                </a:ext>
              </a:extLst>
            </p:cNvPr>
            <p:cNvSpPr/>
            <p:nvPr/>
          </p:nvSpPr>
          <p:spPr>
            <a:xfrm>
              <a:off x="3370261" y="321213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06;p33">
              <a:extLst>
                <a:ext uri="{FF2B5EF4-FFF2-40B4-BE49-F238E27FC236}">
                  <a16:creationId xmlns:a16="http://schemas.microsoft.com/office/drawing/2014/main" id="{CB101A71-4CE6-0605-EC55-3AAA1788995C}"/>
                </a:ext>
              </a:extLst>
            </p:cNvPr>
            <p:cNvSpPr/>
            <p:nvPr/>
          </p:nvSpPr>
          <p:spPr>
            <a:xfrm>
              <a:off x="3694128" y="321213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07;p33">
              <a:extLst>
                <a:ext uri="{FF2B5EF4-FFF2-40B4-BE49-F238E27FC236}">
                  <a16:creationId xmlns:a16="http://schemas.microsoft.com/office/drawing/2014/main" id="{6C12368C-3910-B74F-25BB-29AD9580AF98}"/>
                </a:ext>
              </a:extLst>
            </p:cNvPr>
            <p:cNvSpPr/>
            <p:nvPr/>
          </p:nvSpPr>
          <p:spPr>
            <a:xfrm>
              <a:off x="4017996" y="321213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08;p33">
              <a:extLst>
                <a:ext uri="{FF2B5EF4-FFF2-40B4-BE49-F238E27FC236}">
                  <a16:creationId xmlns:a16="http://schemas.microsoft.com/office/drawing/2014/main" id="{2744FA12-81B4-17AA-A4AC-8B028001E15A}"/>
                </a:ext>
              </a:extLst>
            </p:cNvPr>
            <p:cNvSpPr/>
            <p:nvPr/>
          </p:nvSpPr>
          <p:spPr>
            <a:xfrm>
              <a:off x="4349497" y="321213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09;p33">
              <a:extLst>
                <a:ext uri="{FF2B5EF4-FFF2-40B4-BE49-F238E27FC236}">
                  <a16:creationId xmlns:a16="http://schemas.microsoft.com/office/drawing/2014/main" id="{45102098-4100-8286-B2AD-B38178A9AF32}"/>
                </a:ext>
              </a:extLst>
            </p:cNvPr>
            <p:cNvSpPr/>
            <p:nvPr/>
          </p:nvSpPr>
          <p:spPr>
            <a:xfrm>
              <a:off x="2475369" y="36351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10;p33">
              <a:extLst>
                <a:ext uri="{FF2B5EF4-FFF2-40B4-BE49-F238E27FC236}">
                  <a16:creationId xmlns:a16="http://schemas.microsoft.com/office/drawing/2014/main" id="{0A1CFDBA-37B0-A2AD-0B81-EABA2AA54345}"/>
                </a:ext>
              </a:extLst>
            </p:cNvPr>
            <p:cNvSpPr/>
            <p:nvPr/>
          </p:nvSpPr>
          <p:spPr>
            <a:xfrm>
              <a:off x="2799236" y="36351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11;p33">
              <a:extLst>
                <a:ext uri="{FF2B5EF4-FFF2-40B4-BE49-F238E27FC236}">
                  <a16:creationId xmlns:a16="http://schemas.microsoft.com/office/drawing/2014/main" id="{097F48A0-5761-39F4-B3B3-9DFC0C9CB4A4}"/>
                </a:ext>
              </a:extLst>
            </p:cNvPr>
            <p:cNvSpPr/>
            <p:nvPr/>
          </p:nvSpPr>
          <p:spPr>
            <a:xfrm>
              <a:off x="3123103" y="36351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12;p33">
              <a:extLst>
                <a:ext uri="{FF2B5EF4-FFF2-40B4-BE49-F238E27FC236}">
                  <a16:creationId xmlns:a16="http://schemas.microsoft.com/office/drawing/2014/main" id="{DCF8542E-4DC2-668B-6458-5DCD9B33CEF1}"/>
                </a:ext>
              </a:extLst>
            </p:cNvPr>
            <p:cNvSpPr/>
            <p:nvPr/>
          </p:nvSpPr>
          <p:spPr>
            <a:xfrm>
              <a:off x="3446971" y="36351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13;p33">
              <a:extLst>
                <a:ext uri="{FF2B5EF4-FFF2-40B4-BE49-F238E27FC236}">
                  <a16:creationId xmlns:a16="http://schemas.microsoft.com/office/drawing/2014/main" id="{11874FE4-CF7D-9BE1-1966-89EF1BF1170B}"/>
                </a:ext>
              </a:extLst>
            </p:cNvPr>
            <p:cNvSpPr/>
            <p:nvPr/>
          </p:nvSpPr>
          <p:spPr>
            <a:xfrm>
              <a:off x="3778472" y="36351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14;p33">
              <a:extLst>
                <a:ext uri="{FF2B5EF4-FFF2-40B4-BE49-F238E27FC236}">
                  <a16:creationId xmlns:a16="http://schemas.microsoft.com/office/drawing/2014/main" id="{4C7DC5AF-1160-04EC-E473-8113AC858C00}"/>
                </a:ext>
              </a:extLst>
            </p:cNvPr>
            <p:cNvSpPr/>
            <p:nvPr/>
          </p:nvSpPr>
          <p:spPr>
            <a:xfrm>
              <a:off x="4906319" y="45272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15;p33">
              <a:extLst>
                <a:ext uri="{FF2B5EF4-FFF2-40B4-BE49-F238E27FC236}">
                  <a16:creationId xmlns:a16="http://schemas.microsoft.com/office/drawing/2014/main" id="{43B2DCC9-2FB2-D72A-DD1C-FEC0C20BF48D}"/>
                </a:ext>
              </a:extLst>
            </p:cNvPr>
            <p:cNvSpPr/>
            <p:nvPr/>
          </p:nvSpPr>
          <p:spPr>
            <a:xfrm>
              <a:off x="5230186" y="45272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16;p33">
              <a:extLst>
                <a:ext uri="{FF2B5EF4-FFF2-40B4-BE49-F238E27FC236}">
                  <a16:creationId xmlns:a16="http://schemas.microsoft.com/office/drawing/2014/main" id="{0B3B0732-A9BA-584B-4276-A1E3CCD7A893}"/>
                </a:ext>
              </a:extLst>
            </p:cNvPr>
            <p:cNvSpPr/>
            <p:nvPr/>
          </p:nvSpPr>
          <p:spPr>
            <a:xfrm>
              <a:off x="5554053" y="45272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17;p33">
              <a:extLst>
                <a:ext uri="{FF2B5EF4-FFF2-40B4-BE49-F238E27FC236}">
                  <a16:creationId xmlns:a16="http://schemas.microsoft.com/office/drawing/2014/main" id="{52C2D748-BBF1-2D2F-ECA0-C4B1937EB5CA}"/>
                </a:ext>
              </a:extLst>
            </p:cNvPr>
            <p:cNvSpPr/>
            <p:nvPr/>
          </p:nvSpPr>
          <p:spPr>
            <a:xfrm>
              <a:off x="5877921" y="45272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18;p33">
              <a:extLst>
                <a:ext uri="{FF2B5EF4-FFF2-40B4-BE49-F238E27FC236}">
                  <a16:creationId xmlns:a16="http://schemas.microsoft.com/office/drawing/2014/main" id="{62D09C4D-FE40-FCFF-4424-6C48261E4587}"/>
                </a:ext>
              </a:extLst>
            </p:cNvPr>
            <p:cNvSpPr/>
            <p:nvPr/>
          </p:nvSpPr>
          <p:spPr>
            <a:xfrm>
              <a:off x="6209422" y="45272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19;p33">
              <a:extLst>
                <a:ext uri="{FF2B5EF4-FFF2-40B4-BE49-F238E27FC236}">
                  <a16:creationId xmlns:a16="http://schemas.microsoft.com/office/drawing/2014/main" id="{9BBA3EFC-5414-67CE-D2F1-AED41B69A7DA}"/>
                </a:ext>
              </a:extLst>
            </p:cNvPr>
            <p:cNvSpPr/>
            <p:nvPr/>
          </p:nvSpPr>
          <p:spPr>
            <a:xfrm>
              <a:off x="5305169" y="48863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20;p33">
              <a:extLst>
                <a:ext uri="{FF2B5EF4-FFF2-40B4-BE49-F238E27FC236}">
                  <a16:creationId xmlns:a16="http://schemas.microsoft.com/office/drawing/2014/main" id="{2448A5B8-1EEB-6ACA-4C42-0572180DF8EA}"/>
                </a:ext>
              </a:extLst>
            </p:cNvPr>
            <p:cNvSpPr/>
            <p:nvPr/>
          </p:nvSpPr>
          <p:spPr>
            <a:xfrm>
              <a:off x="5629036" y="48863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21;p33">
              <a:extLst>
                <a:ext uri="{FF2B5EF4-FFF2-40B4-BE49-F238E27FC236}">
                  <a16:creationId xmlns:a16="http://schemas.microsoft.com/office/drawing/2014/main" id="{E3199122-A29F-0CCD-1DA6-88B4CB3CC674}"/>
                </a:ext>
              </a:extLst>
            </p:cNvPr>
            <p:cNvSpPr/>
            <p:nvPr/>
          </p:nvSpPr>
          <p:spPr>
            <a:xfrm>
              <a:off x="5952903" y="48863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22;p33">
              <a:extLst>
                <a:ext uri="{FF2B5EF4-FFF2-40B4-BE49-F238E27FC236}">
                  <a16:creationId xmlns:a16="http://schemas.microsoft.com/office/drawing/2014/main" id="{F8BC0ECB-7275-0B9C-3D94-9B5D1DC7732A}"/>
                </a:ext>
              </a:extLst>
            </p:cNvPr>
            <p:cNvSpPr/>
            <p:nvPr/>
          </p:nvSpPr>
          <p:spPr>
            <a:xfrm>
              <a:off x="6276771" y="48863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23;p33">
              <a:extLst>
                <a:ext uri="{FF2B5EF4-FFF2-40B4-BE49-F238E27FC236}">
                  <a16:creationId xmlns:a16="http://schemas.microsoft.com/office/drawing/2014/main" id="{1786D65C-B171-A212-D3E4-C5023E07AD1C}"/>
                </a:ext>
              </a:extLst>
            </p:cNvPr>
            <p:cNvSpPr/>
            <p:nvPr/>
          </p:nvSpPr>
          <p:spPr>
            <a:xfrm>
              <a:off x="6608272" y="48863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4;p33">
              <a:extLst>
                <a:ext uri="{FF2B5EF4-FFF2-40B4-BE49-F238E27FC236}">
                  <a16:creationId xmlns:a16="http://schemas.microsoft.com/office/drawing/2014/main" id="{35E6F462-E5D6-1D62-F2B4-30C4236FD7CC}"/>
                </a:ext>
              </a:extLst>
            </p:cNvPr>
            <p:cNvSpPr/>
            <p:nvPr/>
          </p:nvSpPr>
          <p:spPr>
            <a:xfrm>
              <a:off x="5393969" y="42120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5;p33">
              <a:extLst>
                <a:ext uri="{FF2B5EF4-FFF2-40B4-BE49-F238E27FC236}">
                  <a16:creationId xmlns:a16="http://schemas.microsoft.com/office/drawing/2014/main" id="{F8AEF689-2BAF-9DC4-8A8E-251D3F73A94B}"/>
                </a:ext>
              </a:extLst>
            </p:cNvPr>
            <p:cNvSpPr/>
            <p:nvPr/>
          </p:nvSpPr>
          <p:spPr>
            <a:xfrm>
              <a:off x="5717836" y="42120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26;p33">
              <a:extLst>
                <a:ext uri="{FF2B5EF4-FFF2-40B4-BE49-F238E27FC236}">
                  <a16:creationId xmlns:a16="http://schemas.microsoft.com/office/drawing/2014/main" id="{763CCAD1-3DB6-E737-D237-D435AED650A8}"/>
                </a:ext>
              </a:extLst>
            </p:cNvPr>
            <p:cNvSpPr/>
            <p:nvPr/>
          </p:nvSpPr>
          <p:spPr>
            <a:xfrm>
              <a:off x="6041703" y="42120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27;p33">
              <a:extLst>
                <a:ext uri="{FF2B5EF4-FFF2-40B4-BE49-F238E27FC236}">
                  <a16:creationId xmlns:a16="http://schemas.microsoft.com/office/drawing/2014/main" id="{E0CF181D-64E4-7CDD-1FC4-BEBD565F088A}"/>
                </a:ext>
              </a:extLst>
            </p:cNvPr>
            <p:cNvSpPr/>
            <p:nvPr/>
          </p:nvSpPr>
          <p:spPr>
            <a:xfrm>
              <a:off x="6365571" y="42120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8;p33">
              <a:extLst>
                <a:ext uri="{FF2B5EF4-FFF2-40B4-BE49-F238E27FC236}">
                  <a16:creationId xmlns:a16="http://schemas.microsoft.com/office/drawing/2014/main" id="{0C9393D7-D538-494C-5BDE-BEDB5F37DC74}"/>
                </a:ext>
              </a:extLst>
            </p:cNvPr>
            <p:cNvSpPr/>
            <p:nvPr/>
          </p:nvSpPr>
          <p:spPr>
            <a:xfrm>
              <a:off x="6697072" y="42120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29;p33">
              <a:extLst>
                <a:ext uri="{FF2B5EF4-FFF2-40B4-BE49-F238E27FC236}">
                  <a16:creationId xmlns:a16="http://schemas.microsoft.com/office/drawing/2014/main" id="{A1E64ED0-5048-2CD9-7882-00E33297D653}"/>
                </a:ext>
              </a:extLst>
            </p:cNvPr>
            <p:cNvSpPr/>
            <p:nvPr/>
          </p:nvSpPr>
          <p:spPr>
            <a:xfrm>
              <a:off x="7501994" y="27188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30;p33">
              <a:extLst>
                <a:ext uri="{FF2B5EF4-FFF2-40B4-BE49-F238E27FC236}">
                  <a16:creationId xmlns:a16="http://schemas.microsoft.com/office/drawing/2014/main" id="{C9E61400-B17B-53DE-0792-008FF9D861DA}"/>
                </a:ext>
              </a:extLst>
            </p:cNvPr>
            <p:cNvSpPr/>
            <p:nvPr/>
          </p:nvSpPr>
          <p:spPr>
            <a:xfrm>
              <a:off x="7825861" y="27188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1;p33">
              <a:extLst>
                <a:ext uri="{FF2B5EF4-FFF2-40B4-BE49-F238E27FC236}">
                  <a16:creationId xmlns:a16="http://schemas.microsoft.com/office/drawing/2014/main" id="{BF27F6D0-443F-E6EE-8DD4-7DF077B2B299}"/>
                </a:ext>
              </a:extLst>
            </p:cNvPr>
            <p:cNvSpPr/>
            <p:nvPr/>
          </p:nvSpPr>
          <p:spPr>
            <a:xfrm>
              <a:off x="8149728" y="27188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2;p33">
              <a:extLst>
                <a:ext uri="{FF2B5EF4-FFF2-40B4-BE49-F238E27FC236}">
                  <a16:creationId xmlns:a16="http://schemas.microsoft.com/office/drawing/2014/main" id="{4FD2C4B3-61A6-C03C-9E3E-800FBF2066B2}"/>
                </a:ext>
              </a:extLst>
            </p:cNvPr>
            <p:cNvSpPr/>
            <p:nvPr/>
          </p:nvSpPr>
          <p:spPr>
            <a:xfrm>
              <a:off x="8473596" y="27188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33;p33">
              <a:extLst>
                <a:ext uri="{FF2B5EF4-FFF2-40B4-BE49-F238E27FC236}">
                  <a16:creationId xmlns:a16="http://schemas.microsoft.com/office/drawing/2014/main" id="{E045B432-7E13-5E93-992C-0BC2B24761E7}"/>
                </a:ext>
              </a:extLst>
            </p:cNvPr>
            <p:cNvSpPr/>
            <p:nvPr/>
          </p:nvSpPr>
          <p:spPr>
            <a:xfrm>
              <a:off x="8805097" y="271880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4;p33">
              <a:extLst>
                <a:ext uri="{FF2B5EF4-FFF2-40B4-BE49-F238E27FC236}">
                  <a16:creationId xmlns:a16="http://schemas.microsoft.com/office/drawing/2014/main" id="{798676F1-A690-9D1A-FDD2-26A291F7E589}"/>
                </a:ext>
              </a:extLst>
            </p:cNvPr>
            <p:cNvSpPr/>
            <p:nvPr/>
          </p:nvSpPr>
          <p:spPr>
            <a:xfrm>
              <a:off x="7964419" y="30505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35;p33">
              <a:extLst>
                <a:ext uri="{FF2B5EF4-FFF2-40B4-BE49-F238E27FC236}">
                  <a16:creationId xmlns:a16="http://schemas.microsoft.com/office/drawing/2014/main" id="{C00CB87F-B613-B360-E243-5F3511106EED}"/>
                </a:ext>
              </a:extLst>
            </p:cNvPr>
            <p:cNvSpPr/>
            <p:nvPr/>
          </p:nvSpPr>
          <p:spPr>
            <a:xfrm>
              <a:off x="8288286" y="30505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36;p33">
              <a:extLst>
                <a:ext uri="{FF2B5EF4-FFF2-40B4-BE49-F238E27FC236}">
                  <a16:creationId xmlns:a16="http://schemas.microsoft.com/office/drawing/2014/main" id="{AEF91826-CFE6-7CA7-F9BE-3750033B17D3}"/>
                </a:ext>
              </a:extLst>
            </p:cNvPr>
            <p:cNvSpPr/>
            <p:nvPr/>
          </p:nvSpPr>
          <p:spPr>
            <a:xfrm>
              <a:off x="8612153" y="30505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37;p33">
              <a:extLst>
                <a:ext uri="{FF2B5EF4-FFF2-40B4-BE49-F238E27FC236}">
                  <a16:creationId xmlns:a16="http://schemas.microsoft.com/office/drawing/2014/main" id="{9AA752C0-0E0E-4CAF-2087-DBE36B999F09}"/>
                </a:ext>
              </a:extLst>
            </p:cNvPr>
            <p:cNvSpPr/>
            <p:nvPr/>
          </p:nvSpPr>
          <p:spPr>
            <a:xfrm>
              <a:off x="8936021" y="30505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38;p33">
              <a:extLst>
                <a:ext uri="{FF2B5EF4-FFF2-40B4-BE49-F238E27FC236}">
                  <a16:creationId xmlns:a16="http://schemas.microsoft.com/office/drawing/2014/main" id="{35AAFF22-6D94-3D9B-B243-677C5FAB7E71}"/>
                </a:ext>
              </a:extLst>
            </p:cNvPr>
            <p:cNvSpPr/>
            <p:nvPr/>
          </p:nvSpPr>
          <p:spPr>
            <a:xfrm>
              <a:off x="9267522" y="3050584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39;p33">
              <a:extLst>
                <a:ext uri="{FF2B5EF4-FFF2-40B4-BE49-F238E27FC236}">
                  <a16:creationId xmlns:a16="http://schemas.microsoft.com/office/drawing/2014/main" id="{06B61ADC-263A-64E0-F73C-1BEFB1BAE013}"/>
                </a:ext>
              </a:extLst>
            </p:cNvPr>
            <p:cNvSpPr/>
            <p:nvPr/>
          </p:nvSpPr>
          <p:spPr>
            <a:xfrm>
              <a:off x="7671619" y="338235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40;p33">
              <a:extLst>
                <a:ext uri="{FF2B5EF4-FFF2-40B4-BE49-F238E27FC236}">
                  <a16:creationId xmlns:a16="http://schemas.microsoft.com/office/drawing/2014/main" id="{731B4F1D-2B89-3A1F-2DA0-A559DA2E11E7}"/>
                </a:ext>
              </a:extLst>
            </p:cNvPr>
            <p:cNvSpPr/>
            <p:nvPr/>
          </p:nvSpPr>
          <p:spPr>
            <a:xfrm>
              <a:off x="7995486" y="338235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41;p33">
              <a:extLst>
                <a:ext uri="{FF2B5EF4-FFF2-40B4-BE49-F238E27FC236}">
                  <a16:creationId xmlns:a16="http://schemas.microsoft.com/office/drawing/2014/main" id="{1868002A-9BD5-618F-36E5-48F8F61655DF}"/>
                </a:ext>
              </a:extLst>
            </p:cNvPr>
            <p:cNvSpPr/>
            <p:nvPr/>
          </p:nvSpPr>
          <p:spPr>
            <a:xfrm>
              <a:off x="8319353" y="338235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42;p33">
              <a:extLst>
                <a:ext uri="{FF2B5EF4-FFF2-40B4-BE49-F238E27FC236}">
                  <a16:creationId xmlns:a16="http://schemas.microsoft.com/office/drawing/2014/main" id="{FAF70B48-981D-75B4-C83E-4ED71708A068}"/>
                </a:ext>
              </a:extLst>
            </p:cNvPr>
            <p:cNvSpPr/>
            <p:nvPr/>
          </p:nvSpPr>
          <p:spPr>
            <a:xfrm>
              <a:off x="8643221" y="338235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43;p33">
              <a:extLst>
                <a:ext uri="{FF2B5EF4-FFF2-40B4-BE49-F238E27FC236}">
                  <a16:creationId xmlns:a16="http://schemas.microsoft.com/office/drawing/2014/main" id="{77ACD4DB-638F-73AB-96EF-1E71C9794570}"/>
                </a:ext>
              </a:extLst>
            </p:cNvPr>
            <p:cNvSpPr/>
            <p:nvPr/>
          </p:nvSpPr>
          <p:spPr>
            <a:xfrm>
              <a:off x="8974722" y="3382359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44;p33">
              <a:extLst>
                <a:ext uri="{FF2B5EF4-FFF2-40B4-BE49-F238E27FC236}">
                  <a16:creationId xmlns:a16="http://schemas.microsoft.com/office/drawing/2014/main" id="{D50266F0-85DF-400C-671B-5F614AA51F67}"/>
                </a:ext>
              </a:extLst>
            </p:cNvPr>
            <p:cNvSpPr txBox="1"/>
            <p:nvPr/>
          </p:nvSpPr>
          <p:spPr>
            <a:xfrm>
              <a:off x="3158169" y="2444891"/>
              <a:ext cx="136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A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4" name="Google Shape;445;p33">
              <a:extLst>
                <a:ext uri="{FF2B5EF4-FFF2-40B4-BE49-F238E27FC236}">
                  <a16:creationId xmlns:a16="http://schemas.microsoft.com/office/drawing/2014/main" id="{4D68E2B3-C658-07F2-3B58-2538BBE6EA9C}"/>
                </a:ext>
              </a:extLst>
            </p:cNvPr>
            <p:cNvSpPr txBox="1"/>
            <p:nvPr/>
          </p:nvSpPr>
          <p:spPr>
            <a:xfrm>
              <a:off x="5456994" y="3734116"/>
              <a:ext cx="136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5" name="Google Shape;446;p33">
              <a:extLst>
                <a:ext uri="{FF2B5EF4-FFF2-40B4-BE49-F238E27FC236}">
                  <a16:creationId xmlns:a16="http://schemas.microsoft.com/office/drawing/2014/main" id="{9FB79BA5-80B8-287A-CC19-346975500E99}"/>
                </a:ext>
              </a:extLst>
            </p:cNvPr>
            <p:cNvSpPr txBox="1"/>
            <p:nvPr/>
          </p:nvSpPr>
          <p:spPr>
            <a:xfrm>
              <a:off x="7783394" y="2318616"/>
              <a:ext cx="136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C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83CB986-34AD-C616-D201-5400F42DFE2C}"/>
              </a:ext>
            </a:extLst>
          </p:cNvPr>
          <p:cNvSpPr txBox="1"/>
          <p:nvPr/>
        </p:nvSpPr>
        <p:spPr>
          <a:xfrm>
            <a:off x="2319130" y="5974810"/>
            <a:ext cx="7593495" cy="88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1800" dirty="0"/>
              <a:t>Statistical models allow genomes to be clustered, despite not being identical – finds the most likely groupings.</a:t>
            </a:r>
          </a:p>
        </p:txBody>
      </p:sp>
    </p:spTree>
    <p:extLst>
      <p:ext uri="{BB962C8B-B14F-4D97-AF65-F5344CB8AC3E}">
        <p14:creationId xmlns:p14="http://schemas.microsoft.com/office/powerpoint/2010/main" val="3077291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8;p33">
            <a:extLst>
              <a:ext uri="{FF2B5EF4-FFF2-40B4-BE49-F238E27FC236}">
                <a16:creationId xmlns:a16="http://schemas.microsoft.com/office/drawing/2014/main" id="{76274178-6E91-955E-D090-CC073C3F6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based clustering</a:t>
            </a:r>
            <a:endParaRPr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BA042DF-8008-8182-E70F-E81F5FCEC3B9}"/>
              </a:ext>
            </a:extLst>
          </p:cNvPr>
          <p:cNvGrpSpPr/>
          <p:nvPr/>
        </p:nvGrpSpPr>
        <p:grpSpPr>
          <a:xfrm>
            <a:off x="1372035" y="980670"/>
            <a:ext cx="9418503" cy="4944574"/>
            <a:chOff x="1955131" y="1968795"/>
            <a:chExt cx="8217850" cy="4314249"/>
          </a:xfrm>
        </p:grpSpPr>
        <p:grpSp>
          <p:nvGrpSpPr>
            <p:cNvPr id="3" name="Google Shape;452;p34">
              <a:extLst>
                <a:ext uri="{FF2B5EF4-FFF2-40B4-BE49-F238E27FC236}">
                  <a16:creationId xmlns:a16="http://schemas.microsoft.com/office/drawing/2014/main" id="{1B57BBCC-F7AE-B68D-C788-CC95D7D86794}"/>
                </a:ext>
              </a:extLst>
            </p:cNvPr>
            <p:cNvGrpSpPr/>
            <p:nvPr/>
          </p:nvGrpSpPr>
          <p:grpSpPr>
            <a:xfrm>
              <a:off x="7044281" y="2321294"/>
              <a:ext cx="1757075" cy="2062650"/>
              <a:chOff x="5447050" y="478049"/>
              <a:chExt cx="1757075" cy="2062650"/>
            </a:xfrm>
          </p:grpSpPr>
          <p:pic>
            <p:nvPicPr>
              <p:cNvPr id="5" name="Google Shape;453;p34">
                <a:extLst>
                  <a:ext uri="{FF2B5EF4-FFF2-40B4-BE49-F238E27FC236}">
                    <a16:creationId xmlns:a16="http://schemas.microsoft.com/office/drawing/2014/main" id="{54CA5DC7-2A32-1436-367E-387C6A6DC715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5447050" y="478049"/>
                <a:ext cx="1757075" cy="2062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454;p34">
                <a:extLst>
                  <a:ext uri="{FF2B5EF4-FFF2-40B4-BE49-F238E27FC236}">
                    <a16:creationId xmlns:a16="http://schemas.microsoft.com/office/drawing/2014/main" id="{24FBE266-8F8E-9228-6CBE-A31602485370}"/>
                  </a:ext>
                </a:extLst>
              </p:cNvPr>
              <p:cNvSpPr/>
              <p:nvPr/>
            </p:nvSpPr>
            <p:spPr>
              <a:xfrm>
                <a:off x="5894523" y="1417807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6AA84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455;p34">
                <a:extLst>
                  <a:ext uri="{FF2B5EF4-FFF2-40B4-BE49-F238E27FC236}">
                    <a16:creationId xmlns:a16="http://schemas.microsoft.com/office/drawing/2014/main" id="{F52E7A65-5525-B791-2327-ABCE2EE5F56D}"/>
                  </a:ext>
                </a:extLst>
              </p:cNvPr>
              <p:cNvSpPr/>
              <p:nvPr/>
            </p:nvSpPr>
            <p:spPr>
              <a:xfrm>
                <a:off x="5977695" y="1694088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456;p34">
                <a:extLst>
                  <a:ext uri="{FF2B5EF4-FFF2-40B4-BE49-F238E27FC236}">
                    <a16:creationId xmlns:a16="http://schemas.microsoft.com/office/drawing/2014/main" id="{F8DC0E56-0919-D852-D7A9-23261153933C}"/>
                  </a:ext>
                </a:extLst>
              </p:cNvPr>
              <p:cNvSpPr/>
              <p:nvPr/>
            </p:nvSpPr>
            <p:spPr>
              <a:xfrm>
                <a:off x="6280470" y="1339875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457;p34">
                <a:extLst>
                  <a:ext uri="{FF2B5EF4-FFF2-40B4-BE49-F238E27FC236}">
                    <a16:creationId xmlns:a16="http://schemas.microsoft.com/office/drawing/2014/main" id="{68903900-29A0-3A53-CBA2-68946F71C75C}"/>
                  </a:ext>
                </a:extLst>
              </p:cNvPr>
              <p:cNvSpPr/>
              <p:nvPr/>
            </p:nvSpPr>
            <p:spPr>
              <a:xfrm>
                <a:off x="6455731" y="1600939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E6913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458;p34">
                <a:extLst>
                  <a:ext uri="{FF2B5EF4-FFF2-40B4-BE49-F238E27FC236}">
                    <a16:creationId xmlns:a16="http://schemas.microsoft.com/office/drawing/2014/main" id="{D8028A33-A093-D52D-023C-7E9CE599A12A}"/>
                  </a:ext>
                </a:extLst>
              </p:cNvPr>
              <p:cNvSpPr/>
              <p:nvPr/>
            </p:nvSpPr>
            <p:spPr>
              <a:xfrm>
                <a:off x="6280464" y="2005814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E6913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459;p34">
              <a:extLst>
                <a:ext uri="{FF2B5EF4-FFF2-40B4-BE49-F238E27FC236}">
                  <a16:creationId xmlns:a16="http://schemas.microsoft.com/office/drawing/2014/main" id="{7F38DB67-906B-729B-E4F9-5A34ECB0F0FE}"/>
                </a:ext>
              </a:extLst>
            </p:cNvPr>
            <p:cNvGrpSpPr/>
            <p:nvPr/>
          </p:nvGrpSpPr>
          <p:grpSpPr>
            <a:xfrm>
              <a:off x="5634906" y="4220394"/>
              <a:ext cx="1757075" cy="2062650"/>
              <a:chOff x="4137450" y="2386299"/>
              <a:chExt cx="1757075" cy="2062650"/>
            </a:xfrm>
          </p:grpSpPr>
          <p:pic>
            <p:nvPicPr>
              <p:cNvPr id="62" name="Google Shape;460;p34">
                <a:extLst>
                  <a:ext uri="{FF2B5EF4-FFF2-40B4-BE49-F238E27FC236}">
                    <a16:creationId xmlns:a16="http://schemas.microsoft.com/office/drawing/2014/main" id="{E2886794-525C-D83D-9E63-E0127F3741CB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37450" y="2386299"/>
                <a:ext cx="1757075" cy="2062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" name="Google Shape;461;p34">
                <a:extLst>
                  <a:ext uri="{FF2B5EF4-FFF2-40B4-BE49-F238E27FC236}">
                    <a16:creationId xmlns:a16="http://schemas.microsoft.com/office/drawing/2014/main" id="{F6FA92AF-5F2E-6ED7-C2B8-AEA1C3AE3EDE}"/>
                  </a:ext>
                </a:extLst>
              </p:cNvPr>
              <p:cNvSpPr/>
              <p:nvPr/>
            </p:nvSpPr>
            <p:spPr>
              <a:xfrm>
                <a:off x="4584923" y="3326057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6AA84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462;p34">
                <a:extLst>
                  <a:ext uri="{FF2B5EF4-FFF2-40B4-BE49-F238E27FC236}">
                    <a16:creationId xmlns:a16="http://schemas.microsoft.com/office/drawing/2014/main" id="{585EE2C4-DF88-1B86-C5C6-5DC68A4E619D}"/>
                  </a:ext>
                </a:extLst>
              </p:cNvPr>
              <p:cNvSpPr/>
              <p:nvPr/>
            </p:nvSpPr>
            <p:spPr>
              <a:xfrm>
                <a:off x="4668095" y="3602338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463;p34">
                <a:extLst>
                  <a:ext uri="{FF2B5EF4-FFF2-40B4-BE49-F238E27FC236}">
                    <a16:creationId xmlns:a16="http://schemas.microsoft.com/office/drawing/2014/main" id="{4148A633-BE71-40E8-641F-0DF4A989B346}"/>
                  </a:ext>
                </a:extLst>
              </p:cNvPr>
              <p:cNvSpPr/>
              <p:nvPr/>
            </p:nvSpPr>
            <p:spPr>
              <a:xfrm>
                <a:off x="4970870" y="3248125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F1C23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464;p34">
                <a:extLst>
                  <a:ext uri="{FF2B5EF4-FFF2-40B4-BE49-F238E27FC236}">
                    <a16:creationId xmlns:a16="http://schemas.microsoft.com/office/drawing/2014/main" id="{165B3A09-3B35-8D11-A48C-7241942B2361}"/>
                  </a:ext>
                </a:extLst>
              </p:cNvPr>
              <p:cNvSpPr/>
              <p:nvPr/>
            </p:nvSpPr>
            <p:spPr>
              <a:xfrm>
                <a:off x="5146131" y="3509189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E6913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465;p34">
                <a:extLst>
                  <a:ext uri="{FF2B5EF4-FFF2-40B4-BE49-F238E27FC236}">
                    <a16:creationId xmlns:a16="http://schemas.microsoft.com/office/drawing/2014/main" id="{FE11C710-E1A0-07CE-FEBC-13E9805B2043}"/>
                  </a:ext>
                </a:extLst>
              </p:cNvPr>
              <p:cNvSpPr/>
              <p:nvPr/>
            </p:nvSpPr>
            <p:spPr>
              <a:xfrm>
                <a:off x="4970864" y="3914064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E6913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466;p34">
              <a:extLst>
                <a:ext uri="{FF2B5EF4-FFF2-40B4-BE49-F238E27FC236}">
                  <a16:creationId xmlns:a16="http://schemas.microsoft.com/office/drawing/2014/main" id="{91B9CB37-F224-04DB-61B0-93A840437D2A}"/>
                </a:ext>
              </a:extLst>
            </p:cNvPr>
            <p:cNvGrpSpPr/>
            <p:nvPr/>
          </p:nvGrpSpPr>
          <p:grpSpPr>
            <a:xfrm>
              <a:off x="8415906" y="4145019"/>
              <a:ext cx="1757075" cy="2062650"/>
              <a:chOff x="6234775" y="2308124"/>
              <a:chExt cx="1757075" cy="2062650"/>
            </a:xfrm>
          </p:grpSpPr>
          <p:pic>
            <p:nvPicPr>
              <p:cNvPr id="69" name="Google Shape;467;p34">
                <a:extLst>
                  <a:ext uri="{FF2B5EF4-FFF2-40B4-BE49-F238E27FC236}">
                    <a16:creationId xmlns:a16="http://schemas.microsoft.com/office/drawing/2014/main" id="{75289A01-8860-D8D5-FA00-1C0ED6FA35A9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234775" y="2308124"/>
                <a:ext cx="1757075" cy="2062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468;p34">
                <a:extLst>
                  <a:ext uri="{FF2B5EF4-FFF2-40B4-BE49-F238E27FC236}">
                    <a16:creationId xmlns:a16="http://schemas.microsoft.com/office/drawing/2014/main" id="{A773A911-A520-4F1A-90B5-F6A3A18ABFD2}"/>
                  </a:ext>
                </a:extLst>
              </p:cNvPr>
              <p:cNvSpPr/>
              <p:nvPr/>
            </p:nvSpPr>
            <p:spPr>
              <a:xfrm>
                <a:off x="6682248" y="3247882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6AA84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469;p34">
                <a:extLst>
                  <a:ext uri="{FF2B5EF4-FFF2-40B4-BE49-F238E27FC236}">
                    <a16:creationId xmlns:a16="http://schemas.microsoft.com/office/drawing/2014/main" id="{DB126C11-16DE-D090-209B-C36C9D42A7D0}"/>
                  </a:ext>
                </a:extLst>
              </p:cNvPr>
              <p:cNvSpPr/>
              <p:nvPr/>
            </p:nvSpPr>
            <p:spPr>
              <a:xfrm>
                <a:off x="6765420" y="3524163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674EA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470;p34">
                <a:extLst>
                  <a:ext uri="{FF2B5EF4-FFF2-40B4-BE49-F238E27FC236}">
                    <a16:creationId xmlns:a16="http://schemas.microsoft.com/office/drawing/2014/main" id="{C8F90081-52E8-E1A0-ED4D-A6A44D2A17D6}"/>
                  </a:ext>
                </a:extLst>
              </p:cNvPr>
              <p:cNvSpPr/>
              <p:nvPr/>
            </p:nvSpPr>
            <p:spPr>
              <a:xfrm>
                <a:off x="7068195" y="3169950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471;p34">
                <a:extLst>
                  <a:ext uri="{FF2B5EF4-FFF2-40B4-BE49-F238E27FC236}">
                    <a16:creationId xmlns:a16="http://schemas.microsoft.com/office/drawing/2014/main" id="{ADCB5F07-6CA9-9C9C-781F-22D55330CE9D}"/>
                  </a:ext>
                </a:extLst>
              </p:cNvPr>
              <p:cNvSpPr/>
              <p:nvPr/>
            </p:nvSpPr>
            <p:spPr>
              <a:xfrm>
                <a:off x="7243456" y="3431014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674EA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472;p34">
                <a:extLst>
                  <a:ext uri="{FF2B5EF4-FFF2-40B4-BE49-F238E27FC236}">
                    <a16:creationId xmlns:a16="http://schemas.microsoft.com/office/drawing/2014/main" id="{082F41BD-8946-CCFE-1D55-95E99A71BF3F}"/>
                  </a:ext>
                </a:extLst>
              </p:cNvPr>
              <p:cNvSpPr/>
              <p:nvPr/>
            </p:nvSpPr>
            <p:spPr>
              <a:xfrm>
                <a:off x="7068189" y="3835889"/>
                <a:ext cx="261000" cy="183000"/>
              </a:xfrm>
              <a:prstGeom prst="roundRect">
                <a:avLst>
                  <a:gd name="adj" fmla="val 16667"/>
                </a:avLst>
              </a:prstGeom>
              <a:solidFill>
                <a:srgbClr val="E6913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" name="Google Shape;473;p34">
              <a:extLst>
                <a:ext uri="{FF2B5EF4-FFF2-40B4-BE49-F238E27FC236}">
                  <a16:creationId xmlns:a16="http://schemas.microsoft.com/office/drawing/2014/main" id="{81D7366B-FFC0-A99A-3727-2A966CEF4D7C}"/>
                </a:ext>
              </a:extLst>
            </p:cNvPr>
            <p:cNvSpPr txBox="1"/>
            <p:nvPr/>
          </p:nvSpPr>
          <p:spPr>
            <a:xfrm>
              <a:off x="7297169" y="1968795"/>
              <a:ext cx="1251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A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6" name="Google Shape;474;p34">
              <a:extLst>
                <a:ext uri="{FF2B5EF4-FFF2-40B4-BE49-F238E27FC236}">
                  <a16:creationId xmlns:a16="http://schemas.microsoft.com/office/drawing/2014/main" id="{72B11DC9-E462-6D56-9655-1330DEF324EB}"/>
                </a:ext>
              </a:extLst>
            </p:cNvPr>
            <p:cNvSpPr txBox="1"/>
            <p:nvPr/>
          </p:nvSpPr>
          <p:spPr>
            <a:xfrm>
              <a:off x="5916469" y="3900745"/>
              <a:ext cx="136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B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7" name="Google Shape;475;p34">
              <a:extLst>
                <a:ext uri="{FF2B5EF4-FFF2-40B4-BE49-F238E27FC236}">
                  <a16:creationId xmlns:a16="http://schemas.microsoft.com/office/drawing/2014/main" id="{9CB4FF8C-57FD-D8DE-CDB5-60F32B9DB117}"/>
                </a:ext>
              </a:extLst>
            </p:cNvPr>
            <p:cNvSpPr txBox="1"/>
            <p:nvPr/>
          </p:nvSpPr>
          <p:spPr>
            <a:xfrm>
              <a:off x="8630531" y="3808120"/>
              <a:ext cx="136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population C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8" name="Google Shape;476;p34">
              <a:extLst>
                <a:ext uri="{FF2B5EF4-FFF2-40B4-BE49-F238E27FC236}">
                  <a16:creationId xmlns:a16="http://schemas.microsoft.com/office/drawing/2014/main" id="{C161D619-E6A6-4356-CD82-69195952A3C9}"/>
                </a:ext>
              </a:extLst>
            </p:cNvPr>
            <p:cNvSpPr/>
            <p:nvPr/>
          </p:nvSpPr>
          <p:spPr>
            <a:xfrm>
              <a:off x="1955131" y="453056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77;p34">
              <a:extLst>
                <a:ext uri="{FF2B5EF4-FFF2-40B4-BE49-F238E27FC236}">
                  <a16:creationId xmlns:a16="http://schemas.microsoft.com/office/drawing/2014/main" id="{1652D43B-6D37-E708-8144-AD0EE65C36B4}"/>
                </a:ext>
              </a:extLst>
            </p:cNvPr>
            <p:cNvSpPr/>
            <p:nvPr/>
          </p:nvSpPr>
          <p:spPr>
            <a:xfrm>
              <a:off x="2278998" y="453056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78;p34">
              <a:extLst>
                <a:ext uri="{FF2B5EF4-FFF2-40B4-BE49-F238E27FC236}">
                  <a16:creationId xmlns:a16="http://schemas.microsoft.com/office/drawing/2014/main" id="{70372D5B-118C-6442-C4C6-FE98B8400AC2}"/>
                </a:ext>
              </a:extLst>
            </p:cNvPr>
            <p:cNvSpPr/>
            <p:nvPr/>
          </p:nvSpPr>
          <p:spPr>
            <a:xfrm>
              <a:off x="2602865" y="453056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79;p34">
              <a:extLst>
                <a:ext uri="{FF2B5EF4-FFF2-40B4-BE49-F238E27FC236}">
                  <a16:creationId xmlns:a16="http://schemas.microsoft.com/office/drawing/2014/main" id="{614F4D20-C8E7-F0AE-C491-8D3F0D393394}"/>
                </a:ext>
              </a:extLst>
            </p:cNvPr>
            <p:cNvSpPr/>
            <p:nvPr/>
          </p:nvSpPr>
          <p:spPr>
            <a:xfrm>
              <a:off x="2926733" y="453056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80;p34">
              <a:extLst>
                <a:ext uri="{FF2B5EF4-FFF2-40B4-BE49-F238E27FC236}">
                  <a16:creationId xmlns:a16="http://schemas.microsoft.com/office/drawing/2014/main" id="{EC266786-71D3-85D4-BF00-960021C86916}"/>
                </a:ext>
              </a:extLst>
            </p:cNvPr>
            <p:cNvSpPr/>
            <p:nvPr/>
          </p:nvSpPr>
          <p:spPr>
            <a:xfrm>
              <a:off x="3258234" y="453056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81;p34">
              <a:extLst>
                <a:ext uri="{FF2B5EF4-FFF2-40B4-BE49-F238E27FC236}">
                  <a16:creationId xmlns:a16="http://schemas.microsoft.com/office/drawing/2014/main" id="{F74F17E3-E81A-B626-058D-81340AC94964}"/>
                </a:ext>
              </a:extLst>
            </p:cNvPr>
            <p:cNvSpPr/>
            <p:nvPr/>
          </p:nvSpPr>
          <p:spPr>
            <a:xfrm>
              <a:off x="2512031" y="389921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82;p34">
              <a:extLst>
                <a:ext uri="{FF2B5EF4-FFF2-40B4-BE49-F238E27FC236}">
                  <a16:creationId xmlns:a16="http://schemas.microsoft.com/office/drawing/2014/main" id="{5DE9CC41-EAF0-D0D5-9BBC-F960C15BAF1A}"/>
                </a:ext>
              </a:extLst>
            </p:cNvPr>
            <p:cNvSpPr/>
            <p:nvPr/>
          </p:nvSpPr>
          <p:spPr>
            <a:xfrm>
              <a:off x="2835898" y="389921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83;p34">
              <a:extLst>
                <a:ext uri="{FF2B5EF4-FFF2-40B4-BE49-F238E27FC236}">
                  <a16:creationId xmlns:a16="http://schemas.microsoft.com/office/drawing/2014/main" id="{F108D6FF-1A0E-D5A9-5D57-99EF5458B3BB}"/>
                </a:ext>
              </a:extLst>
            </p:cNvPr>
            <p:cNvSpPr/>
            <p:nvPr/>
          </p:nvSpPr>
          <p:spPr>
            <a:xfrm>
              <a:off x="3159765" y="389921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84;p34">
              <a:extLst>
                <a:ext uri="{FF2B5EF4-FFF2-40B4-BE49-F238E27FC236}">
                  <a16:creationId xmlns:a16="http://schemas.microsoft.com/office/drawing/2014/main" id="{A6E37FC4-F33D-88BA-8939-D7F6D74CDFC2}"/>
                </a:ext>
              </a:extLst>
            </p:cNvPr>
            <p:cNvSpPr/>
            <p:nvPr/>
          </p:nvSpPr>
          <p:spPr>
            <a:xfrm>
              <a:off x="3483633" y="389921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85;p34">
              <a:extLst>
                <a:ext uri="{FF2B5EF4-FFF2-40B4-BE49-F238E27FC236}">
                  <a16:creationId xmlns:a16="http://schemas.microsoft.com/office/drawing/2014/main" id="{E1FD84A6-97E5-9ED2-F523-693CCA4DA3CF}"/>
                </a:ext>
              </a:extLst>
            </p:cNvPr>
            <p:cNvSpPr/>
            <p:nvPr/>
          </p:nvSpPr>
          <p:spPr>
            <a:xfrm>
              <a:off x="3815134" y="3899213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86;p34">
              <a:extLst>
                <a:ext uri="{FF2B5EF4-FFF2-40B4-BE49-F238E27FC236}">
                  <a16:creationId xmlns:a16="http://schemas.microsoft.com/office/drawing/2014/main" id="{0FDF3523-ECC6-CC9F-2D3A-FE0E372B2210}"/>
                </a:ext>
              </a:extLst>
            </p:cNvPr>
            <p:cNvSpPr/>
            <p:nvPr/>
          </p:nvSpPr>
          <p:spPr>
            <a:xfrm>
              <a:off x="2117056" y="34226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87;p34">
              <a:extLst>
                <a:ext uri="{FF2B5EF4-FFF2-40B4-BE49-F238E27FC236}">
                  <a16:creationId xmlns:a16="http://schemas.microsoft.com/office/drawing/2014/main" id="{0B15106C-CA31-BB07-8D5E-5F02EF6C14D6}"/>
                </a:ext>
              </a:extLst>
            </p:cNvPr>
            <p:cNvSpPr/>
            <p:nvPr/>
          </p:nvSpPr>
          <p:spPr>
            <a:xfrm>
              <a:off x="2440923" y="34226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88;p34">
              <a:extLst>
                <a:ext uri="{FF2B5EF4-FFF2-40B4-BE49-F238E27FC236}">
                  <a16:creationId xmlns:a16="http://schemas.microsoft.com/office/drawing/2014/main" id="{87B474D5-1E94-AA04-564D-6F93DF58A537}"/>
                </a:ext>
              </a:extLst>
            </p:cNvPr>
            <p:cNvSpPr/>
            <p:nvPr/>
          </p:nvSpPr>
          <p:spPr>
            <a:xfrm>
              <a:off x="2764790" y="34226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89;p34">
              <a:extLst>
                <a:ext uri="{FF2B5EF4-FFF2-40B4-BE49-F238E27FC236}">
                  <a16:creationId xmlns:a16="http://schemas.microsoft.com/office/drawing/2014/main" id="{BDAA310E-88A5-F4FA-61C1-6F2E6ACD7B59}"/>
                </a:ext>
              </a:extLst>
            </p:cNvPr>
            <p:cNvSpPr/>
            <p:nvPr/>
          </p:nvSpPr>
          <p:spPr>
            <a:xfrm>
              <a:off x="3088658" y="34226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90;p34">
              <a:extLst>
                <a:ext uri="{FF2B5EF4-FFF2-40B4-BE49-F238E27FC236}">
                  <a16:creationId xmlns:a16="http://schemas.microsoft.com/office/drawing/2014/main" id="{540C4EAB-4963-1FA7-97B2-998A354B7FA3}"/>
                </a:ext>
              </a:extLst>
            </p:cNvPr>
            <p:cNvSpPr txBox="1"/>
            <p:nvPr/>
          </p:nvSpPr>
          <p:spPr>
            <a:xfrm>
              <a:off x="1989456" y="2520195"/>
              <a:ext cx="693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Allocate genomes to populations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3" name="Google Shape;491;p34">
              <a:extLst>
                <a:ext uri="{FF2B5EF4-FFF2-40B4-BE49-F238E27FC236}">
                  <a16:creationId xmlns:a16="http://schemas.microsoft.com/office/drawing/2014/main" id="{63C68C71-04B0-19A9-183A-172722CEB57D}"/>
                </a:ext>
              </a:extLst>
            </p:cNvPr>
            <p:cNvSpPr/>
            <p:nvPr/>
          </p:nvSpPr>
          <p:spPr>
            <a:xfrm>
              <a:off x="2515856" y="50220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AA84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92;p34">
              <a:extLst>
                <a:ext uri="{FF2B5EF4-FFF2-40B4-BE49-F238E27FC236}">
                  <a16:creationId xmlns:a16="http://schemas.microsoft.com/office/drawing/2014/main" id="{DD9A4BD0-5D6D-EBF9-EB06-DE55BF0C2122}"/>
                </a:ext>
              </a:extLst>
            </p:cNvPr>
            <p:cNvSpPr/>
            <p:nvPr/>
          </p:nvSpPr>
          <p:spPr>
            <a:xfrm>
              <a:off x="2839723" y="50220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93;p34">
              <a:extLst>
                <a:ext uri="{FF2B5EF4-FFF2-40B4-BE49-F238E27FC236}">
                  <a16:creationId xmlns:a16="http://schemas.microsoft.com/office/drawing/2014/main" id="{75471DC5-24D2-B19D-4F18-135051A26841}"/>
                </a:ext>
              </a:extLst>
            </p:cNvPr>
            <p:cNvSpPr/>
            <p:nvPr/>
          </p:nvSpPr>
          <p:spPr>
            <a:xfrm>
              <a:off x="3163590" y="50220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94;p34">
              <a:extLst>
                <a:ext uri="{FF2B5EF4-FFF2-40B4-BE49-F238E27FC236}">
                  <a16:creationId xmlns:a16="http://schemas.microsoft.com/office/drawing/2014/main" id="{2818030C-4F41-0D74-836E-FBA44F2BEBF8}"/>
                </a:ext>
              </a:extLst>
            </p:cNvPr>
            <p:cNvSpPr/>
            <p:nvPr/>
          </p:nvSpPr>
          <p:spPr>
            <a:xfrm>
              <a:off x="3487458" y="5022038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E6913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95;p34">
              <a:extLst>
                <a:ext uri="{FF2B5EF4-FFF2-40B4-BE49-F238E27FC236}">
                  <a16:creationId xmlns:a16="http://schemas.microsoft.com/office/drawing/2014/main" id="{1D5B527A-29A3-6731-B592-3C85FA8235D2}"/>
                </a:ext>
              </a:extLst>
            </p:cNvPr>
            <p:cNvSpPr/>
            <p:nvPr/>
          </p:nvSpPr>
          <p:spPr>
            <a:xfrm>
              <a:off x="4727556" y="3274495"/>
              <a:ext cx="1951800" cy="945900"/>
            </a:xfrm>
            <a:prstGeom prst="uturnArrow">
              <a:avLst>
                <a:gd name="adj1" fmla="val 25000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96;p34">
              <a:extLst>
                <a:ext uri="{FF2B5EF4-FFF2-40B4-BE49-F238E27FC236}">
                  <a16:creationId xmlns:a16="http://schemas.microsoft.com/office/drawing/2014/main" id="{315C8733-9A35-80EB-BCD7-6AE99913FF79}"/>
                </a:ext>
              </a:extLst>
            </p:cNvPr>
            <p:cNvSpPr/>
            <p:nvPr/>
          </p:nvSpPr>
          <p:spPr>
            <a:xfrm>
              <a:off x="3422298" y="3422625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97;p34">
              <a:extLst>
                <a:ext uri="{FF2B5EF4-FFF2-40B4-BE49-F238E27FC236}">
                  <a16:creationId xmlns:a16="http://schemas.microsoft.com/office/drawing/2014/main" id="{B671B896-2874-0862-B457-7966BD76E66A}"/>
                </a:ext>
              </a:extLst>
            </p:cNvPr>
            <p:cNvSpPr/>
            <p:nvPr/>
          </p:nvSpPr>
          <p:spPr>
            <a:xfrm>
              <a:off x="3815123" y="5022050"/>
              <a:ext cx="292800" cy="205500"/>
            </a:xfrm>
            <a:prstGeom prst="roundRect">
              <a:avLst>
                <a:gd name="adj" fmla="val 16667"/>
              </a:avLst>
            </a:prstGeom>
            <a:solidFill>
              <a:srgbClr val="674EA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76EBDCA9-ED26-E7AB-4C20-2C485D4C298D}"/>
              </a:ext>
            </a:extLst>
          </p:cNvPr>
          <p:cNvSpPr txBox="1"/>
          <p:nvPr/>
        </p:nvSpPr>
        <p:spPr>
          <a:xfrm>
            <a:off x="2319130" y="5974810"/>
            <a:ext cx="7593495" cy="88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1800" dirty="0"/>
              <a:t>Statistical models allow genomes to be clustered, despite not being identical – finds the most likely groupings.</a:t>
            </a:r>
          </a:p>
        </p:txBody>
      </p:sp>
    </p:spTree>
    <p:extLst>
      <p:ext uri="{BB962C8B-B14F-4D97-AF65-F5344CB8AC3E}">
        <p14:creationId xmlns:p14="http://schemas.microsoft.com/office/powerpoint/2010/main" val="1531497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2;p35">
            <a:extLst>
              <a:ext uri="{FF2B5EF4-FFF2-40B4-BE49-F238E27FC236}">
                <a16:creationId xmlns:a16="http://schemas.microsoft.com/office/drawing/2014/main" id="{972669F1-8F39-A650-869E-205B0BF2B0C0}"/>
              </a:ext>
            </a:extLst>
          </p:cNvPr>
          <p:cNvSpPr txBox="1">
            <a:spLocks/>
          </p:cNvSpPr>
          <p:nvPr/>
        </p:nvSpPr>
        <p:spPr>
          <a:xfrm>
            <a:off x="852411" y="0"/>
            <a:ext cx="7571700" cy="15938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dirty="0"/>
              <a:t>Bayesian Hierarchical Clusters (</a:t>
            </a:r>
            <a:r>
              <a:rPr lang="en-GB" dirty="0" err="1"/>
              <a:t>hierBAPS</a:t>
            </a:r>
            <a:r>
              <a:rPr lang="en-GB" dirty="0"/>
              <a:t>, </a:t>
            </a:r>
            <a:r>
              <a:rPr lang="en-GB" dirty="0" err="1"/>
              <a:t>rHierBAPS</a:t>
            </a:r>
            <a:r>
              <a:rPr lang="en-GB" dirty="0"/>
              <a:t>, </a:t>
            </a:r>
            <a:r>
              <a:rPr lang="en-GB" dirty="0" err="1"/>
              <a:t>fastbaps</a:t>
            </a:r>
            <a:r>
              <a:rPr lang="en-GB" dirty="0"/>
              <a:t>)</a:t>
            </a:r>
          </a:p>
        </p:txBody>
      </p:sp>
      <p:sp>
        <p:nvSpPr>
          <p:cNvPr id="4" name="Google Shape;503;p35">
            <a:extLst>
              <a:ext uri="{FF2B5EF4-FFF2-40B4-BE49-F238E27FC236}">
                <a16:creationId xmlns:a16="http://schemas.microsoft.com/office/drawing/2014/main" id="{DD1A0F30-A34C-6204-0A4A-10429D5E9A90}"/>
              </a:ext>
            </a:extLst>
          </p:cNvPr>
          <p:cNvSpPr txBox="1">
            <a:spLocks/>
          </p:cNvSpPr>
          <p:nvPr/>
        </p:nvSpPr>
        <p:spPr>
          <a:xfrm>
            <a:off x="1713421" y="2668063"/>
            <a:ext cx="7589605" cy="260630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8150" indent="-342900">
              <a:lnSpc>
                <a:spcPct val="150000"/>
              </a:lnSpc>
              <a:spcBef>
                <a:spcPts val="600"/>
              </a:spcBef>
              <a:buSzPts val="2100"/>
            </a:pPr>
            <a:r>
              <a:rPr lang="en-GB" sz="2400" dirty="0"/>
              <a:t>Assumes each genome comes from a single population (bucket)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</a:pPr>
            <a:r>
              <a:rPr lang="en-GB" sz="2400" dirty="0"/>
              <a:t>Merges the closest two genomes if it increases the </a:t>
            </a:r>
            <a:r>
              <a:rPr lang="en-GB" sz="2400" b="1" dirty="0"/>
              <a:t>likelihood</a:t>
            </a:r>
            <a:r>
              <a:rPr lang="en-GB" sz="2400" dirty="0"/>
              <a:t> of the model</a:t>
            </a:r>
          </a:p>
        </p:txBody>
      </p:sp>
    </p:spTree>
    <p:extLst>
      <p:ext uri="{BB962C8B-B14F-4D97-AF65-F5344CB8AC3E}">
        <p14:creationId xmlns:p14="http://schemas.microsoft.com/office/powerpoint/2010/main" val="244134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2;p35">
            <a:extLst>
              <a:ext uri="{FF2B5EF4-FFF2-40B4-BE49-F238E27FC236}">
                <a16:creationId xmlns:a16="http://schemas.microsoft.com/office/drawing/2014/main" id="{972669F1-8F39-A650-869E-205B0BF2B0C0}"/>
              </a:ext>
            </a:extLst>
          </p:cNvPr>
          <p:cNvSpPr txBox="1">
            <a:spLocks/>
          </p:cNvSpPr>
          <p:nvPr/>
        </p:nvSpPr>
        <p:spPr>
          <a:xfrm>
            <a:off x="852411" y="0"/>
            <a:ext cx="7571700" cy="15938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dirty="0"/>
              <a:t>Bayesian Hierarchical Clusters (</a:t>
            </a:r>
            <a:r>
              <a:rPr lang="en-GB" dirty="0" err="1"/>
              <a:t>hierBAPS</a:t>
            </a:r>
            <a:r>
              <a:rPr lang="en-GB" dirty="0"/>
              <a:t>, </a:t>
            </a:r>
            <a:r>
              <a:rPr lang="en-GB" dirty="0" err="1"/>
              <a:t>rHierBAPS</a:t>
            </a:r>
            <a:r>
              <a:rPr lang="en-GB" dirty="0"/>
              <a:t>, </a:t>
            </a:r>
            <a:r>
              <a:rPr lang="en-GB" dirty="0" err="1"/>
              <a:t>fastbaps</a:t>
            </a:r>
            <a:r>
              <a:rPr lang="en-GB" dirty="0"/>
              <a:t>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9CC351-9A66-68B1-F317-2D7E1F67A97B}"/>
              </a:ext>
            </a:extLst>
          </p:cNvPr>
          <p:cNvGrpSpPr/>
          <p:nvPr/>
        </p:nvGrpSpPr>
        <p:grpSpPr>
          <a:xfrm>
            <a:off x="1069317" y="2202509"/>
            <a:ext cx="7536215" cy="4302207"/>
            <a:chOff x="1249976" y="2414350"/>
            <a:chExt cx="6002949" cy="3426910"/>
          </a:xfrm>
        </p:grpSpPr>
        <p:pic>
          <p:nvPicPr>
            <p:cNvPr id="3" name="Google Shape;509;p36">
              <a:extLst>
                <a:ext uri="{FF2B5EF4-FFF2-40B4-BE49-F238E27FC236}">
                  <a16:creationId xmlns:a16="http://schemas.microsoft.com/office/drawing/2014/main" id="{02131ADD-97A6-C04A-6603-DD43F565034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0936" b="8692"/>
            <a:stretch/>
          </p:blipFill>
          <p:spPr>
            <a:xfrm>
              <a:off x="3119051" y="2414350"/>
              <a:ext cx="4133874" cy="296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10;p36">
              <a:extLst>
                <a:ext uri="{FF2B5EF4-FFF2-40B4-BE49-F238E27FC236}">
                  <a16:creationId xmlns:a16="http://schemas.microsoft.com/office/drawing/2014/main" id="{3D5ABE19-4D89-5BCB-7992-AF40A6A98A07}"/>
                </a:ext>
              </a:extLst>
            </p:cNvPr>
            <p:cNvSpPr txBox="1"/>
            <p:nvPr/>
          </p:nvSpPr>
          <p:spPr>
            <a:xfrm>
              <a:off x="4594239" y="5379625"/>
              <a:ext cx="11835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Genomes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" name="Google Shape;511;p36">
              <a:extLst>
                <a:ext uri="{FF2B5EF4-FFF2-40B4-BE49-F238E27FC236}">
                  <a16:creationId xmlns:a16="http://schemas.microsoft.com/office/drawing/2014/main" id="{0E5B22A8-A3A2-1B90-8B72-34FDE6D7838E}"/>
                </a:ext>
              </a:extLst>
            </p:cNvPr>
            <p:cNvSpPr txBox="1"/>
            <p:nvPr/>
          </p:nvSpPr>
          <p:spPr>
            <a:xfrm>
              <a:off x="1249976" y="3500925"/>
              <a:ext cx="17073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Support for population split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7" name="Google Shape;512;p36">
              <a:extLst>
                <a:ext uri="{FF2B5EF4-FFF2-40B4-BE49-F238E27FC236}">
                  <a16:creationId xmlns:a16="http://schemas.microsoft.com/office/drawing/2014/main" id="{149AA1CC-BC6B-3F4F-6591-9011D7E6232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17801" y="3789675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513;p36">
              <a:extLst>
                <a:ext uri="{FF2B5EF4-FFF2-40B4-BE49-F238E27FC236}">
                  <a16:creationId xmlns:a16="http://schemas.microsoft.com/office/drawing/2014/main" id="{4A5C69E6-436E-AFDB-6E14-1D5F1EC0EA1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862776" y="3647925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514;p36">
              <a:extLst>
                <a:ext uri="{FF2B5EF4-FFF2-40B4-BE49-F238E27FC236}">
                  <a16:creationId xmlns:a16="http://schemas.microsoft.com/office/drawing/2014/main" id="{A5BE81C3-613F-667D-2235-9D4235EF31E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469651" y="4056000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515;p36">
              <a:extLst>
                <a:ext uri="{FF2B5EF4-FFF2-40B4-BE49-F238E27FC236}">
                  <a16:creationId xmlns:a16="http://schemas.microsoft.com/office/drawing/2014/main" id="{05642F66-122F-1325-8C27-C9BAD8A7E5B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777751" y="4135500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516;p36">
              <a:extLst>
                <a:ext uri="{FF2B5EF4-FFF2-40B4-BE49-F238E27FC236}">
                  <a16:creationId xmlns:a16="http://schemas.microsoft.com/office/drawing/2014/main" id="{14A5163B-447A-13A8-6CF7-1FF3933D806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208401" y="4037025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517;p36">
              <a:extLst>
                <a:ext uri="{FF2B5EF4-FFF2-40B4-BE49-F238E27FC236}">
                  <a16:creationId xmlns:a16="http://schemas.microsoft.com/office/drawing/2014/main" id="{7B82B051-645C-E945-3B21-D10601E3011C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798026" y="3568425"/>
              <a:ext cx="262200" cy="7950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2EBFED2-8B6C-F937-3A0B-3ABE3862A0E5}"/>
              </a:ext>
            </a:extLst>
          </p:cNvPr>
          <p:cNvSpPr txBox="1"/>
          <p:nvPr/>
        </p:nvSpPr>
        <p:spPr>
          <a:xfrm>
            <a:off x="9628094" y="2823882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Clustering threshold may not be consistent across lineages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Simply reflects the best fit to the model</a:t>
            </a:r>
          </a:p>
        </p:txBody>
      </p:sp>
    </p:spTree>
    <p:extLst>
      <p:ext uri="{BB962C8B-B14F-4D97-AF65-F5344CB8AC3E}">
        <p14:creationId xmlns:p14="http://schemas.microsoft.com/office/powerpoint/2010/main" val="2482057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22;p37">
            <a:extLst>
              <a:ext uri="{FF2B5EF4-FFF2-40B4-BE49-F238E27FC236}">
                <a16:creationId xmlns:a16="http://schemas.microsoft.com/office/drawing/2014/main" id="{79E56B7E-FF3A-93AF-6E88-0F5BC99B48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1557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algorithms</a:t>
            </a:r>
            <a:endParaRPr/>
          </a:p>
        </p:txBody>
      </p:sp>
      <p:sp>
        <p:nvSpPr>
          <p:cNvPr id="13" name="Google Shape;523;p37">
            <a:extLst>
              <a:ext uri="{FF2B5EF4-FFF2-40B4-BE49-F238E27FC236}">
                <a16:creationId xmlns:a16="http://schemas.microsoft.com/office/drawing/2014/main" id="{B1B16310-DB91-CAAD-1147-1DC5664D3A56}"/>
              </a:ext>
            </a:extLst>
          </p:cNvPr>
          <p:cNvSpPr txBox="1">
            <a:spLocks/>
          </p:cNvSpPr>
          <p:nvPr/>
        </p:nvSpPr>
        <p:spPr>
          <a:xfrm>
            <a:off x="1660793" y="2043578"/>
            <a:ext cx="7894024" cy="332355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200000"/>
              </a:lnSpc>
              <a:spcBef>
                <a:spcPts val="600"/>
              </a:spcBef>
              <a:buSzPts val="1800"/>
            </a:pPr>
            <a:r>
              <a:rPr lang="en-GB" sz="2400" dirty="0"/>
              <a:t>STRUCTURE (Pritchard et al., 2000)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 err="1"/>
              <a:t>Snapclust</a:t>
            </a:r>
            <a:r>
              <a:rPr lang="en-GB" sz="2400" dirty="0"/>
              <a:t> (</a:t>
            </a:r>
            <a:r>
              <a:rPr lang="en-GB" sz="2400" dirty="0" err="1"/>
              <a:t>Beugin</a:t>
            </a:r>
            <a:r>
              <a:rPr lang="en-GB" sz="2400" dirty="0"/>
              <a:t> et al., 2018)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/>
              <a:t>DAPC (</a:t>
            </a:r>
            <a:r>
              <a:rPr lang="en-GB" sz="2400" dirty="0" err="1"/>
              <a:t>Jombart</a:t>
            </a:r>
            <a:r>
              <a:rPr lang="en-GB" sz="2400" dirty="0"/>
              <a:t> et al., 2010)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/>
              <a:t>BAPS (</a:t>
            </a:r>
            <a:r>
              <a:rPr lang="en-GB" sz="2400" dirty="0" err="1"/>
              <a:t>Corander</a:t>
            </a:r>
            <a:r>
              <a:rPr lang="en-GB" sz="2400" dirty="0"/>
              <a:t> et al., 2008)</a:t>
            </a:r>
          </a:p>
        </p:txBody>
      </p:sp>
    </p:spTree>
    <p:extLst>
      <p:ext uri="{BB962C8B-B14F-4D97-AF65-F5344CB8AC3E}">
        <p14:creationId xmlns:p14="http://schemas.microsoft.com/office/powerpoint/2010/main" val="4011119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987245"/>
            <a:ext cx="6471541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2.3	</a:t>
            </a:r>
            <a:r>
              <a:rPr lang="en" sz="4000" dirty="0"/>
              <a:t>Clustering the 			accessory genome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4091019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33;p39">
            <a:extLst>
              <a:ext uri="{FF2B5EF4-FFF2-40B4-BE49-F238E27FC236}">
                <a16:creationId xmlns:a16="http://schemas.microsoft.com/office/drawing/2014/main" id="{C3052AFF-18BD-ADCA-76B5-6AE43C240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the core genome...</a:t>
            </a: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083AD5-4AAB-74B1-B1AA-28749DD2D6E1}"/>
              </a:ext>
            </a:extLst>
          </p:cNvPr>
          <p:cNvGrpSpPr/>
          <p:nvPr/>
        </p:nvGrpSpPr>
        <p:grpSpPr>
          <a:xfrm>
            <a:off x="1915813" y="1895060"/>
            <a:ext cx="7454093" cy="4174435"/>
            <a:chOff x="3002493" y="2145628"/>
            <a:chExt cx="5317363" cy="2866574"/>
          </a:xfrm>
        </p:grpSpPr>
        <p:pic>
          <p:nvPicPr>
            <p:cNvPr id="6" name="Google Shape;534;p39">
              <a:extLst>
                <a:ext uri="{FF2B5EF4-FFF2-40B4-BE49-F238E27FC236}">
                  <a16:creationId xmlns:a16="http://schemas.microsoft.com/office/drawing/2014/main" id="{CF94CC1C-5F79-4B4C-7D5B-BF9CBF72679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55277" b="68705"/>
            <a:stretch/>
          </p:blipFill>
          <p:spPr>
            <a:xfrm>
              <a:off x="3002493" y="2145628"/>
              <a:ext cx="3768174" cy="2866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535;p39">
              <a:extLst>
                <a:ext uri="{FF2B5EF4-FFF2-40B4-BE49-F238E27FC236}">
                  <a16:creationId xmlns:a16="http://schemas.microsoft.com/office/drawing/2014/main" id="{E0792D0B-87B2-B2CA-3372-0FC6A0D508FD}"/>
                </a:ext>
              </a:extLst>
            </p:cNvPr>
            <p:cNvSpPr/>
            <p:nvPr/>
          </p:nvSpPr>
          <p:spPr>
            <a:xfrm rot="10800000">
              <a:off x="6770659" y="2684574"/>
              <a:ext cx="365700" cy="19716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36;p39">
              <a:extLst>
                <a:ext uri="{FF2B5EF4-FFF2-40B4-BE49-F238E27FC236}">
                  <a16:creationId xmlns:a16="http://schemas.microsoft.com/office/drawing/2014/main" id="{E20C68C8-860A-D61E-FB97-CDDA8A45D727}"/>
                </a:ext>
              </a:extLst>
            </p:cNvPr>
            <p:cNvSpPr txBox="1"/>
            <p:nvPr/>
          </p:nvSpPr>
          <p:spPr>
            <a:xfrm>
              <a:off x="7136356" y="3470265"/>
              <a:ext cx="118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Sans Pro"/>
                  <a:ea typeface="Source Sans Pro"/>
                  <a:cs typeface="Source Sans Pro"/>
                  <a:sym typeface="Source Sans Pro"/>
                </a:rPr>
                <a:t>Accessory</a:t>
              </a:r>
              <a:endParaRPr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2814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2;p40">
            <a:extLst>
              <a:ext uri="{FF2B5EF4-FFF2-40B4-BE49-F238E27FC236}">
                <a16:creationId xmlns:a16="http://schemas.microsoft.com/office/drawing/2014/main" id="{55CC39B5-3DFF-F397-CBC9-D209B734B500}"/>
              </a:ext>
            </a:extLst>
          </p:cNvPr>
          <p:cNvSpPr txBox="1"/>
          <p:nvPr/>
        </p:nvSpPr>
        <p:spPr>
          <a:xfrm>
            <a:off x="1389221" y="2745498"/>
            <a:ext cx="8920969" cy="112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Incorporates both Core + Accessory data by using ‘k-</a:t>
            </a:r>
            <a:r>
              <a:rPr lang="en" sz="2800" dirty="0" err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mers</a:t>
            </a:r>
            <a:r>
              <a:rPr lang="en" sz="28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’</a:t>
            </a:r>
            <a:endParaRPr sz="24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2"/>
            <a:ext cx="9577050" cy="144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PopPUNK</a:t>
            </a:r>
            <a:br>
              <a:rPr lang="en" dirty="0"/>
            </a:br>
            <a:r>
              <a:rPr lang="en" sz="4000" dirty="0"/>
              <a:t>(Population Profiling Using Nucleotide </a:t>
            </a:r>
            <a:r>
              <a:rPr lang="en" sz="4000" dirty="0" err="1"/>
              <a:t>Kmers</a:t>
            </a:r>
            <a:r>
              <a:rPr lang="en" sz="4000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510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2"/>
            <a:ext cx="9577050" cy="144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PopPUNK</a:t>
            </a:r>
            <a:br>
              <a:rPr lang="en" dirty="0"/>
            </a:br>
            <a:r>
              <a:rPr lang="en" sz="4000" dirty="0"/>
              <a:t>(Population Profiling Using Nucleotide </a:t>
            </a:r>
            <a:r>
              <a:rPr lang="en" sz="4000" dirty="0" err="1"/>
              <a:t>Kmers</a:t>
            </a:r>
            <a:r>
              <a:rPr lang="en" sz="4000" dirty="0"/>
              <a:t>)</a:t>
            </a:r>
            <a:endParaRPr dirty="0"/>
          </a:p>
        </p:txBody>
      </p:sp>
      <p:sp>
        <p:nvSpPr>
          <p:cNvPr id="3" name="Google Shape;548;p41">
            <a:extLst>
              <a:ext uri="{FF2B5EF4-FFF2-40B4-BE49-F238E27FC236}">
                <a16:creationId xmlns:a16="http://schemas.microsoft.com/office/drawing/2014/main" id="{0039D5C9-F8E4-F1D7-C7F8-C81F05A029D4}"/>
              </a:ext>
            </a:extLst>
          </p:cNvPr>
          <p:cNvSpPr txBox="1"/>
          <p:nvPr/>
        </p:nvSpPr>
        <p:spPr>
          <a:xfrm>
            <a:off x="5216859" y="2213113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AGTTGAGTTG</a:t>
            </a:r>
            <a:endParaRPr sz="24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Google Shape;549;p41">
            <a:extLst>
              <a:ext uri="{FF2B5EF4-FFF2-40B4-BE49-F238E27FC236}">
                <a16:creationId xmlns:a16="http://schemas.microsoft.com/office/drawing/2014/main" id="{BC47900B-3789-F60D-FDE0-51AB67516940}"/>
              </a:ext>
            </a:extLst>
          </p:cNvPr>
          <p:cNvSpPr txBox="1"/>
          <p:nvPr/>
        </p:nvSpPr>
        <p:spPr>
          <a:xfrm>
            <a:off x="5216859" y="2821201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674EA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AGTTGA</a:t>
            </a:r>
            <a:endParaRPr sz="2400" b="1">
              <a:solidFill>
                <a:srgbClr val="674EA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" name="Google Shape;550;p41">
            <a:extLst>
              <a:ext uri="{FF2B5EF4-FFF2-40B4-BE49-F238E27FC236}">
                <a16:creationId xmlns:a16="http://schemas.microsoft.com/office/drawing/2014/main" id="{16BB5293-428D-9717-F1C8-49535484E6B5}"/>
              </a:ext>
            </a:extLst>
          </p:cNvPr>
          <p:cNvSpPr txBox="1"/>
          <p:nvPr/>
        </p:nvSpPr>
        <p:spPr>
          <a:xfrm>
            <a:off x="5216859" y="3995254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TTGAGT</a:t>
            </a:r>
            <a:endParaRPr sz="2400" b="1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Google Shape;551;p41">
            <a:extLst>
              <a:ext uri="{FF2B5EF4-FFF2-40B4-BE49-F238E27FC236}">
                <a16:creationId xmlns:a16="http://schemas.microsoft.com/office/drawing/2014/main" id="{8061FD76-7A45-C901-67F3-F7A2E5017D59}"/>
              </a:ext>
            </a:extLst>
          </p:cNvPr>
          <p:cNvSpPr txBox="1"/>
          <p:nvPr/>
        </p:nvSpPr>
        <p:spPr>
          <a:xfrm>
            <a:off x="5216859" y="5169288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GAGTTG</a:t>
            </a:r>
            <a:endParaRPr sz="2400" b="1">
              <a:solidFill>
                <a:srgbClr val="38761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Google Shape;552;p41">
            <a:extLst>
              <a:ext uri="{FF2B5EF4-FFF2-40B4-BE49-F238E27FC236}">
                <a16:creationId xmlns:a16="http://schemas.microsoft.com/office/drawing/2014/main" id="{5D70D8E9-0D20-0454-0FC7-27693486783E}"/>
              </a:ext>
            </a:extLst>
          </p:cNvPr>
          <p:cNvSpPr txBox="1"/>
          <p:nvPr/>
        </p:nvSpPr>
        <p:spPr>
          <a:xfrm>
            <a:off x="5216859" y="4550720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93C4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TGAGTT</a:t>
            </a:r>
            <a:endParaRPr sz="2400" b="1">
              <a:solidFill>
                <a:srgbClr val="93C47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Google Shape;553;p41">
            <a:extLst>
              <a:ext uri="{FF2B5EF4-FFF2-40B4-BE49-F238E27FC236}">
                <a16:creationId xmlns:a16="http://schemas.microsoft.com/office/drawing/2014/main" id="{714F3BBA-21D8-09EB-347A-7D95C6DA25CA}"/>
              </a:ext>
            </a:extLst>
          </p:cNvPr>
          <p:cNvSpPr txBox="1"/>
          <p:nvPr/>
        </p:nvSpPr>
        <p:spPr>
          <a:xfrm>
            <a:off x="5216859" y="3381926"/>
            <a:ext cx="5011750" cy="147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D9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GTTGAG</a:t>
            </a:r>
            <a:endParaRPr sz="2400" b="1">
              <a:solidFill>
                <a:srgbClr val="FFD9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554;p41">
            <a:extLst>
              <a:ext uri="{FF2B5EF4-FFF2-40B4-BE49-F238E27FC236}">
                <a16:creationId xmlns:a16="http://schemas.microsoft.com/office/drawing/2014/main" id="{DA4EC45A-6D7B-0573-C864-C8AD71EEDBA4}"/>
              </a:ext>
            </a:extLst>
          </p:cNvPr>
          <p:cNvSpPr txBox="1"/>
          <p:nvPr/>
        </p:nvSpPr>
        <p:spPr>
          <a:xfrm>
            <a:off x="1514418" y="2274331"/>
            <a:ext cx="4189956" cy="131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Original sequence</a:t>
            </a: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Google Shape;555;p41">
            <a:extLst>
              <a:ext uri="{FF2B5EF4-FFF2-40B4-BE49-F238E27FC236}">
                <a16:creationId xmlns:a16="http://schemas.microsoft.com/office/drawing/2014/main" id="{755A1A04-515A-241C-08F2-BF2082D4677C}"/>
              </a:ext>
            </a:extLst>
          </p:cNvPr>
          <p:cNvSpPr/>
          <p:nvPr/>
        </p:nvSpPr>
        <p:spPr>
          <a:xfrm>
            <a:off x="3752439" y="3286540"/>
            <a:ext cx="530236" cy="2769704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556;p41">
            <a:extLst>
              <a:ext uri="{FF2B5EF4-FFF2-40B4-BE49-F238E27FC236}">
                <a16:creationId xmlns:a16="http://schemas.microsoft.com/office/drawing/2014/main" id="{8D338FBC-5736-361D-5323-D4EDA152534E}"/>
              </a:ext>
            </a:extLst>
          </p:cNvPr>
          <p:cNvSpPr txBox="1"/>
          <p:nvPr/>
        </p:nvSpPr>
        <p:spPr>
          <a:xfrm>
            <a:off x="2227079" y="4237544"/>
            <a:ext cx="2234326" cy="131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6-mers</a:t>
            </a:r>
            <a:endParaRPr sz="24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98355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2"/>
            <a:ext cx="9577050" cy="144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PopPUNK</a:t>
            </a:r>
            <a:br>
              <a:rPr lang="en" dirty="0"/>
            </a:br>
            <a:r>
              <a:rPr lang="en" sz="4000" dirty="0"/>
              <a:t>(Population Profiling Using Nucleotide </a:t>
            </a:r>
            <a:r>
              <a:rPr lang="en" sz="4000" dirty="0" err="1"/>
              <a:t>Kmers</a:t>
            </a:r>
            <a:r>
              <a:rPr lang="en" sz="4000" dirty="0"/>
              <a:t>)</a:t>
            </a:r>
            <a:endParaRPr dirty="0"/>
          </a:p>
        </p:txBody>
      </p:sp>
      <p:sp>
        <p:nvSpPr>
          <p:cNvPr id="2" name="Google Shape;562;p42">
            <a:extLst>
              <a:ext uri="{FF2B5EF4-FFF2-40B4-BE49-F238E27FC236}">
                <a16:creationId xmlns:a16="http://schemas.microsoft.com/office/drawing/2014/main" id="{5CDFEC53-003E-FBAE-DFAE-F025DB0B79C6}"/>
              </a:ext>
            </a:extLst>
          </p:cNvPr>
          <p:cNvSpPr txBox="1"/>
          <p:nvPr/>
        </p:nvSpPr>
        <p:spPr>
          <a:xfrm>
            <a:off x="2550328" y="2664778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AGTTGAGT</a:t>
            </a:r>
            <a:endParaRPr sz="19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" name="Google Shape;563;p42">
            <a:extLst>
              <a:ext uri="{FF2B5EF4-FFF2-40B4-BE49-F238E27FC236}">
                <a16:creationId xmlns:a16="http://schemas.microsoft.com/office/drawing/2014/main" id="{C16CDAE3-E9C8-7FAC-A1CF-E2155AFDD910}"/>
              </a:ext>
            </a:extLst>
          </p:cNvPr>
          <p:cNvSpPr txBox="1"/>
          <p:nvPr/>
        </p:nvSpPr>
        <p:spPr>
          <a:xfrm>
            <a:off x="2550328" y="3047703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674EA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AGTTGA</a:t>
            </a:r>
            <a:endParaRPr sz="1900" b="1">
              <a:solidFill>
                <a:srgbClr val="674EA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" name="Google Shape;564;p42">
            <a:extLst>
              <a:ext uri="{FF2B5EF4-FFF2-40B4-BE49-F238E27FC236}">
                <a16:creationId xmlns:a16="http://schemas.microsoft.com/office/drawing/2014/main" id="{828EB2A3-D46D-BEC6-9320-17A8DBF58874}"/>
              </a:ext>
            </a:extLst>
          </p:cNvPr>
          <p:cNvSpPr txBox="1"/>
          <p:nvPr/>
        </p:nvSpPr>
        <p:spPr>
          <a:xfrm>
            <a:off x="2550335" y="3787028"/>
            <a:ext cx="1835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TTGAGT</a:t>
            </a:r>
            <a:endParaRPr sz="1900" b="1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" name="Google Shape;565;p42">
            <a:extLst>
              <a:ext uri="{FF2B5EF4-FFF2-40B4-BE49-F238E27FC236}">
                <a16:creationId xmlns:a16="http://schemas.microsoft.com/office/drawing/2014/main" id="{06D4D4FE-5AD2-BEC2-72C5-7ECEB1AA54E4}"/>
              </a:ext>
            </a:extLst>
          </p:cNvPr>
          <p:cNvSpPr txBox="1"/>
          <p:nvPr/>
        </p:nvSpPr>
        <p:spPr>
          <a:xfrm>
            <a:off x="2550328" y="3400803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FFD9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GTTGAG</a:t>
            </a:r>
            <a:endParaRPr sz="1900" b="1">
              <a:solidFill>
                <a:srgbClr val="FFD9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" name="Google Shape;566;p42">
            <a:extLst>
              <a:ext uri="{FF2B5EF4-FFF2-40B4-BE49-F238E27FC236}">
                <a16:creationId xmlns:a16="http://schemas.microsoft.com/office/drawing/2014/main" id="{70A75B75-1A58-B73E-03D6-C57F5BEE6F24}"/>
              </a:ext>
            </a:extLst>
          </p:cNvPr>
          <p:cNvSpPr txBox="1"/>
          <p:nvPr/>
        </p:nvSpPr>
        <p:spPr>
          <a:xfrm>
            <a:off x="2667345" y="2274053"/>
            <a:ext cx="1479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Genome A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" name="Google Shape;567;p42">
            <a:extLst>
              <a:ext uri="{FF2B5EF4-FFF2-40B4-BE49-F238E27FC236}">
                <a16:creationId xmlns:a16="http://schemas.microsoft.com/office/drawing/2014/main" id="{89F919AE-43B1-5478-4F9D-7FA15F7638C2}"/>
              </a:ext>
            </a:extLst>
          </p:cNvPr>
          <p:cNvSpPr txBox="1"/>
          <p:nvPr/>
        </p:nvSpPr>
        <p:spPr>
          <a:xfrm>
            <a:off x="6659453" y="2664778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GTTGAGTT</a:t>
            </a:r>
            <a:endParaRPr sz="1900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" name="Google Shape;568;p42">
            <a:extLst>
              <a:ext uri="{FF2B5EF4-FFF2-40B4-BE49-F238E27FC236}">
                <a16:creationId xmlns:a16="http://schemas.microsoft.com/office/drawing/2014/main" id="{CE1A8358-DAA5-C73D-BA5F-F89577EB1D58}"/>
              </a:ext>
            </a:extLst>
          </p:cNvPr>
          <p:cNvSpPr txBox="1"/>
          <p:nvPr/>
        </p:nvSpPr>
        <p:spPr>
          <a:xfrm>
            <a:off x="6500453" y="3369002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TTGAGT</a:t>
            </a:r>
            <a:endParaRPr sz="1900" b="1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" name="Google Shape;569;p42">
            <a:extLst>
              <a:ext uri="{FF2B5EF4-FFF2-40B4-BE49-F238E27FC236}">
                <a16:creationId xmlns:a16="http://schemas.microsoft.com/office/drawing/2014/main" id="{76C54601-59C1-1613-9DC1-F431088BFBC4}"/>
              </a:ext>
            </a:extLst>
          </p:cNvPr>
          <p:cNvSpPr txBox="1"/>
          <p:nvPr/>
        </p:nvSpPr>
        <p:spPr>
          <a:xfrm>
            <a:off x="6500453" y="3718790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93C4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TGAGTT</a:t>
            </a:r>
            <a:endParaRPr sz="1900" b="1">
              <a:solidFill>
                <a:srgbClr val="93C47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" name="Google Shape;570;p42">
            <a:extLst>
              <a:ext uri="{FF2B5EF4-FFF2-40B4-BE49-F238E27FC236}">
                <a16:creationId xmlns:a16="http://schemas.microsoft.com/office/drawing/2014/main" id="{E1DA81A2-5001-6B05-F8F1-36C4AD2269F8}"/>
              </a:ext>
            </a:extLst>
          </p:cNvPr>
          <p:cNvSpPr txBox="1"/>
          <p:nvPr/>
        </p:nvSpPr>
        <p:spPr>
          <a:xfrm>
            <a:off x="6500453" y="2982777"/>
            <a:ext cx="3156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FFD9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GTTGAG</a:t>
            </a:r>
            <a:endParaRPr sz="1900" b="1">
              <a:solidFill>
                <a:srgbClr val="FFD9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" name="Google Shape;571;p42">
            <a:extLst>
              <a:ext uri="{FF2B5EF4-FFF2-40B4-BE49-F238E27FC236}">
                <a16:creationId xmlns:a16="http://schemas.microsoft.com/office/drawing/2014/main" id="{A07E1CA3-39DD-8B2A-D776-D99AF0887B4F}"/>
              </a:ext>
            </a:extLst>
          </p:cNvPr>
          <p:cNvSpPr txBox="1"/>
          <p:nvPr/>
        </p:nvSpPr>
        <p:spPr>
          <a:xfrm>
            <a:off x="6667421" y="2274053"/>
            <a:ext cx="13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Genome B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" name="Google Shape;572;p42">
            <a:extLst>
              <a:ext uri="{FF2B5EF4-FFF2-40B4-BE49-F238E27FC236}">
                <a16:creationId xmlns:a16="http://schemas.microsoft.com/office/drawing/2014/main" id="{62389740-0D6C-CB9D-F18E-C76BA7DDBD24}"/>
              </a:ext>
            </a:extLst>
          </p:cNvPr>
          <p:cNvSpPr txBox="1"/>
          <p:nvPr/>
        </p:nvSpPr>
        <p:spPr>
          <a:xfrm>
            <a:off x="4664465" y="4213253"/>
            <a:ext cx="229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Intersection = 2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" name="Google Shape;573;p42">
            <a:extLst>
              <a:ext uri="{FF2B5EF4-FFF2-40B4-BE49-F238E27FC236}">
                <a16:creationId xmlns:a16="http://schemas.microsoft.com/office/drawing/2014/main" id="{A1A3496B-B3AF-13C4-E617-9020AFCD2183}"/>
              </a:ext>
            </a:extLst>
          </p:cNvPr>
          <p:cNvSpPr txBox="1"/>
          <p:nvPr/>
        </p:nvSpPr>
        <p:spPr>
          <a:xfrm>
            <a:off x="4598796" y="4948603"/>
            <a:ext cx="206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TTGAGT</a:t>
            </a:r>
            <a:endParaRPr sz="1900" b="1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" name="Google Shape;574;p42">
            <a:extLst>
              <a:ext uri="{FF2B5EF4-FFF2-40B4-BE49-F238E27FC236}">
                <a16:creationId xmlns:a16="http://schemas.microsoft.com/office/drawing/2014/main" id="{07EA712C-724C-9C29-2E7D-0815A945E344}"/>
              </a:ext>
            </a:extLst>
          </p:cNvPr>
          <p:cNvSpPr txBox="1"/>
          <p:nvPr/>
        </p:nvSpPr>
        <p:spPr>
          <a:xfrm>
            <a:off x="4598796" y="4562378"/>
            <a:ext cx="206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FFD9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GTTGAG</a:t>
            </a:r>
            <a:endParaRPr sz="1900" b="1">
              <a:solidFill>
                <a:srgbClr val="FFD9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Google Shape;575;p42">
            <a:extLst>
              <a:ext uri="{FF2B5EF4-FFF2-40B4-BE49-F238E27FC236}">
                <a16:creationId xmlns:a16="http://schemas.microsoft.com/office/drawing/2014/main" id="{7C80D21E-A2A8-7FAC-8DE9-6CEE4618A843}"/>
              </a:ext>
            </a:extLst>
          </p:cNvPr>
          <p:cNvSpPr/>
          <p:nvPr/>
        </p:nvSpPr>
        <p:spPr>
          <a:xfrm rot="5400000">
            <a:off x="4568665" y="3310053"/>
            <a:ext cx="556500" cy="7026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576;p42">
            <a:extLst>
              <a:ext uri="{FF2B5EF4-FFF2-40B4-BE49-F238E27FC236}">
                <a16:creationId xmlns:a16="http://schemas.microsoft.com/office/drawing/2014/main" id="{E831957C-852D-6EB8-9227-1142E2BC5499}"/>
              </a:ext>
            </a:extLst>
          </p:cNvPr>
          <p:cNvSpPr/>
          <p:nvPr/>
        </p:nvSpPr>
        <p:spPr>
          <a:xfrm rot="-5400000" flipH="1">
            <a:off x="5571090" y="3310053"/>
            <a:ext cx="556500" cy="7026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956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2"/>
            <a:ext cx="9577050" cy="144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PopPUNK</a:t>
            </a:r>
            <a:br>
              <a:rPr lang="en" dirty="0"/>
            </a:br>
            <a:r>
              <a:rPr lang="en" sz="4000" dirty="0"/>
              <a:t>(Population Profiling Using Nucleotide </a:t>
            </a:r>
            <a:r>
              <a:rPr lang="en" sz="4000" dirty="0" err="1"/>
              <a:t>Kmers</a:t>
            </a:r>
            <a:r>
              <a:rPr lang="en" sz="4000" dirty="0"/>
              <a:t>)</a:t>
            </a:r>
            <a:endParaRPr dirty="0"/>
          </a:p>
        </p:txBody>
      </p:sp>
      <p:sp>
        <p:nvSpPr>
          <p:cNvPr id="3" name="Google Shape;582;p43">
            <a:extLst>
              <a:ext uri="{FF2B5EF4-FFF2-40B4-BE49-F238E27FC236}">
                <a16:creationId xmlns:a16="http://schemas.microsoft.com/office/drawing/2014/main" id="{3521C3AE-96A2-2A26-A565-54BD89A048AA}"/>
              </a:ext>
            </a:extLst>
          </p:cNvPr>
          <p:cNvSpPr txBox="1"/>
          <p:nvPr/>
        </p:nvSpPr>
        <p:spPr>
          <a:xfrm>
            <a:off x="1127674" y="6398897"/>
            <a:ext cx="7421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Lees, J. A. </a:t>
            </a:r>
            <a:r>
              <a:rPr lang="en" sz="1100" i="1"/>
              <a:t>et al.</a:t>
            </a:r>
            <a:r>
              <a:rPr lang="en" sz="1100"/>
              <a:t> Fast and flexible bacterial genomic epidemiology with PopPUNK. </a:t>
            </a:r>
            <a:r>
              <a:rPr lang="en" sz="1100" i="1"/>
              <a:t>Genome Res.</a:t>
            </a:r>
            <a:r>
              <a:rPr lang="en" sz="1100"/>
              <a:t> </a:t>
            </a:r>
            <a:r>
              <a:rPr lang="en" sz="1100" b="1"/>
              <a:t>29</a:t>
            </a:r>
            <a:r>
              <a:rPr lang="en" sz="1100"/>
              <a:t>, 304–316 (2019)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" name="Google Shape;583;p43">
            <a:extLst>
              <a:ext uri="{FF2B5EF4-FFF2-40B4-BE49-F238E27FC236}">
                <a16:creationId xmlns:a16="http://schemas.microsoft.com/office/drawing/2014/main" id="{789CB5D5-F609-8FFE-7C5D-B24BDE7E20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3488" y="2254402"/>
            <a:ext cx="4876981" cy="354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89;p44">
            <a:extLst>
              <a:ext uri="{FF2B5EF4-FFF2-40B4-BE49-F238E27FC236}">
                <a16:creationId xmlns:a16="http://schemas.microsoft.com/office/drawing/2014/main" id="{55B08DB2-B526-9750-A0FC-EF7C278A9C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54" y="2246489"/>
            <a:ext cx="4899716" cy="3563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9419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2"/>
            <a:ext cx="9577050" cy="14444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PopPUNK</a:t>
            </a:r>
            <a:br>
              <a:rPr lang="en" dirty="0"/>
            </a:br>
            <a:r>
              <a:rPr lang="en" sz="4000" dirty="0"/>
              <a:t>(Population Profiling Using Nucleotide </a:t>
            </a:r>
            <a:r>
              <a:rPr lang="en" sz="4000" dirty="0" err="1"/>
              <a:t>Kmers</a:t>
            </a:r>
            <a:r>
              <a:rPr lang="en" sz="4000" dirty="0"/>
              <a:t>)</a:t>
            </a:r>
            <a:endParaRPr dirty="0"/>
          </a:p>
        </p:txBody>
      </p:sp>
      <p:pic>
        <p:nvPicPr>
          <p:cNvPr id="4" name="Google Shape;597;p45">
            <a:extLst>
              <a:ext uri="{FF2B5EF4-FFF2-40B4-BE49-F238E27FC236}">
                <a16:creationId xmlns:a16="http://schemas.microsoft.com/office/drawing/2014/main" id="{1F786DA7-BFA9-B107-A5F4-B47B344AA62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7110" y="1892045"/>
            <a:ext cx="7248108" cy="445574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82;p43">
            <a:extLst>
              <a:ext uri="{FF2B5EF4-FFF2-40B4-BE49-F238E27FC236}">
                <a16:creationId xmlns:a16="http://schemas.microsoft.com/office/drawing/2014/main" id="{4FD62BEB-E2AD-3EA9-DFEF-B5C5723184C0}"/>
              </a:ext>
            </a:extLst>
          </p:cNvPr>
          <p:cNvSpPr txBox="1"/>
          <p:nvPr/>
        </p:nvSpPr>
        <p:spPr>
          <a:xfrm>
            <a:off x="1127674" y="6398897"/>
            <a:ext cx="7421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Lees, J. A. </a:t>
            </a:r>
            <a:r>
              <a:rPr lang="en" sz="1100" i="1"/>
              <a:t>et al.</a:t>
            </a:r>
            <a:r>
              <a:rPr lang="en" sz="1100"/>
              <a:t> Fast and flexible bacterial genomic epidemiology with PopPUNK. </a:t>
            </a:r>
            <a:r>
              <a:rPr lang="en" sz="1100" i="1"/>
              <a:t>Genome Res.</a:t>
            </a:r>
            <a:r>
              <a:rPr lang="en" sz="1100"/>
              <a:t> </a:t>
            </a:r>
            <a:r>
              <a:rPr lang="en" sz="1100" b="1"/>
              <a:t>29</a:t>
            </a:r>
            <a:r>
              <a:rPr lang="en" sz="1100"/>
              <a:t>, 304–316 (2019)</a:t>
            </a:r>
            <a:endParaRPr sz="1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BF03B-617F-4B34-B7E6-F943A6D14CD8}"/>
              </a:ext>
            </a:extLst>
          </p:cNvPr>
          <p:cNvSpPr txBox="1"/>
          <p:nvPr/>
        </p:nvSpPr>
        <p:spPr>
          <a:xfrm>
            <a:off x="8666922" y="3684105"/>
            <a:ext cx="3525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fast to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provide a persistent nomenclature (unlike BAPS)</a:t>
            </a:r>
          </a:p>
        </p:txBody>
      </p:sp>
    </p:spTree>
    <p:extLst>
      <p:ext uri="{BB962C8B-B14F-4D97-AF65-F5344CB8AC3E}">
        <p14:creationId xmlns:p14="http://schemas.microsoft.com/office/powerpoint/2010/main" val="3631798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987245"/>
            <a:ext cx="7160654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2.4	</a:t>
            </a:r>
            <a:r>
              <a:rPr lang="en" sz="4000" dirty="0"/>
              <a:t>Transmission clustering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1980611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3"/>
            <a:ext cx="9577050" cy="901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Transmission C</a:t>
            </a:r>
            <a:r>
              <a:rPr lang="en-GB" dirty="0"/>
              <a:t>l</a:t>
            </a:r>
            <a:r>
              <a:rPr lang="en" dirty="0" err="1"/>
              <a:t>ustering</a:t>
            </a:r>
            <a:endParaRPr dirty="0"/>
          </a:p>
        </p:txBody>
      </p:sp>
      <p:pic>
        <p:nvPicPr>
          <p:cNvPr id="2" name="Google Shape;608;p47">
            <a:extLst>
              <a:ext uri="{FF2B5EF4-FFF2-40B4-BE49-F238E27FC236}">
                <a16:creationId xmlns:a16="http://schemas.microsoft.com/office/drawing/2014/main" id="{693D2A14-9453-4276-F515-1E17A94626E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2927" y="1595439"/>
            <a:ext cx="9442543" cy="36391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09;p47">
            <a:extLst>
              <a:ext uri="{FF2B5EF4-FFF2-40B4-BE49-F238E27FC236}">
                <a16:creationId xmlns:a16="http://schemas.microsoft.com/office/drawing/2014/main" id="{9691DCB3-6E03-8BB8-9C3F-895FFAB5C7CD}"/>
              </a:ext>
            </a:extLst>
          </p:cNvPr>
          <p:cNvSpPr txBox="1"/>
          <p:nvPr/>
        </p:nvSpPr>
        <p:spPr>
          <a:xfrm>
            <a:off x="968636" y="6440816"/>
            <a:ext cx="882472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Adam, D. C. </a:t>
            </a:r>
            <a:r>
              <a:rPr lang="en" sz="1100" i="1" dirty="0"/>
              <a:t>et al.</a:t>
            </a:r>
            <a:r>
              <a:rPr lang="en" sz="1100" dirty="0"/>
              <a:t> Clustering and superspreading potential of SARS-CoV-2 infections in Hong Kong. </a:t>
            </a:r>
            <a:r>
              <a:rPr lang="en" sz="1100" i="1" dirty="0"/>
              <a:t>Nat. Med.</a:t>
            </a:r>
            <a:r>
              <a:rPr lang="en" sz="1100" dirty="0"/>
              <a:t> </a:t>
            </a:r>
            <a:r>
              <a:rPr lang="en" sz="1100" b="1" dirty="0"/>
              <a:t>26</a:t>
            </a:r>
            <a:r>
              <a:rPr lang="en" sz="1100" dirty="0"/>
              <a:t>, 1714–1719 (2020)</a:t>
            </a:r>
            <a:endParaRPr sz="12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E1880-75AA-F5EA-F68A-985840060A4D}"/>
              </a:ext>
            </a:extLst>
          </p:cNvPr>
          <p:cNvSpPr txBox="1"/>
          <p:nvPr/>
        </p:nvSpPr>
        <p:spPr>
          <a:xfrm>
            <a:off x="2862469" y="5539409"/>
            <a:ext cx="7093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Clustering very closely related genomes to infer transmission</a:t>
            </a:r>
          </a:p>
        </p:txBody>
      </p:sp>
    </p:spTree>
    <p:extLst>
      <p:ext uri="{BB962C8B-B14F-4D97-AF65-F5344CB8AC3E}">
        <p14:creationId xmlns:p14="http://schemas.microsoft.com/office/powerpoint/2010/main" val="797556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3"/>
            <a:ext cx="9577050" cy="901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SNP </a:t>
            </a:r>
            <a:r>
              <a:rPr lang="en-GB" dirty="0"/>
              <a:t>Distance</a:t>
            </a:r>
            <a:endParaRPr dirty="0"/>
          </a:p>
        </p:txBody>
      </p:sp>
      <p:pic>
        <p:nvPicPr>
          <p:cNvPr id="4" name="Google Shape;615;p48">
            <a:extLst>
              <a:ext uri="{FF2B5EF4-FFF2-40B4-BE49-F238E27FC236}">
                <a16:creationId xmlns:a16="http://schemas.microsoft.com/office/drawing/2014/main" id="{9F1C085A-4656-5B8D-8B44-B34F90E53B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7177"/>
          <a:stretch/>
        </p:blipFill>
        <p:spPr>
          <a:xfrm>
            <a:off x="2753502" y="2093304"/>
            <a:ext cx="5873663" cy="33144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16;p48">
            <a:extLst>
              <a:ext uri="{FF2B5EF4-FFF2-40B4-BE49-F238E27FC236}">
                <a16:creationId xmlns:a16="http://schemas.microsoft.com/office/drawing/2014/main" id="{57E80A99-A5E1-35C4-ED7E-E84468CFFDC4}"/>
              </a:ext>
            </a:extLst>
          </p:cNvPr>
          <p:cNvSpPr txBox="1"/>
          <p:nvPr/>
        </p:nvSpPr>
        <p:spPr>
          <a:xfrm>
            <a:off x="1898819" y="4997923"/>
            <a:ext cx="727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Plausible transmission if SNP distance &lt; Threshold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757674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3"/>
            <a:ext cx="9577050" cy="901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Single linkage hierarchical clustering</a:t>
            </a:r>
            <a:endParaRPr sz="3600" dirty="0"/>
          </a:p>
        </p:txBody>
      </p:sp>
      <p:sp>
        <p:nvSpPr>
          <p:cNvPr id="2" name="Google Shape;621;p49">
            <a:extLst>
              <a:ext uri="{FF2B5EF4-FFF2-40B4-BE49-F238E27FC236}">
                <a16:creationId xmlns:a16="http://schemas.microsoft.com/office/drawing/2014/main" id="{BD516022-9B35-52FE-9377-940506D72002}"/>
              </a:ext>
            </a:extLst>
          </p:cNvPr>
          <p:cNvSpPr txBox="1"/>
          <p:nvPr/>
        </p:nvSpPr>
        <p:spPr>
          <a:xfrm>
            <a:off x="7750481" y="3866560"/>
            <a:ext cx="170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SNP threshold</a:t>
            </a:r>
            <a:endParaRPr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" name="Google Shape;623;p49">
            <a:extLst>
              <a:ext uri="{FF2B5EF4-FFF2-40B4-BE49-F238E27FC236}">
                <a16:creationId xmlns:a16="http://schemas.microsoft.com/office/drawing/2014/main" id="{A9180C1F-57EB-D463-4AF2-D6671A466F02}"/>
              </a:ext>
            </a:extLst>
          </p:cNvPr>
          <p:cNvSpPr txBox="1"/>
          <p:nvPr/>
        </p:nvSpPr>
        <p:spPr>
          <a:xfrm>
            <a:off x="2036837" y="5829310"/>
            <a:ext cx="72702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Plausible transmission if SNP distance &lt; Threshold</a:t>
            </a:r>
            <a:endParaRPr sz="18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" name="Google Shape;624;p49">
            <a:extLst>
              <a:ext uri="{FF2B5EF4-FFF2-40B4-BE49-F238E27FC236}">
                <a16:creationId xmlns:a16="http://schemas.microsoft.com/office/drawing/2014/main" id="{48976AD4-FD50-0D59-B84F-84A17FC321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936" b="8692"/>
          <a:stretch/>
        </p:blipFill>
        <p:spPr>
          <a:xfrm>
            <a:off x="3755156" y="2321585"/>
            <a:ext cx="4133874" cy="29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25;p49">
            <a:extLst>
              <a:ext uri="{FF2B5EF4-FFF2-40B4-BE49-F238E27FC236}">
                <a16:creationId xmlns:a16="http://schemas.microsoft.com/office/drawing/2014/main" id="{FFCACD99-05BA-8100-3089-96A2D8C9140C}"/>
              </a:ext>
            </a:extLst>
          </p:cNvPr>
          <p:cNvSpPr txBox="1"/>
          <p:nvPr/>
        </p:nvSpPr>
        <p:spPr>
          <a:xfrm>
            <a:off x="5466744" y="5357985"/>
            <a:ext cx="118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Genomes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Google Shape;626;p49">
            <a:extLst>
              <a:ext uri="{FF2B5EF4-FFF2-40B4-BE49-F238E27FC236}">
                <a16:creationId xmlns:a16="http://schemas.microsoft.com/office/drawing/2014/main" id="{A2A28F19-5E11-2496-2EAA-63D89A003BF9}"/>
              </a:ext>
            </a:extLst>
          </p:cNvPr>
          <p:cNvSpPr txBox="1"/>
          <p:nvPr/>
        </p:nvSpPr>
        <p:spPr>
          <a:xfrm rot="-5400000">
            <a:off x="2246881" y="3447910"/>
            <a:ext cx="170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SNP distance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" name="Google Shape;627;p49">
            <a:extLst>
              <a:ext uri="{FF2B5EF4-FFF2-40B4-BE49-F238E27FC236}">
                <a16:creationId xmlns:a16="http://schemas.microsoft.com/office/drawing/2014/main" id="{265155A6-3C1D-FBC4-DC1E-0C0E35386576}"/>
              </a:ext>
            </a:extLst>
          </p:cNvPr>
          <p:cNvCxnSpPr/>
          <p:nvPr/>
        </p:nvCxnSpPr>
        <p:spPr>
          <a:xfrm rot="10800000" flipH="1">
            <a:off x="3627956" y="4086610"/>
            <a:ext cx="4332900" cy="23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Google Shape;628;p49">
            <a:extLst>
              <a:ext uri="{FF2B5EF4-FFF2-40B4-BE49-F238E27FC236}">
                <a16:creationId xmlns:a16="http://schemas.microsoft.com/office/drawing/2014/main" id="{6157A32A-519D-657F-AC7E-E4CC65608D30}"/>
              </a:ext>
            </a:extLst>
          </p:cNvPr>
          <p:cNvSpPr/>
          <p:nvPr/>
        </p:nvSpPr>
        <p:spPr>
          <a:xfrm>
            <a:off x="3675656" y="4865385"/>
            <a:ext cx="938100" cy="492600"/>
          </a:xfrm>
          <a:prstGeom prst="ellipse">
            <a:avLst/>
          </a:prstGeom>
          <a:noFill/>
          <a:ln w="285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29;p49">
            <a:extLst>
              <a:ext uri="{FF2B5EF4-FFF2-40B4-BE49-F238E27FC236}">
                <a16:creationId xmlns:a16="http://schemas.microsoft.com/office/drawing/2014/main" id="{EE01282D-057E-4897-487B-95CEE8501912}"/>
              </a:ext>
            </a:extLst>
          </p:cNvPr>
          <p:cNvSpPr/>
          <p:nvPr/>
        </p:nvSpPr>
        <p:spPr>
          <a:xfrm>
            <a:off x="4645556" y="4865373"/>
            <a:ext cx="1183500" cy="492600"/>
          </a:xfrm>
          <a:prstGeom prst="ellipse">
            <a:avLst/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30;p49">
            <a:extLst>
              <a:ext uri="{FF2B5EF4-FFF2-40B4-BE49-F238E27FC236}">
                <a16:creationId xmlns:a16="http://schemas.microsoft.com/office/drawing/2014/main" id="{8C28DDEC-6F1C-9597-208E-5457654D2D88}"/>
              </a:ext>
            </a:extLst>
          </p:cNvPr>
          <p:cNvSpPr/>
          <p:nvPr/>
        </p:nvSpPr>
        <p:spPr>
          <a:xfrm>
            <a:off x="6650256" y="4865360"/>
            <a:ext cx="674400" cy="492600"/>
          </a:xfrm>
          <a:prstGeom prst="ellipse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7697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0839-91FB-552D-3781-2319AFC0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58" y="109631"/>
            <a:ext cx="10515600" cy="1325563"/>
          </a:xfrm>
        </p:spPr>
        <p:txBody>
          <a:bodyPr>
            <a:normAutofit/>
          </a:bodyPr>
          <a:lstStyle/>
          <a:p>
            <a:r>
              <a:rPr lang="en" sz="3600" dirty="0"/>
              <a:t>Single linkage clusters </a:t>
            </a:r>
            <a:r>
              <a:rPr lang="en-US" sz="3600" dirty="0"/>
              <a:t>accounting for temporal variation</a:t>
            </a:r>
          </a:p>
        </p:txBody>
      </p:sp>
      <p:pic>
        <p:nvPicPr>
          <p:cNvPr id="6" name="Picture 5" descr="A graph with blue lines and black text&#10;&#10;Description automatically generated">
            <a:extLst>
              <a:ext uri="{FF2B5EF4-FFF2-40B4-BE49-F238E27FC236}">
                <a16:creationId xmlns:a16="http://schemas.microsoft.com/office/drawing/2014/main" id="{1ECDE0D9-64FB-136C-5541-08BEDFC9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73" y="2115671"/>
            <a:ext cx="51181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16C13F-93BE-CCBC-73A2-80EB864F77FC}"/>
              </a:ext>
            </a:extLst>
          </p:cNvPr>
          <p:cNvSpPr txBox="1"/>
          <p:nvPr/>
        </p:nvSpPr>
        <p:spPr>
          <a:xfrm>
            <a:off x="1153086" y="6581001"/>
            <a:ext cx="7641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 Silva et al (2016) Lancet Infect Dis 11): 1295–1303 </a:t>
            </a:r>
            <a:r>
              <a:rPr lang="en-GB" sz="12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https://doi.org/10.1016/S1473-3099(16)30157-8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69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33;p39">
            <a:extLst>
              <a:ext uri="{FF2B5EF4-FFF2-40B4-BE49-F238E27FC236}">
                <a16:creationId xmlns:a16="http://schemas.microsoft.com/office/drawing/2014/main" id="{81FECBA8-8848-9B1A-9EAF-0D328F2DE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898" y="132523"/>
            <a:ext cx="9577050" cy="901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Transcluster</a:t>
            </a:r>
            <a:endParaRPr dirty="0"/>
          </a:p>
        </p:txBody>
      </p:sp>
      <p:sp>
        <p:nvSpPr>
          <p:cNvPr id="16" name="Google Shape;639;p50">
            <a:extLst>
              <a:ext uri="{FF2B5EF4-FFF2-40B4-BE49-F238E27FC236}">
                <a16:creationId xmlns:a16="http://schemas.microsoft.com/office/drawing/2014/main" id="{378F29A4-F352-97CA-74C1-FDE1368DBBAB}"/>
              </a:ext>
            </a:extLst>
          </p:cNvPr>
          <p:cNvSpPr txBox="1"/>
          <p:nvPr/>
        </p:nvSpPr>
        <p:spPr>
          <a:xfrm>
            <a:off x="1008391" y="6504087"/>
            <a:ext cx="918253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Stimson, J. </a:t>
            </a:r>
            <a:r>
              <a:rPr lang="en" sz="1100" i="1" dirty="0"/>
              <a:t>et al.</a:t>
            </a:r>
            <a:r>
              <a:rPr lang="en" sz="1100" dirty="0"/>
              <a:t> Beyond the SNP Threshold: Identifying Outbreak Clusters Using Inferred Transmissions. </a:t>
            </a:r>
            <a:r>
              <a:rPr lang="en" sz="1100" i="1" dirty="0"/>
              <a:t>Mol. Biol. </a:t>
            </a:r>
            <a:r>
              <a:rPr lang="en" sz="1100" i="1" dirty="0" err="1"/>
              <a:t>Evol</a:t>
            </a:r>
            <a:r>
              <a:rPr lang="en" sz="1100" i="1" dirty="0"/>
              <a:t>.</a:t>
            </a:r>
            <a:r>
              <a:rPr lang="en" sz="1100" dirty="0"/>
              <a:t> </a:t>
            </a:r>
            <a:r>
              <a:rPr lang="en" sz="1100" b="1" dirty="0"/>
              <a:t>36</a:t>
            </a:r>
            <a:r>
              <a:rPr lang="en" sz="1100" dirty="0"/>
              <a:t>, 587–603 (2019)</a:t>
            </a:r>
            <a:endParaRPr sz="12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Google Shape;636;p50">
            <a:extLst>
              <a:ext uri="{FF2B5EF4-FFF2-40B4-BE49-F238E27FC236}">
                <a16:creationId xmlns:a16="http://schemas.microsoft.com/office/drawing/2014/main" id="{51EDB035-9959-F50F-CE98-970656C5095E}"/>
              </a:ext>
            </a:extLst>
          </p:cNvPr>
          <p:cNvSpPr txBox="1">
            <a:spLocks/>
          </p:cNvSpPr>
          <p:nvPr/>
        </p:nvSpPr>
        <p:spPr>
          <a:xfrm>
            <a:off x="6365318" y="3489703"/>
            <a:ext cx="5535136" cy="278105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100" dirty="0"/>
              <a:t>Accounts for:</a:t>
            </a:r>
          </a:p>
          <a:p>
            <a:pPr marL="438150" indent="-342900">
              <a:lnSpc>
                <a:spcPct val="150000"/>
              </a:lnSpc>
              <a:spcBef>
                <a:spcPts val="600"/>
              </a:spcBef>
              <a:buSzPts val="2100"/>
            </a:pPr>
            <a:r>
              <a:rPr lang="en-GB" sz="2100" dirty="0"/>
              <a:t>Genetic distance</a:t>
            </a:r>
          </a:p>
          <a:p>
            <a:pPr marL="438150" indent="-342900">
              <a:lnSpc>
                <a:spcPct val="150000"/>
              </a:lnSpc>
              <a:spcBef>
                <a:spcPts val="600"/>
              </a:spcBef>
              <a:buSzPts val="2100"/>
            </a:pPr>
            <a:r>
              <a:rPr lang="en-GB" sz="2100" dirty="0"/>
              <a:t>Sampling dates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</a:pPr>
            <a:r>
              <a:rPr lang="en-GB" sz="2100" dirty="0"/>
              <a:t>Evolutionary rate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</a:pPr>
            <a:r>
              <a:rPr lang="en-GB" sz="2100" dirty="0"/>
              <a:t>Transmission generation time</a:t>
            </a:r>
          </a:p>
        </p:txBody>
      </p:sp>
      <p:pic>
        <p:nvPicPr>
          <p:cNvPr id="14" name="Google Shape;637;p50">
            <a:extLst>
              <a:ext uri="{FF2B5EF4-FFF2-40B4-BE49-F238E27FC236}">
                <a16:creationId xmlns:a16="http://schemas.microsoft.com/office/drawing/2014/main" id="{32B275A1-DDB3-4388-B4C4-49ED8083FB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60623"/>
          <a:stretch/>
        </p:blipFill>
        <p:spPr>
          <a:xfrm>
            <a:off x="1290545" y="1920513"/>
            <a:ext cx="4047907" cy="1610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638;p50">
            <a:extLst>
              <a:ext uri="{FF2B5EF4-FFF2-40B4-BE49-F238E27FC236}">
                <a16:creationId xmlns:a16="http://schemas.microsoft.com/office/drawing/2014/main" id="{B8C80B3F-11C1-7E43-FE8C-326E3F62A1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868" t="5789" r="8753" b="1583"/>
          <a:stretch/>
        </p:blipFill>
        <p:spPr>
          <a:xfrm>
            <a:off x="1408669" y="4512988"/>
            <a:ext cx="4151066" cy="149170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640;p50">
            <a:extLst>
              <a:ext uri="{FF2B5EF4-FFF2-40B4-BE49-F238E27FC236}">
                <a16:creationId xmlns:a16="http://schemas.microsoft.com/office/drawing/2014/main" id="{F145B949-4243-FA2A-6FF2-AE01A2EDA084}"/>
              </a:ext>
            </a:extLst>
          </p:cNvPr>
          <p:cNvSpPr txBox="1"/>
          <p:nvPr/>
        </p:nvSpPr>
        <p:spPr>
          <a:xfrm>
            <a:off x="1341177" y="1417983"/>
            <a:ext cx="2401533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Source Sans Pro"/>
                <a:ea typeface="Source Sans Pro"/>
                <a:cs typeface="Source Sans Pro"/>
                <a:sym typeface="Source Sans Pro"/>
              </a:rPr>
              <a:t>SNP approach</a:t>
            </a:r>
            <a:endParaRPr sz="24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" name="Google Shape;641;p50">
            <a:extLst>
              <a:ext uri="{FF2B5EF4-FFF2-40B4-BE49-F238E27FC236}">
                <a16:creationId xmlns:a16="http://schemas.microsoft.com/office/drawing/2014/main" id="{82DF9E77-9BC6-717C-180E-32458CCDF75E}"/>
              </a:ext>
            </a:extLst>
          </p:cNvPr>
          <p:cNvSpPr txBox="1"/>
          <p:nvPr/>
        </p:nvSpPr>
        <p:spPr>
          <a:xfrm>
            <a:off x="1341177" y="4180267"/>
            <a:ext cx="2401533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Source Sans Pro"/>
                <a:ea typeface="Source Sans Pro"/>
                <a:cs typeface="Source Sans Pro"/>
                <a:sym typeface="Source Sans Pro"/>
              </a:rPr>
              <a:t>Transcluster</a:t>
            </a:r>
            <a:endParaRPr sz="24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" name="Google Shape;636;p50">
            <a:extLst>
              <a:ext uri="{FF2B5EF4-FFF2-40B4-BE49-F238E27FC236}">
                <a16:creationId xmlns:a16="http://schemas.microsoft.com/office/drawing/2014/main" id="{3A2D92BF-F263-E1DD-CC9C-9F722F5AB515}"/>
              </a:ext>
            </a:extLst>
          </p:cNvPr>
          <p:cNvSpPr txBox="1">
            <a:spLocks/>
          </p:cNvSpPr>
          <p:nvPr/>
        </p:nvSpPr>
        <p:spPr>
          <a:xfrm>
            <a:off x="6365318" y="1674155"/>
            <a:ext cx="5535136" cy="14268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100" dirty="0"/>
              <a:t>Accounts for:</a:t>
            </a:r>
          </a:p>
          <a:p>
            <a:pPr marL="438150" indent="-342900">
              <a:lnSpc>
                <a:spcPct val="150000"/>
              </a:lnSpc>
              <a:spcBef>
                <a:spcPts val="600"/>
              </a:spcBef>
              <a:buSzPts val="2100"/>
            </a:pPr>
            <a:r>
              <a:rPr lang="en-GB" sz="2100" dirty="0"/>
              <a:t>Genetic distance</a:t>
            </a:r>
          </a:p>
        </p:txBody>
      </p:sp>
    </p:spTree>
    <p:extLst>
      <p:ext uri="{BB962C8B-B14F-4D97-AF65-F5344CB8AC3E}">
        <p14:creationId xmlns:p14="http://schemas.microsoft.com/office/powerpoint/2010/main" val="1588545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987245"/>
            <a:ext cx="7160654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>
                <a:solidFill>
                  <a:schemeClr val="accent4"/>
                </a:solidFill>
              </a:rPr>
              <a:t>3.	</a:t>
            </a:r>
            <a:r>
              <a:rPr lang="en" sz="4000" dirty="0"/>
              <a:t>Summary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2878817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1;p52">
            <a:extLst>
              <a:ext uri="{FF2B5EF4-FFF2-40B4-BE49-F238E27FC236}">
                <a16:creationId xmlns:a16="http://schemas.microsoft.com/office/drawing/2014/main" id="{7097F49A-3809-AC64-A56D-AAA16715C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Clustering Methods</a:t>
            </a:r>
            <a:endParaRPr/>
          </a:p>
        </p:txBody>
      </p:sp>
      <p:sp>
        <p:nvSpPr>
          <p:cNvPr id="6" name="Google Shape;652;p52">
            <a:extLst>
              <a:ext uri="{FF2B5EF4-FFF2-40B4-BE49-F238E27FC236}">
                <a16:creationId xmlns:a16="http://schemas.microsoft.com/office/drawing/2014/main" id="{2BAECD6B-95A7-4C9D-C50D-C80C8C36D255}"/>
              </a:ext>
            </a:extLst>
          </p:cNvPr>
          <p:cNvSpPr txBox="1">
            <a:spLocks/>
          </p:cNvSpPr>
          <p:nvPr/>
        </p:nvSpPr>
        <p:spPr>
          <a:xfrm>
            <a:off x="1409003" y="2255612"/>
            <a:ext cx="9603554" cy="337656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200000"/>
              </a:lnSpc>
              <a:spcBef>
                <a:spcPts val="600"/>
              </a:spcBef>
              <a:buSzPts val="1800"/>
            </a:pPr>
            <a:r>
              <a:rPr lang="en-GB" sz="2400" dirty="0"/>
              <a:t>Database based (MLST)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/>
              <a:t>Statistical Model based (</a:t>
            </a:r>
            <a:r>
              <a:rPr lang="en-GB" sz="2400" dirty="0" err="1"/>
              <a:t>fastBAPS</a:t>
            </a:r>
            <a:r>
              <a:rPr lang="en-GB" sz="2400" dirty="0"/>
              <a:t>, STRUCTURE, </a:t>
            </a:r>
            <a:r>
              <a:rPr lang="en-GB" sz="2400" dirty="0" err="1"/>
              <a:t>Snapclust</a:t>
            </a:r>
            <a:r>
              <a:rPr lang="en-GB" sz="2400" dirty="0"/>
              <a:t>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/>
              <a:t>Accessory genome (</a:t>
            </a:r>
            <a:r>
              <a:rPr lang="en-GB" sz="2400" dirty="0" err="1"/>
              <a:t>PopPUNK</a:t>
            </a:r>
            <a:r>
              <a:rPr lang="en-GB" sz="2400" dirty="0"/>
              <a:t>)</a:t>
            </a:r>
          </a:p>
          <a:p>
            <a:pPr marL="457200" indent="-342900">
              <a:lnSpc>
                <a:spcPct val="200000"/>
              </a:lnSpc>
              <a:spcBef>
                <a:spcPts val="0"/>
              </a:spcBef>
              <a:buSzPts val="1800"/>
            </a:pPr>
            <a:r>
              <a:rPr lang="en-GB" sz="2400" dirty="0"/>
              <a:t>Transmission (Single linkage, </a:t>
            </a:r>
            <a:r>
              <a:rPr lang="en-GB" sz="2400" dirty="0" err="1"/>
              <a:t>Transcluster</a:t>
            </a:r>
            <a:r>
              <a:rPr lang="en-GB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0109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7;p53">
            <a:extLst>
              <a:ext uri="{FF2B5EF4-FFF2-40B4-BE49-F238E27FC236}">
                <a16:creationId xmlns:a16="http://schemas.microsoft.com/office/drawing/2014/main" id="{CE0E1363-DDBC-B255-DE56-E778975E3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6" name="Google Shape;658;p53">
            <a:extLst>
              <a:ext uri="{FF2B5EF4-FFF2-40B4-BE49-F238E27FC236}">
                <a16:creationId xmlns:a16="http://schemas.microsoft.com/office/drawing/2014/main" id="{10124FAF-9E66-FEE9-F78E-C15AF992C763}"/>
              </a:ext>
            </a:extLst>
          </p:cNvPr>
          <p:cNvSpPr txBox="1">
            <a:spLocks/>
          </p:cNvSpPr>
          <p:nvPr/>
        </p:nvSpPr>
        <p:spPr>
          <a:xfrm>
            <a:off x="1369246" y="2096586"/>
            <a:ext cx="4291528" cy="350908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400" dirty="0"/>
              <a:t>Important in understanding:</a:t>
            </a:r>
          </a:p>
          <a:p>
            <a:pPr marL="457200" indent="-342900">
              <a:lnSpc>
                <a:spcPct val="150000"/>
              </a:lnSpc>
              <a:spcBef>
                <a:spcPts val="600"/>
              </a:spcBef>
              <a:buSzPts val="1800"/>
            </a:pPr>
            <a:r>
              <a:rPr lang="en-GB" sz="2400" dirty="0"/>
              <a:t>Selection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GB" sz="2400" dirty="0"/>
              <a:t>Migration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GB" sz="2400" dirty="0"/>
              <a:t>Transmission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GB" sz="2400" dirty="0"/>
              <a:t>Impact of interventions</a:t>
            </a:r>
          </a:p>
        </p:txBody>
      </p:sp>
      <p:sp>
        <p:nvSpPr>
          <p:cNvPr id="7" name="Google Shape;659;p53">
            <a:extLst>
              <a:ext uri="{FF2B5EF4-FFF2-40B4-BE49-F238E27FC236}">
                <a16:creationId xmlns:a16="http://schemas.microsoft.com/office/drawing/2014/main" id="{800C8694-4D9E-7A06-B75F-65F7365E3977}"/>
              </a:ext>
            </a:extLst>
          </p:cNvPr>
          <p:cNvSpPr txBox="1">
            <a:spLocks/>
          </p:cNvSpPr>
          <p:nvPr/>
        </p:nvSpPr>
        <p:spPr>
          <a:xfrm>
            <a:off x="6774038" y="2096586"/>
            <a:ext cx="4291528" cy="350908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400" dirty="0"/>
              <a:t>Also used in:</a:t>
            </a:r>
          </a:p>
          <a:p>
            <a:pPr marL="457200" indent="-342900">
              <a:lnSpc>
                <a:spcPct val="150000"/>
              </a:lnSpc>
              <a:spcBef>
                <a:spcPts val="600"/>
              </a:spcBef>
              <a:buSzPts val="1800"/>
            </a:pPr>
            <a:r>
              <a:rPr lang="en-GB" sz="2400" dirty="0"/>
              <a:t>GWAS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GB" sz="2400" dirty="0"/>
              <a:t>Control for sampling bias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GB" sz="2400" dirty="0"/>
              <a:t>Phenotype prediction</a:t>
            </a:r>
          </a:p>
        </p:txBody>
      </p:sp>
    </p:spTree>
    <p:extLst>
      <p:ext uri="{BB962C8B-B14F-4D97-AF65-F5344CB8AC3E}">
        <p14:creationId xmlns:p14="http://schemas.microsoft.com/office/powerpoint/2010/main" val="814907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1232191A-E86E-202A-BE6F-832F9DD4AB00}"/>
              </a:ext>
            </a:extLst>
          </p:cNvPr>
          <p:cNvSpPr txBox="1">
            <a:spLocks/>
          </p:cNvSpPr>
          <p:nvPr/>
        </p:nvSpPr>
        <p:spPr>
          <a:xfrm>
            <a:off x="4010929" y="2987245"/>
            <a:ext cx="7160654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Wellcome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6000" dirty="0"/>
              <a:t>Thank you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17835787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ellow" id="{BFC2AA0F-8E4C-4B4B-B3B7-BBE8D23690C1}" vid="{30445573-544F-4D57-999A-09C77053ACF8}"/>
    </a:ext>
  </a:extLst>
</a:theme>
</file>

<file path=ppt/theme/theme2.xml><?xml version="1.0" encoding="utf-8"?>
<a:theme xmlns:a="http://schemas.openxmlformats.org/drawingml/2006/main" name="Copy and graphic_1">
  <a:themeElements>
    <a:clrScheme name="Connecting Science">
      <a:dk1>
        <a:srgbClr val="000000"/>
      </a:dk1>
      <a:lt1>
        <a:srgbClr val="FFFFFF"/>
      </a:lt1>
      <a:dk2>
        <a:srgbClr val="009BB2"/>
      </a:dk2>
      <a:lt2>
        <a:srgbClr val="E91E63"/>
      </a:lt2>
      <a:accent1>
        <a:srgbClr val="2A512C"/>
      </a:accent1>
      <a:accent2>
        <a:srgbClr val="C91D1D"/>
      </a:accent2>
      <a:accent3>
        <a:srgbClr val="006171"/>
      </a:accent3>
      <a:accent4>
        <a:srgbClr val="FEC300"/>
      </a:accent4>
      <a:accent5>
        <a:srgbClr val="80C34B"/>
      </a:accent5>
      <a:accent6>
        <a:srgbClr val="9C27B2"/>
      </a:accent6>
      <a:hlink>
        <a:srgbClr val="F027B2"/>
      </a:hlink>
      <a:folHlink>
        <a:srgbClr val="F07F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1153</Words>
  <Application>Microsoft Macintosh PowerPoint</Application>
  <PresentationFormat>Widescreen</PresentationFormat>
  <Paragraphs>209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Aptos</vt:lpstr>
      <vt:lpstr>Arial</vt:lpstr>
      <vt:lpstr>Calibri</vt:lpstr>
      <vt:lpstr>Helvetica</vt:lpstr>
      <vt:lpstr>Helvetica Neue</vt:lpstr>
      <vt:lpstr>Source Sans Pro</vt:lpstr>
      <vt:lpstr>Wellcome</vt:lpstr>
      <vt:lpstr>1_Office Theme</vt:lpstr>
      <vt:lpstr>Copy and graphic_1</vt:lpstr>
      <vt:lpstr>Genomic &amp; Epidemiological Surveillance of Bacterial Pathogens 6-11 July 2025</vt:lpstr>
      <vt:lpstr>Outline</vt:lpstr>
      <vt:lpstr>PowerPoint Presentation</vt:lpstr>
      <vt:lpstr>What do we mean by population structure?</vt:lpstr>
      <vt:lpstr>What do we mean by population structure?</vt:lpstr>
      <vt:lpstr>What do we mean by population structure?</vt:lpstr>
      <vt:lpstr>PowerPoint Presentation</vt:lpstr>
      <vt:lpstr>Physical separation - Helicobacter pylori</vt:lpstr>
      <vt:lpstr>Selection induced structure</vt:lpstr>
      <vt:lpstr>Selection induced structure - M. tuberculosis</vt:lpstr>
      <vt:lpstr>Differences in population size</vt:lpstr>
      <vt:lpstr>Differences in population size</vt:lpstr>
      <vt:lpstr>Sampling Bias</vt:lpstr>
      <vt:lpstr>Sampling Bias - Escherichia coli</vt:lpstr>
      <vt:lpstr>Why does population structure matter?</vt:lpstr>
      <vt:lpstr>PowerPoint Presentation</vt:lpstr>
      <vt:lpstr>PowerPoint Presentation</vt:lpstr>
      <vt:lpstr>Multi-Locus Sequence Typing</vt:lpstr>
      <vt:lpstr>Multi-Locus Sequence Typing</vt:lpstr>
      <vt:lpstr>Core Gene Multi-Locus Sequence Typing (cgMLST)</vt:lpstr>
      <vt:lpstr>Core Gene Multi-Locus Sequence Typing (cgMLST)</vt:lpstr>
      <vt:lpstr>What if we don’t have a suitable database?</vt:lpstr>
      <vt:lpstr>PowerPoint Presentation</vt:lpstr>
      <vt:lpstr>Model based clustering</vt:lpstr>
      <vt:lpstr>Model based clustering</vt:lpstr>
      <vt:lpstr>PowerPoint Presentation</vt:lpstr>
      <vt:lpstr>PowerPoint Presentation</vt:lpstr>
      <vt:lpstr>Similar algorithms</vt:lpstr>
      <vt:lpstr>PowerPoint Presentation</vt:lpstr>
      <vt:lpstr>Beyond the core genome...</vt:lpstr>
      <vt:lpstr>PopPUNK (Population Profiling Using Nucleotide Kmers)</vt:lpstr>
      <vt:lpstr>PopPUNK (Population Profiling Using Nucleotide Kmers)</vt:lpstr>
      <vt:lpstr>PopPUNK (Population Profiling Using Nucleotide Kmers)</vt:lpstr>
      <vt:lpstr>PopPUNK (Population Profiling Using Nucleotide Kmers)</vt:lpstr>
      <vt:lpstr>PopPUNK (Population Profiling Using Nucleotide Kmers)</vt:lpstr>
      <vt:lpstr>PowerPoint Presentation</vt:lpstr>
      <vt:lpstr>Transmission Clustering</vt:lpstr>
      <vt:lpstr>SNP Distance</vt:lpstr>
      <vt:lpstr>Single linkage hierarchical clustering</vt:lpstr>
      <vt:lpstr>Single linkage clusters accounting for temporal variation</vt:lpstr>
      <vt:lpstr>Transcluster</vt:lpstr>
      <vt:lpstr>PowerPoint Presentation</vt:lpstr>
      <vt:lpstr>Sequence Clustering Methods</vt:lpstr>
      <vt:lpstr>Use cases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Mathew Beale</dc:creator>
  <cp:lastModifiedBy>Mathew Beale</cp:lastModifiedBy>
  <cp:revision>35</cp:revision>
  <dcterms:created xsi:type="dcterms:W3CDTF">2023-04-16T14:26:33Z</dcterms:created>
  <dcterms:modified xsi:type="dcterms:W3CDTF">2025-07-09T20:07:05Z</dcterms:modified>
</cp:coreProperties>
</file>